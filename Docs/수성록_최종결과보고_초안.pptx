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4" d="100"/>
          <a:sy n="114" d="100"/>
        </p:scale>
        <p:origin x="438"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24545010"/>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타워디펜스와 도시건설을 결합한 싱글플레이 전략 게임 "수성록(Tower and Dragons)" 최종 결과 보고를 시작하겠습니다. 3팀 발표를 맡은 OOO입니다.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발표는 다섯 장으로 구성됩니다. 개요와 팀 구성, 수행 절차를 먼저 짚고, 네 번째 장인 수행 경과에서 실제 구현한 핵심 기능과 성과를 집중적으로 다루겠습니다.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타워디펜스에 도시건설을 결합한 싱글플레이 전략 게임입니다. 한 줄 컨셉은 "낮의 선택이 밤의 생존을 결정한다"입니다. 낮에 한정된 자원을 어디에 투자하느냐가 그날 밤의 결과로 그대로 돌아오는 구조를 장르 문법으로 잡았습니다.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차별화는 세 가지입니다. 용, 인구, 확장. 중요한 건 이 셋이 따로 노는 기능이 아니라 서로 물려 있다는 점입니다. 확장하면 인구를 얻지만 적도 늘고, 그 인구를 방어에 넣으면 생산이 줄고, 용은 그 균형을 흔드는 별도 카드로 작동합니다.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수치는 실제 게임 데이터 에셋을 집계한 값입니다. 타워 13종, 몬스터 34종, 용 스킬트리 70노드가 핵심이고, 여기에 28일 웨이브와 38개 연구 노드가 붙습니다. 콘텐츠 양보다 중요한 건 이것들이 전부 데이터 에셋으로 분리돼 있어 코드 수정 없이 추가·조정이 가능하다는 점입니다.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기획을 그대로 밀어붙이지 않고 실제 플레이 피드백에 따라 덜어낸 부분입니다. 공통점은 "복잡하지만 고민할 가치는 없던 것"과 "한 번 실패하면 회복이 불가능하던 것"을 걷어냈다는 점입니다.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팀은 네 명입니다. 담당 업무는 감이 아니라 실제 Git 커밋과 PR 이력을 분석해서 정리했습니다.
조강현 팀원은 팀장을 맡으면서 시스템 인프라를 담당했습니다. 세이브·로드 시스템을 단독으로 구현했고, 설정과 키 리바인딩, 프로젝트 초기 골격과 매니저 구조, 미니맵, 전장의 안개, 툴팁, 도움말 도감, 가이드 퀘스트를 맡았습니다. 씬 배선 실수를 자동으로 잡아내는 점검 도구도 직접 만들었습니다.
김지해 팀원은 UI와 아트 연출입니다. 인게임 UI 프리팹과 스프라이트를 제작했고, 성 체력과 게임오버 연출, 점령·자원·연구 창, 용 스킬트리 UI 연출, 주민 캐릭터 이동 연출을 맡았습니다.
이하늘 팀원은 낮 운영과 온보딩입니다. 그리드와 건물 배치 시스템, 점령 시스템, 자원 노드, 봉인석 엔딩, 그리고 튜토리얼 전체와 타워·몬스터 이펙트, 전투 효과음을 맡았습니다.
나상욱 팀원은 밤 전투와 밸런스입니다. 웨이브, 포탈, 몬스터, 타워 시스템과 인구 시스템, 점령 페널티, 용 시스템, 연구 시스템, 그리고 밸런스 데이터와 시뮬레이션 툴을 맡았습니다.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기여도는 감이 아니라 Git 이력을 실제로 집계해 확인했습니다. 전체 이력 기준 팀원이 직접 작성한 커밋이 976건, PR이 110건입니다.
먼저 한 가지 짚고 넘어가겠습니다. 커밋 수 자체는 기여량이 아닙니다. 데이터 에셋을 많이 다루면 커밋이 늘고, 스크립트 하나를 깊게 파면 커밋이 줄어듭니다. 그래서 저희는 커밋 수보다 전담 영역 점유율을 봤습니다.
첫째 역할 분담입니다. 전담 영역 점유율이 대부분 70퍼센트를 넘습니다. 세이브·로드는 100퍼센트, 튜토리얼은 99퍼센트, 점령 밸런스 데이터는 93퍼센트입니다. 담당 경계가 그만큼 명확했다는 뜻입니다. 참고로 이 점유율은 코드 라인 수가 아니라 해당 영역의 파일을 수정한 횟수 기준입니다. Unity의 프리팹이나 씬 파일은 인스펙터 값 하나만 바꿔도 수천 줄이 갈리기 때문입니다.
둘째 충돌 최소화입니다. 네 명이 동시에 작업했는데도 공동 작업 구역은 씬 배선과 건물 스크립트 정도로 한정됐습니다. 담당 경계가 명확했던 결과입니다.
셋째 PR 리뷰 단일화입니다. 전체 PR 110건 중 92건, 83.6퍼센트를 팀장이 직접 리뷰하고 머지했습니다. master 브랜치의 품질을 한 사람이 책임지는 구조로 운영했습니다.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일정은 7월 3일부터 9월 3일까지 총 9주였고, 여섯 단계로 나눴습니다.
첫 1.5주는 사전 기획입니다. 주제를 정하고 컨셉을 확정해 기획 종합 문서를 작성했습니다. 이 시점에 컨셉 발표를 했습니다.
다음 2주는 환경 구축과 설계입니다. 개발 환경과 협업 규칙을 세우고 코어 시스템을 설계했습니다.
7월 말부터 2주가 프로토타입입니다. 낮과 밤 루프, 그리드 건설, 웨이브, 인구 코어를 구현했습니다.
8월 둘째 주에 알파를 냈습니다. 전 기능을 연결하고 용 스킬트리와 속성 타워, 랜드마크를 붙였습니다. 중간 보고가 이 시점입니다.
8월 셋째 주는 베타 준비입니다. 1차 밸런싱 패치와 튜토리얼 재구성, 가이드 퀘스트를 넣었습니다.
마지막 2주가 베타와 폴리싱입니다. 남은 공백을 마감하고 28일 완주 QA와 연출·사운드를 보강했습니다.
[협업 방식 — 슬라이드에는 없으니 구두로]
저희 팀 방식에서 두 가지 말씀드리고 싶습니다.
첫째, 매주 빌드를 끊었습니다. 빌드마다 빌드 계획서, 빌드, 빌드 결과 보고서를 문서로 남겼고, 그 보고서에서 확인된 공백이 다음 주 작업 우선순위가 됐습니다. "뭘 해야 하지"를 회의로 정하지 않고 문서로 정하는 구조를 9주 내내 유지했습니다. 부제에 적힌 "주 단위 빌드 6회"가 그것입니다.
둘째, 규칙 문서를 하나로 모았습니다. CLAUDE.md라는 문서에 커밋 규칙, 네이밍, 폴더 구조, 이벤트 초기화 순서까지 담았습니다. 이 문서는 팀원뿐 아니라 AI 에이전트도 함께 따르는 규칙 문서입니다. 저희는 Claude Code와 Coplay MCP를 씬 배선과 컴파일 검증에 활용했는데, 사람과 AI가 같은 규칙을 보고 작업하게 만든 것이 코드 일관성 유지에 크게 도움이 됐습니다.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이제부터는 이 게임을 기술적으로 어떻게 만들었는지 말씀드리겠습니다. 구조와 설계, 최적화, 그리고 직접 만든 개발 도구 순서입니다.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 코드는 네 계층으로 나뉩니다. 맨 아래가 데이터, 그 위가 상태 없는 순수 함수인 규칙 계층, 그 위가 런타임 시스템, 맨 위가 표현입니다. 핵심은 의존 방향이 위에서 아래로만 흐른다는 점입니다. 데이터는 시스템을 모르고, 규칙 계층은 MonoBehaviour가 아니라 씬 없이도 돕니다. 그래서 단위 테스트를 346개 붙일 수 있었습니다.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타워 공격력 하나에 연구, 어미용, 새끼용, 지형 네 시스템이 동시에 개입합니다.
왼쪽처럼 직접 참조하면 타워가 네 시스템을 전부 알아야 합니다. if 연구 해금됐나, if 용 버프 있나 같은 분기가 계속 쌓이고, 시스템을 하나 추가할 때마다 타워 코드를 열어야 합니다.
저희는 오른쪽처럼 질의 인터페이스를 두고 의존 방향을 뒤집었습니다. 네 시스템이 이 인터페이스를 구현하고, 타워는 인터페이스 하나만 압니다. 소스가 하나인지 넷인지 알 필요가 없습니다. 이런 질의 인터페이스가 프로젝트 전체에 29개 있습니다.
한 가지 더 말씀드리면, Unity에서 결합도를 무너뜨리는 대표적인 원인이 FindObjectOfType입니다. 아무 데서나 아무 객체를 끌어올 수 있어서 의존 관계가 코드에 드러나지 않습니다. 저희는 675개 파일 전체에서 이 함수를 한 번도 쓰지 않았습니다. 대신 인스펙터 명시 주입 1,693개와 Construct 생성자 주입 21개 클래스로 해결했습니다. 규칙을 정하고 9주 내내 지켰다는 뜻입니다.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데이터 주도라고 하면 보통 수치만 밖으로 빼는데, 저희는 행동까지 뺐습니다. 세 층위로 조립합니다. 첫째 컴포넌트 조합 — 타워 13종이 전부 같은 Tower 클래스이고, 어떤 컴포넌트를 붙이느냐로 변형됩니다. 둘째 데이터 조합 — SO가 SO를 참조하는 트리라 새 타워는 기존 SO의 새 조합입니다. 셋째 행동 조합 — 자폭이나 보호막 같은 특수 행동을 상속이 아니라 SO로 붙입니다. 그 결과 새 효과를 추가할 때 매니저 코드를 한 줄도 건드리지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여덟 개를 다 읽지는 않겠습니다. 표의 오른쪽 열을 봐주십시오. 저희는 패턴을 먼저 정해두고 끼워 맞춘 게 아니라, 실제로 겪은 문제마다 맞는 패턴을 골랐습니다.
효과마다 switch 분기가 쌓이는 문제는 Strategy로, 한 스탯에 네 시스템이 개입하는 문제는 Composite로, 용과 연구 트리가 순회 로직을 중복 구현하는 문제는 Template Method로 풀었습니다.
하나만 자세히 말씀드리겠습니다. Null Object입니다. 특수 타워는 인구 없이 돌아가야 하는데, 이걸 조건 분기로 처리하면 타워 코드 곳곳에 예외가 생깁니다. 그래서 ITowerStaffing을 구현하되 항상 100퍼센트를 반환하는 AlwaysOnStaffing을 만들어 붙였습니다. 같은 방식으로 점령 강화 대상에서 제외해야 하는 몬스터는 중립 스냅샷을 돌려줍니다. 결과적으로 Tower 클래스에는 예외 분기가 하나도 없습니다.
예외를 분기로 처리하지 않고 타입으로 처리한다 — 이게 저희가 이 프로젝트에서 배운 것 중 하나입니다.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최적화는 세 축으로 나눠서 말씀드리겠습니다. 서로 다른 문제를 각각 다룬 것입니다.
첫째 메모리입니다. Unity에서 Instantiate와 Destroy는 비싸고 특히 파괴는 가비지를 남겨 나중에 프레임이 끊깁니다. 그래서 풀링을 썼는데, 하나로 뭉개지 않고 수명 특성에 따라 두 종류로 나눴습니다. 점령 테두리처럼 매 갱신마다 전체를 다시 그리는 렌더러는 인덱스형으로, 앞의 N개만 쓰고 뒤는 끕니다. 주민과 병사처럼 각자 태어나고 사라지는 것은 획득 반납형으로 하고, 겉모습이 열 종류라 프리팹별로 통을 나눴습니다. 주민은 20개를 미리 만들어 둡니다.
둘째 낭비 제거입니다. 몬스터 정렬처럼 매 프레임 돌 수밖에 없는 코드도 있습니다. 대신 계산 결과가 바뀌었을 때만 렌더러에 값을 씁니다. 렌더러 속성을 건드리는 게 비싸기 때문입니다. 안 움직이는 건물은 아예 매 프레임 검사에서 빼고 배치할 때 한 번만 정렬합니다. 비동기 처리도 Coroutine을 전면 폐기하고 UniTask로 바꿔 대기 객체 할당을 없앴습니다. StartCoroutine 사용 0건입니다.
셋째 구조입니다. Update를 쓰는 파일이 675개 중 58개, 8.6퍼센트입니다. 솔직히 말씀드리면 이 비율에는 저희 게임의 낮 운영이 이산 이벤트로 표현되는 장르 특성도 작용했습니다. 다만 같은 장르에서도 폴링으로 짜는 경우가 많습니다. 저희는 구독자가 구독 직후 현재 값을 한 번 반영한다는 규칙까지 문서로 정해서, 초기값 동기화 문제를 감수하고 675개 파일 내내 폴링을 쓰지 않았습니다. 성과라기보다 구조를 일관되게 지킨 지표로 봐주시면 되겠습니다.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앞 슬라이드가 "이렇게 설계했다"라면, 이건 실제로 터진 문제를 잡은 사례입니다.
[증상] 오라 타워를 맵에 추가할수록 프레임이 급격히 떨어졌습니다.
[원인] 타워의 가동 여부를 판정하는 CanOperate가 오라로 받은 보너스 인구를 포함합니다. 그런데 그 보너스 인구를 알려면 누가 오라를 주는지를 다시 계산해야 합니다. 오라의 활성 판정과 오라의 결과가 서로를 참조하는 순환이 생긴 겁니다. 처음에는 재진입 가드로 막아서 크래시는 안 나게 됐는데, 이 가드는 같은 타워로 되돌아오는 것만 끊고 다른 타워로 내려가는 분기는 끊지 못합니다. 그래서 한 번의 호출이 오라 타워 개수의 순열 수만큼 퍼졌습니다. 팩토리얼입니다.
[해결] 재귀를 아예 없앴습니다. 프레임당 한 번, 모든 타워를 수렴할 때까지 한꺼번에 계산해 표에 넣고, 조회 함수는 표를 읽기만 합니다. 핵심은 계산을 시작하기 전에 프레임 번호를 먼저 찍는다는 점입니다. 계산 도중에 되짚어 들어와도 표를 읽고 즉시 돌아오기 때문에 재귀가 구조적으로 불가능해집니다. 가드로 막은 게 아니라 불변식으로 봉인한 겁니다.
수렴은 수학적으로 보장됩니다. 오라 세기는 Max로 합쳐지고 반경은 단조 증가하므로, 중립값에서 출발한 반복은 유일한 최소 고정점으로 수렴합니다. 순회 순서가 결과를 바꾸지 않습니다.
[결과] 덤으로 정확도도 좋아졌습니다. 예전 방식은 영혼 타워끼리 겹친 배치에서 순회 순서에 따라 결과가 갈리는 근사값이었는데, 이제는 정확합니다.
[덧붙일 이야기] 재진입 가드를 넣을 당시 주석에 이미 "문제가 확인되면 고정점 반복으로 다시 봐야 한다"고 적어뒀고, 사흘 뒤 실제로 문제가 드러나자 그대로 실행했습니다. 기술 부채를 인지하고 관리했다는 기록입니다. 질문이 나오면 이 이야기를 하십시오.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70노드짜리 스킬트리 에셋을 손으로 쓰는 건 불가능합니다. 청크 맵도 마찬가지입니다. 그래서 저희는 도구를 먼저 만들고 콘텐츠를 찍어냈습니다. 자체 제작한 에디터 툴이 22개입니다. 특히 트리 생성기는 재실행해도 기존 에셋의 GUID를 유지하는 멱등 설계라, 참조가 끊기지 않고 반복해서 다시 구울 수 있습니다.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알파 이후에는 새 기능을 더하는 대신 완성도에 집중했습니다. 세 방향입니다.
[온보딩] 저희 게임은 규칙이 많아서 아무 안내가 없으면 처음 하는 사람이 무엇을 해야 할지 모릅니다. 그래서 본게임과 분리된 튜토리얼 전용 씬을 만들어 1~3일차를 12개 챕터로 나눴습니다. 필수 목표를 끝내지 않으면 밤 진입을 막고 남은 목표 수를 안내합니다. 튜토리얼을 건너뛴 사람도 본게임 안에서 안내받도록 가이드 퀘스트 28종을 넣었고, 월드와 UI 앵커로 어디를 눌러야 하는지 짚어줍니다. 그리고 처음 마주친 시스템을 자동으로 발견 처리해 도움말 팝업을 띄우는 도움말 도감 16종을 준비했습니다.
[밸런싱] 알파 피드백을 반영해 초반 난이도를 완화했습니다. 기본 타워 세 종의 공격 간격과 건설 비용을 낮추고, 시작 자원과 인구를 조정하고, 성 근처 점령지는 점령 기간을 하루 단축했습니다. 점령 페널티는 스탯 배율에서 추가 스폰 중심으로 바꿨고, 최종 보스 전용 웨이브와 공격 데이터도 보정했습니다. 이 과정에서 밸런스 시뮬레이터를 직접 만들어 수치를 검증했습니다. Unity 에셋에서 수치를 긁어 단일 HTML로 굽고, 회귀 테스트 다섯 종을 붙여 조정이 상식적인 방향으로 반응하는지 확인했습니다.
[안정화] 낮 정산 경계를 기준점으로 삼아 세이브·로드 파이프라인을 구축했습니다. 자동저장과 수동저장을 지원하고, 건물 위치와 회전, 인구, 비활성 타워 상태까지 복원합니다. 설정창과 키 리바인딩, 사운드 매니저도 이 시기에 통합했고, 주민 프리팹에 오브젝트 풀링을 적용했습니다.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[영상 삽입 필요] 5~10분 분량, 100MB 이하, 기능별 소개 음성 포함. 별도 파일 제출도 가능하므로 용량 초과 시 분리 제출을 검토합니다.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점수는 팀 내부 합의로 8.5점을 매겼습니다. 핵심 루프가 전부 붙어 있고 완주가 가능하다는 점은 자신 있게 말씀드릴 수 있지만, 아직 마감하지 못한 공백이 명확히 남아 있어 그것까지 감안한 점수입니다.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[발표 전 반드시 채울 것] 팀원별 느낀 점을 각자 1~2문장으로 작성합니다. 구체적인 경험(어떤 시스템을 만들며 무엇을 배웠는지)이 들어가야 설득력이 있습니다.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질문: ① 왜 멀티가 아니라 싱글인가 ② 밸런스는 어떻게 검증했는가 ③ 남은 공백은 언제까지 마감할 것인가 ④ AI 도구를 어디까지 활용했는가</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822960"/>
            <a:ext cx="10908792" cy="274320"/>
          </a:xfrm>
          <a:prstGeom prst="rect">
            <a:avLst/>
          </a:prstGeom>
          <a:noFill/>
          <a:ln/>
        </p:spPr>
        <p:txBody>
          <a:bodyPr wrap="square" lIns="0" tIns="0" rIns="0" bIns="0" rtlCol="0" anchor="ctr"/>
          <a:lstStyle/>
          <a:p>
            <a:pPr marL="0" indent="0">
              <a:buNone/>
            </a:pPr>
            <a:r>
              <a:rPr lang="en-US" sz="1200" b="1" dirty="0">
                <a:solidFill>
                  <a:srgbClr val="B85042"/>
                </a:solidFill>
                <a:latin typeface="Calibri" pitchFamily="34" charset="0"/>
                <a:ea typeface="Calibri" pitchFamily="34" charset="-122"/>
                <a:cs typeface="Calibri" pitchFamily="34" charset="-120"/>
              </a:rPr>
              <a:t>디벨로켓 · Unity를 활용한 게임개발자 부트캠프</a:t>
            </a:r>
            <a:endParaRPr lang="en-US" sz="1200" dirty="0"/>
          </a:p>
        </p:txBody>
      </p:sp>
      <p:sp>
        <p:nvSpPr>
          <p:cNvPr id="3" name="Text 1"/>
          <p:cNvSpPr txBox="1"/>
          <p:nvPr/>
        </p:nvSpPr>
        <p:spPr>
          <a:xfrm>
            <a:off x="640080" y="1115568"/>
            <a:ext cx="10908792" cy="274320"/>
          </a:xfrm>
          <a:prstGeom prst="rect">
            <a:avLst/>
          </a:prstGeom>
          <a:noFill/>
          <a:ln/>
        </p:spPr>
        <p:txBody>
          <a:bodyPr wrap="square" lIns="0" tIns="0" rIns="0" bIns="0" rtlCol="0" anchor="ctr"/>
          <a:lstStyle/>
          <a:p>
            <a:pPr marL="0" indent="0">
              <a:buNone/>
            </a:pPr>
            <a:r>
              <a:rPr lang="en-US" sz="1200" dirty="0">
                <a:solidFill>
                  <a:srgbClr val="6E6E6E"/>
                </a:solidFill>
                <a:latin typeface="Calibri" pitchFamily="34" charset="0"/>
                <a:ea typeface="Calibri" pitchFamily="34" charset="-122"/>
                <a:cs typeface="Calibri" pitchFamily="34" charset="-120"/>
              </a:rPr>
              <a:t>기업 협약 프로젝트 최종 결과 보고</a:t>
            </a:r>
            <a:endParaRPr lang="en-US" sz="1200" dirty="0"/>
          </a:p>
        </p:txBody>
      </p:sp>
      <p:sp>
        <p:nvSpPr>
          <p:cNvPr id="4" name="Text 2"/>
          <p:cNvSpPr txBox="1"/>
          <p:nvPr/>
        </p:nvSpPr>
        <p:spPr>
          <a:xfrm>
            <a:off x="640080" y="2286000"/>
            <a:ext cx="10908792" cy="1005840"/>
          </a:xfrm>
          <a:prstGeom prst="rect">
            <a:avLst/>
          </a:prstGeom>
          <a:noFill/>
          <a:ln/>
        </p:spPr>
        <p:txBody>
          <a:bodyPr wrap="square" lIns="0" tIns="0" rIns="0" bIns="0" rtlCol="0" anchor="ctr"/>
          <a:lstStyle/>
          <a:p>
            <a:pPr marL="0" indent="0">
              <a:buNone/>
            </a:pPr>
            <a:r>
              <a:rPr lang="en-US" sz="4800" b="1" dirty="0">
                <a:solidFill>
                  <a:srgbClr val="1A1A1A"/>
                </a:solidFill>
                <a:latin typeface="Calibri" pitchFamily="34" charset="0"/>
                <a:ea typeface="Calibri" pitchFamily="34" charset="-122"/>
                <a:cs typeface="Calibri" pitchFamily="34" charset="-120"/>
              </a:rPr>
              <a:t>수성록 </a:t>
            </a:r>
            <a:r>
              <a:rPr lang="en-US" sz="4800" b="1" dirty="0">
                <a:solidFill>
                  <a:srgbClr val="B85042"/>
                </a:solidFill>
                <a:latin typeface="Calibri" pitchFamily="34" charset="0"/>
                <a:ea typeface="Calibri" pitchFamily="34" charset="-122"/>
                <a:cs typeface="Calibri" pitchFamily="34" charset="-120"/>
              </a:rPr>
              <a:t>Tower and Dragons</a:t>
            </a:r>
            <a:endParaRPr lang="en-US" sz="4800" dirty="0"/>
          </a:p>
        </p:txBody>
      </p:sp>
      <p:sp>
        <p:nvSpPr>
          <p:cNvPr id="5" name="Text 3"/>
          <p:cNvSpPr txBox="1"/>
          <p:nvPr/>
        </p:nvSpPr>
        <p:spPr>
          <a:xfrm>
            <a:off x="640080" y="3337560"/>
            <a:ext cx="10908792" cy="365760"/>
          </a:xfrm>
          <a:prstGeom prst="rect">
            <a:avLst/>
          </a:prstGeom>
          <a:noFill/>
          <a:ln/>
        </p:spPr>
        <p:txBody>
          <a:bodyPr wrap="square" lIns="0" tIns="0" rIns="0" bIns="0" rtlCol="0" anchor="ctr"/>
          <a:lstStyle/>
          <a:p>
            <a:pPr marL="0" indent="0">
              <a:buNone/>
            </a:pPr>
            <a:r>
              <a:rPr lang="en-US" sz="1700" dirty="0">
                <a:solidFill>
                  <a:srgbClr val="1A1A1A"/>
                </a:solidFill>
                <a:latin typeface="Calibri" pitchFamily="34" charset="0"/>
                <a:ea typeface="Calibri" pitchFamily="34" charset="-122"/>
                <a:cs typeface="Calibri" pitchFamily="34" charset="-120"/>
              </a:rPr>
              <a:t>타워디펜스 × 도시건설 — "낮의 선택이 밤의 생존을 결정한다"</a:t>
            </a:r>
            <a:endParaRPr lang="en-US" sz="1700" dirty="0"/>
          </a:p>
        </p:txBody>
      </p:sp>
      <p:sp>
        <p:nvSpPr>
          <p:cNvPr id="6" name="Text 4"/>
          <p:cNvSpPr txBox="1"/>
          <p:nvPr/>
        </p:nvSpPr>
        <p:spPr>
          <a:xfrm>
            <a:off x="640080" y="4297680"/>
            <a:ext cx="2743200" cy="320040"/>
          </a:xfrm>
          <a:prstGeom prst="rect">
            <a:avLst/>
          </a:prstGeom>
          <a:noFill/>
          <a:ln/>
        </p:spPr>
        <p:txBody>
          <a:bodyPr wrap="square" lIns="0" tIns="0" rIns="0" bIns="0" rtlCol="0" anchor="ctr"/>
          <a:lstStyle/>
          <a:p>
            <a:pPr marL="0" indent="0">
              <a:buNone/>
            </a:pPr>
            <a:r>
              <a:rPr lang="en-US" sz="1500" b="1" dirty="0">
                <a:solidFill>
                  <a:srgbClr val="B85042"/>
                </a:solidFill>
                <a:latin typeface="Calibri" pitchFamily="34" charset="0"/>
                <a:ea typeface="Calibri" pitchFamily="34" charset="-122"/>
                <a:cs typeface="Calibri" pitchFamily="34" charset="-120"/>
              </a:rPr>
              <a:t>TEAM 3조</a:t>
            </a:r>
            <a:endParaRPr lang="en-US" sz="1500" dirty="0"/>
          </a:p>
        </p:txBody>
      </p:sp>
      <p:sp>
        <p:nvSpPr>
          <p:cNvPr id="7" name="Text 5"/>
          <p:cNvSpPr txBox="1"/>
          <p:nvPr/>
        </p:nvSpPr>
        <p:spPr>
          <a:xfrm>
            <a:off x="640080" y="4709160"/>
            <a:ext cx="10908792" cy="731520"/>
          </a:xfrm>
          <a:prstGeom prst="rect">
            <a:avLst/>
          </a:prstGeom>
          <a:noFill/>
          <a:ln/>
        </p:spPr>
        <p:txBody>
          <a:bodyPr wrap="square" lIns="0" tIns="0" rIns="0" bIns="0" rtlCol="0" anchor="ctr"/>
          <a:lstStyle/>
          <a:p>
            <a:pPr marL="0" indent="0">
              <a:buNone/>
            </a:pPr>
            <a:r>
              <a:rPr lang="en-US" sz="1400" dirty="0">
                <a:solidFill>
                  <a:srgbClr val="1A1A1A"/>
                </a:solidFill>
                <a:latin typeface="Calibri" pitchFamily="34" charset="0"/>
                <a:ea typeface="Calibri" pitchFamily="34" charset="-122"/>
                <a:cs typeface="Calibri" pitchFamily="34" charset="-120"/>
              </a:rPr>
              <a:t>조강현, 김지해, 이하늘, </a:t>
            </a:r>
            <a:r>
              <a:rPr lang="en-US" sz="1400" dirty="0" smtClean="0">
                <a:solidFill>
                  <a:srgbClr val="1A1A1A"/>
                </a:solidFill>
                <a:latin typeface="Calibri" pitchFamily="34" charset="0"/>
                <a:ea typeface="Calibri" pitchFamily="34" charset="-122"/>
                <a:cs typeface="Calibri" pitchFamily="34" charset="-120"/>
              </a:rPr>
              <a:t>나상욱</a:t>
            </a:r>
            <a:endParaRPr lang="en-US" sz="1400" dirty="0"/>
          </a:p>
        </p:txBody>
      </p:sp>
      <p:sp>
        <p:nvSpPr>
          <p:cNvPr id="8" name="Text 6"/>
          <p:cNvSpPr txBox="1"/>
          <p:nvPr/>
        </p:nvSpPr>
        <p:spPr>
          <a:xfrm>
            <a:off x="640080" y="6355080"/>
            <a:ext cx="5486400" cy="256032"/>
          </a:xfrm>
          <a:prstGeom prst="rect">
            <a:avLst/>
          </a:prstGeom>
          <a:noFill/>
          <a:ln/>
        </p:spPr>
        <p:txBody>
          <a:bodyPr wrap="square" lIns="0" tIns="0" rIns="0" bIns="0" rtlCol="0" anchor="ctr"/>
          <a:lstStyle/>
          <a:p>
            <a:pPr marL="0" indent="0">
              <a:buNone/>
            </a:pPr>
            <a:r>
              <a:rPr lang="en-US" sz="900" dirty="0">
                <a:solidFill>
                  <a:srgbClr val="6E6E6E"/>
                </a:solidFill>
                <a:latin typeface="Calibri" pitchFamily="34" charset="0"/>
                <a:ea typeface="Calibri" pitchFamily="34" charset="-122"/>
                <a:cs typeface="Calibri" pitchFamily="34" charset="-120"/>
              </a:rPr>
              <a:t>수성록 (Tower and Dragons) · 최종 결과 보고</a:t>
            </a:r>
            <a:endParaRPr lang="en-US" sz="900" dirty="0"/>
          </a:p>
        </p:txBody>
      </p:sp>
      <p:sp>
        <p:nvSpPr>
          <p:cNvPr id="9" name="Text 7"/>
          <p:cNvSpPr txBox="1"/>
          <p:nvPr/>
        </p:nvSpPr>
        <p:spPr>
          <a:xfrm>
            <a:off x="6062472" y="6355080"/>
            <a:ext cx="5486400" cy="256032"/>
          </a:xfrm>
          <a:prstGeom prst="rect">
            <a:avLst/>
          </a:prstGeom>
          <a:noFill/>
          <a:ln/>
        </p:spPr>
        <p:txBody>
          <a:bodyPr wrap="square" lIns="0" tIns="0" rIns="0" bIns="0" rtlCol="0" anchor="ctr"/>
          <a:lstStyle/>
          <a:p>
            <a:pPr marL="0" indent="0" algn="r">
              <a:buNone/>
            </a:pPr>
            <a:r>
              <a:rPr lang="en-US" sz="900" dirty="0">
                <a:solidFill>
                  <a:srgbClr val="6E6E6E"/>
                </a:solidFill>
                <a:latin typeface="Calibri" pitchFamily="34" charset="0"/>
                <a:ea typeface="Calibri" pitchFamily="34" charset="-122"/>
                <a:cs typeface="Calibri" pitchFamily="34" charset="-120"/>
              </a:rPr>
              <a:t>2026</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47472"/>
            <a:ext cx="10908792" cy="256032"/>
          </a:xfrm>
          <a:prstGeom prst="rect">
            <a:avLst/>
          </a:prstGeom>
          <a:noFill/>
          <a:ln/>
        </p:spPr>
        <p:txBody>
          <a:bodyPr wrap="square" lIns="0" tIns="0" rIns="0" bIns="0" rtlCol="0" anchor="ctr"/>
          <a:lstStyle/>
          <a:p>
            <a:pPr marL="0" indent="0">
              <a:buNone/>
            </a:pPr>
            <a:r>
              <a:rPr lang="en-US" sz="1100" b="1" dirty="0">
                <a:solidFill>
                  <a:srgbClr val="B85042"/>
                </a:solidFill>
                <a:latin typeface="Calibri" pitchFamily="34" charset="0"/>
                <a:ea typeface="Calibri" pitchFamily="34" charset="-122"/>
                <a:cs typeface="Calibri" pitchFamily="34" charset="-120"/>
              </a:rPr>
              <a:t>00</a:t>
            </a:r>
            <a:r>
              <a:rPr lang="en-US" sz="1100" dirty="0">
                <a:solidFill>
                  <a:srgbClr val="6E6E6E"/>
                </a:solidFill>
                <a:latin typeface="Calibri" pitchFamily="34" charset="0"/>
                <a:ea typeface="Calibri" pitchFamily="34" charset="-122"/>
                <a:cs typeface="Calibri" pitchFamily="34" charset="-120"/>
              </a:rPr>
              <a:t>   CONTENTS</a:t>
            </a:r>
            <a:endParaRPr lang="en-US" sz="1100" dirty="0"/>
          </a:p>
        </p:txBody>
      </p:sp>
      <p:sp>
        <p:nvSpPr>
          <p:cNvPr id="3" name="Text 1"/>
          <p:cNvSpPr txBox="1"/>
          <p:nvPr/>
        </p:nvSpPr>
        <p:spPr>
          <a:xfrm>
            <a:off x="640080" y="621792"/>
            <a:ext cx="10908792" cy="640080"/>
          </a:xfrm>
          <a:prstGeom prst="rect">
            <a:avLst/>
          </a:prstGeom>
          <a:noFill/>
          <a:ln/>
        </p:spPr>
        <p:txBody>
          <a:bodyPr wrap="square" lIns="0" tIns="0" rIns="0" bIns="0" rtlCol="0" anchor="t"/>
          <a:lstStyle/>
          <a:p>
            <a:pPr marL="0" indent="0">
              <a:buNone/>
            </a:pPr>
            <a:r>
              <a:rPr lang="en-US" sz="3000" b="1" dirty="0">
                <a:solidFill>
                  <a:srgbClr val="1A1A1A"/>
                </a:solidFill>
                <a:latin typeface="Calibri" pitchFamily="34" charset="0"/>
                <a:ea typeface="Calibri" pitchFamily="34" charset="-122"/>
                <a:cs typeface="Calibri" pitchFamily="34" charset="-120"/>
              </a:rPr>
              <a:t>목차</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40080" y="1920240"/>
          <a:ext cx="10908792" cy="2834640"/>
        </p:xfrm>
        <a:graphic>
          <a:graphicData uri="http://schemas.openxmlformats.org/drawingml/2006/table">
            <a:tbl>
              <a:tblPr/>
              <a:tblGrid>
                <a:gridCol w="82296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5879592">
                  <a:extLst>
                    <a:ext uri="{9D8B030D-6E8A-4147-A177-3AD203B41FA5}">
                      <a16:colId xmlns:a16="http://schemas.microsoft.com/office/drawing/2014/main" val="20002"/>
                    </a:ext>
                  </a:extLst>
                </a:gridCol>
              </a:tblGrid>
              <a:tr h="566928">
                <a:tc>
                  <a:txBody>
                    <a:bodyPr/>
                    <a:lstStyle/>
                    <a:p>
                      <a:pPr marL="0" indent="0">
                        <a:buNone/>
                      </a:pPr>
                      <a:r>
                        <a:rPr lang="en-US" sz="1500" b="1" dirty="0">
                          <a:solidFill>
                            <a:srgbClr val="B85042"/>
                          </a:solidFill>
                          <a:latin typeface="Calibri" pitchFamily="34" charset="0"/>
                          <a:ea typeface="Calibri" pitchFamily="34" charset="-122"/>
                          <a:cs typeface="Calibri" pitchFamily="34" charset="-120"/>
                        </a:rPr>
                        <a:t>01</a:t>
                      </a:r>
                      <a:endParaRPr lang="en-US" sz="15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500" b="1" dirty="0">
                          <a:solidFill>
                            <a:srgbClr val="1A1A1A"/>
                          </a:solidFill>
                          <a:latin typeface="Calibri" pitchFamily="34" charset="0"/>
                          <a:ea typeface="Calibri" pitchFamily="34" charset="-122"/>
                          <a:cs typeface="Calibri" pitchFamily="34" charset="-120"/>
                        </a:rPr>
                        <a:t>프로젝트 개요</a:t>
                      </a:r>
                      <a:endParaRPr lang="en-US" sz="15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lgn="r">
                        <a:buNone/>
                      </a:pPr>
                      <a:r>
                        <a:rPr lang="en-US" sz="1100" dirty="0">
                          <a:solidFill>
                            <a:srgbClr val="6E6E6E"/>
                          </a:solidFill>
                          <a:latin typeface="Calibri" pitchFamily="34" charset="0"/>
                          <a:ea typeface="Calibri" pitchFamily="34" charset="-122"/>
                          <a:cs typeface="Calibri" pitchFamily="34" charset="-120"/>
                        </a:rPr>
                        <a:t>주제 · 차별화 / 구현 규모 / 기획 변경 사항</a:t>
                      </a:r>
                      <a:endParaRPr lang="en-US" sz="11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extLst>
                  <a:ext uri="{0D108BD9-81ED-4DB2-BD59-A6C34878D82A}">
                    <a16:rowId xmlns:a16="http://schemas.microsoft.com/office/drawing/2014/main" val="10000"/>
                  </a:ext>
                </a:extLst>
              </a:tr>
              <a:tr h="566928">
                <a:tc>
                  <a:txBody>
                    <a:bodyPr/>
                    <a:lstStyle/>
                    <a:p>
                      <a:pPr marL="0" indent="0">
                        <a:buNone/>
                      </a:pPr>
                      <a:r>
                        <a:rPr lang="en-US" sz="1500" b="1" dirty="0">
                          <a:solidFill>
                            <a:srgbClr val="B85042"/>
                          </a:solidFill>
                          <a:latin typeface="Calibri" pitchFamily="34" charset="0"/>
                          <a:ea typeface="Calibri" pitchFamily="34" charset="-122"/>
                          <a:cs typeface="Calibri" pitchFamily="34" charset="-120"/>
                        </a:rPr>
                        <a:t>02</a:t>
                      </a:r>
                      <a:endParaRPr lang="en-US" sz="15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500" b="1" dirty="0">
                          <a:solidFill>
                            <a:srgbClr val="1A1A1A"/>
                          </a:solidFill>
                          <a:latin typeface="Calibri" pitchFamily="34" charset="0"/>
                          <a:ea typeface="Calibri" pitchFamily="34" charset="-122"/>
                          <a:cs typeface="Calibri" pitchFamily="34" charset="-120"/>
                        </a:rPr>
                        <a:t>프로젝트 팀 구성 및 역할</a:t>
                      </a:r>
                      <a:endParaRPr lang="en-US" sz="15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lgn="r">
                        <a:buNone/>
                      </a:pPr>
                      <a:r>
                        <a:rPr lang="en-US" sz="1100" dirty="0">
                          <a:solidFill>
                            <a:srgbClr val="6E6E6E"/>
                          </a:solidFill>
                          <a:latin typeface="Calibri" pitchFamily="34" charset="0"/>
                          <a:ea typeface="Calibri" pitchFamily="34" charset="-122"/>
                          <a:cs typeface="Calibri" pitchFamily="34" charset="-120"/>
                        </a:rPr>
                        <a:t>역할 · 담당 영역 / 협업 구조</a:t>
                      </a:r>
                      <a:endParaRPr lang="en-US" sz="11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extLst>
                  <a:ext uri="{0D108BD9-81ED-4DB2-BD59-A6C34878D82A}">
                    <a16:rowId xmlns:a16="http://schemas.microsoft.com/office/drawing/2014/main" val="10001"/>
                  </a:ext>
                </a:extLst>
              </a:tr>
              <a:tr h="566928">
                <a:tc>
                  <a:txBody>
                    <a:bodyPr/>
                    <a:lstStyle/>
                    <a:p>
                      <a:pPr marL="0" indent="0">
                        <a:buNone/>
                      </a:pPr>
                      <a:r>
                        <a:rPr lang="en-US" sz="1500" b="1" dirty="0">
                          <a:solidFill>
                            <a:srgbClr val="B85042"/>
                          </a:solidFill>
                          <a:latin typeface="Calibri" pitchFamily="34" charset="0"/>
                          <a:ea typeface="Calibri" pitchFamily="34" charset="-122"/>
                          <a:cs typeface="Calibri" pitchFamily="34" charset="-120"/>
                        </a:rPr>
                        <a:t>03</a:t>
                      </a:r>
                      <a:endParaRPr lang="en-US" sz="15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500" b="1" dirty="0">
                          <a:solidFill>
                            <a:srgbClr val="1A1A1A"/>
                          </a:solidFill>
                          <a:latin typeface="Calibri" pitchFamily="34" charset="0"/>
                          <a:ea typeface="Calibri" pitchFamily="34" charset="-122"/>
                          <a:cs typeface="Calibri" pitchFamily="34" charset="-120"/>
                        </a:rPr>
                        <a:t>프로젝트 수행 절차 및 방법</a:t>
                      </a:r>
                      <a:endParaRPr lang="en-US" sz="15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lgn="r">
                        <a:buNone/>
                      </a:pPr>
                      <a:r>
                        <a:rPr lang="en-US" sz="1100" dirty="0">
                          <a:solidFill>
                            <a:srgbClr val="6E6E6E"/>
                          </a:solidFill>
                          <a:latin typeface="Calibri" pitchFamily="34" charset="0"/>
                          <a:ea typeface="Calibri" pitchFamily="34" charset="-122"/>
                          <a:cs typeface="Calibri" pitchFamily="34" charset="-120"/>
                        </a:rPr>
                        <a:t>일정 및 실행 내역 / 협업 체계</a:t>
                      </a:r>
                      <a:endParaRPr lang="en-US" sz="11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extLst>
                  <a:ext uri="{0D108BD9-81ED-4DB2-BD59-A6C34878D82A}">
                    <a16:rowId xmlns:a16="http://schemas.microsoft.com/office/drawing/2014/main" val="10002"/>
                  </a:ext>
                </a:extLst>
              </a:tr>
              <a:tr h="566928">
                <a:tc>
                  <a:txBody>
                    <a:bodyPr/>
                    <a:lstStyle/>
                    <a:p>
                      <a:pPr marL="0" indent="0">
                        <a:buNone/>
                      </a:pPr>
                      <a:r>
                        <a:rPr lang="en-US" sz="1500" b="1" dirty="0">
                          <a:solidFill>
                            <a:srgbClr val="B85042"/>
                          </a:solidFill>
                          <a:latin typeface="Calibri" pitchFamily="34" charset="0"/>
                          <a:ea typeface="Calibri" pitchFamily="34" charset="-122"/>
                          <a:cs typeface="Calibri" pitchFamily="34" charset="-120"/>
                        </a:rPr>
                        <a:t>04</a:t>
                      </a:r>
                      <a:endParaRPr lang="en-US" sz="15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500" b="1" dirty="0">
                          <a:solidFill>
                            <a:srgbClr val="1A1A1A"/>
                          </a:solidFill>
                          <a:latin typeface="Calibri" pitchFamily="34" charset="0"/>
                          <a:ea typeface="Calibri" pitchFamily="34" charset="-122"/>
                          <a:cs typeface="Calibri" pitchFamily="34" charset="-120"/>
                        </a:rPr>
                        <a:t>프로젝트 수행 경과</a:t>
                      </a:r>
                      <a:endParaRPr lang="en-US" sz="15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lgn="r">
                        <a:buNone/>
                      </a:pPr>
                      <a:r>
                        <a:rPr lang="en-US" sz="1100" dirty="0">
                          <a:solidFill>
                            <a:srgbClr val="6E6E6E"/>
                          </a:solidFill>
                          <a:latin typeface="Calibri" pitchFamily="34" charset="0"/>
                          <a:ea typeface="Calibri" pitchFamily="34" charset="-122"/>
                          <a:cs typeface="Calibri" pitchFamily="34" charset="-120"/>
                        </a:rPr>
                        <a:t>아키텍처 / 설계 · 패턴 / 최적화 / 개발 도구 / 시연</a:t>
                      </a:r>
                      <a:endParaRPr lang="en-US" sz="11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extLst>
                  <a:ext uri="{0D108BD9-81ED-4DB2-BD59-A6C34878D82A}">
                    <a16:rowId xmlns:a16="http://schemas.microsoft.com/office/drawing/2014/main" val="10003"/>
                  </a:ext>
                </a:extLst>
              </a:tr>
              <a:tr h="566928">
                <a:tc>
                  <a:txBody>
                    <a:bodyPr/>
                    <a:lstStyle/>
                    <a:p>
                      <a:pPr marL="0" indent="0">
                        <a:buNone/>
                      </a:pPr>
                      <a:r>
                        <a:rPr lang="en-US" sz="1500" b="1" dirty="0">
                          <a:solidFill>
                            <a:srgbClr val="B85042"/>
                          </a:solidFill>
                          <a:latin typeface="Calibri" pitchFamily="34" charset="0"/>
                          <a:ea typeface="Calibri" pitchFamily="34" charset="-122"/>
                          <a:cs typeface="Calibri" pitchFamily="34" charset="-120"/>
                        </a:rPr>
                        <a:t>05</a:t>
                      </a:r>
                      <a:endParaRPr lang="en-US" sz="15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500" b="1" dirty="0">
                          <a:solidFill>
                            <a:srgbClr val="1A1A1A"/>
                          </a:solidFill>
                          <a:latin typeface="Calibri" pitchFamily="34" charset="0"/>
                          <a:ea typeface="Calibri" pitchFamily="34" charset="-122"/>
                          <a:cs typeface="Calibri" pitchFamily="34" charset="-120"/>
                        </a:rPr>
                        <a:t>자체 평가 의견</a:t>
                      </a:r>
                      <a:endParaRPr lang="en-US" sz="15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lgn="r">
                        <a:buNone/>
                      </a:pPr>
                      <a:r>
                        <a:rPr lang="en-US" sz="1100" dirty="0">
                          <a:solidFill>
                            <a:srgbClr val="6E6E6E"/>
                          </a:solidFill>
                          <a:latin typeface="Calibri" pitchFamily="34" charset="0"/>
                          <a:ea typeface="Calibri" pitchFamily="34" charset="-122"/>
                          <a:cs typeface="Calibri" pitchFamily="34" charset="-120"/>
                        </a:rPr>
                        <a:t>완성도 평가 / 개선점 / 느낀 점</a:t>
                      </a:r>
                      <a:endParaRPr lang="en-US" sz="11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640080" y="6355080"/>
            <a:ext cx="5486400" cy="256032"/>
          </a:xfrm>
          <a:prstGeom prst="rect">
            <a:avLst/>
          </a:prstGeom>
          <a:noFill/>
          <a:ln/>
        </p:spPr>
        <p:txBody>
          <a:bodyPr wrap="square" lIns="0" tIns="0" rIns="0" bIns="0" rtlCol="0" anchor="ctr"/>
          <a:lstStyle/>
          <a:p>
            <a:pPr marL="0" indent="0">
              <a:buNone/>
            </a:pPr>
            <a:r>
              <a:rPr lang="en-US" sz="900" dirty="0">
                <a:solidFill>
                  <a:srgbClr val="6E6E6E"/>
                </a:solidFill>
                <a:latin typeface="Calibri" pitchFamily="34" charset="0"/>
                <a:ea typeface="Calibri" pitchFamily="34" charset="-122"/>
                <a:cs typeface="Calibri" pitchFamily="34" charset="-120"/>
              </a:rPr>
              <a:t>수성록 (Tower and Dragons) · 최종 결과 보고</a:t>
            </a:r>
            <a:endParaRPr lang="en-US" sz="900" dirty="0"/>
          </a:p>
        </p:txBody>
      </p:sp>
      <p:sp>
        <p:nvSpPr>
          <p:cNvPr id="6" name="Text 3"/>
          <p:cNvSpPr txBox="1"/>
          <p:nvPr/>
        </p:nvSpPr>
        <p:spPr>
          <a:xfrm>
            <a:off x="6062472" y="6355080"/>
            <a:ext cx="5486400" cy="256032"/>
          </a:xfrm>
          <a:prstGeom prst="rect">
            <a:avLst/>
          </a:prstGeom>
          <a:noFill/>
          <a:ln/>
        </p:spPr>
        <p:txBody>
          <a:bodyPr wrap="square" lIns="0" tIns="0" rIns="0" bIns="0" rtlCol="0" anchor="ctr"/>
          <a:lstStyle/>
          <a:p>
            <a:pPr marL="0" indent="0" algn="r">
              <a:buNone/>
            </a:pPr>
            <a:r>
              <a:rPr lang="en-US" sz="900" dirty="0">
                <a:solidFill>
                  <a:srgbClr val="6E6E6E"/>
                </a:solidFill>
                <a:latin typeface="Calibri" pitchFamily="34" charset="0"/>
                <a:ea typeface="Calibri" pitchFamily="34" charset="-122"/>
                <a:cs typeface="Calibri" pitchFamily="34" charset="-120"/>
              </a:rPr>
              <a:t>CONTENTS</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47472"/>
            <a:ext cx="10908792" cy="256032"/>
          </a:xfrm>
          <a:prstGeom prst="rect">
            <a:avLst/>
          </a:prstGeom>
          <a:noFill/>
          <a:ln/>
        </p:spPr>
        <p:txBody>
          <a:bodyPr wrap="square" lIns="0" tIns="0" rIns="0" bIns="0" rtlCol="0" anchor="ctr"/>
          <a:lstStyle/>
          <a:p>
            <a:pPr marL="0" indent="0">
              <a:buNone/>
            </a:pPr>
            <a:r>
              <a:rPr lang="en-US" sz="1100" b="1" dirty="0">
                <a:solidFill>
                  <a:srgbClr val="B85042"/>
                </a:solidFill>
                <a:latin typeface="Calibri" pitchFamily="34" charset="0"/>
                <a:ea typeface="Calibri" pitchFamily="34" charset="-122"/>
                <a:cs typeface="Calibri" pitchFamily="34" charset="-120"/>
              </a:rPr>
              <a:t>01</a:t>
            </a:r>
            <a:r>
              <a:rPr lang="en-US" sz="1100" dirty="0">
                <a:solidFill>
                  <a:srgbClr val="6E6E6E"/>
                </a:solidFill>
                <a:latin typeface="Calibri" pitchFamily="34" charset="0"/>
                <a:ea typeface="Calibri" pitchFamily="34" charset="-122"/>
                <a:cs typeface="Calibri" pitchFamily="34" charset="-120"/>
              </a:rPr>
              <a:t>   프로젝트 개요</a:t>
            </a:r>
            <a:endParaRPr lang="en-US" sz="1100" dirty="0"/>
          </a:p>
        </p:txBody>
      </p:sp>
      <p:sp>
        <p:nvSpPr>
          <p:cNvPr id="3" name="Text 1"/>
          <p:cNvSpPr txBox="1"/>
          <p:nvPr/>
        </p:nvSpPr>
        <p:spPr>
          <a:xfrm>
            <a:off x="640080" y="621792"/>
            <a:ext cx="10908792" cy="640080"/>
          </a:xfrm>
          <a:prstGeom prst="rect">
            <a:avLst/>
          </a:prstGeom>
          <a:noFill/>
          <a:ln/>
        </p:spPr>
        <p:txBody>
          <a:bodyPr wrap="square" lIns="0" tIns="0" rIns="0" bIns="0" rtlCol="0" anchor="t"/>
          <a:lstStyle/>
          <a:p>
            <a:pPr marL="0" indent="0">
              <a:buNone/>
            </a:pPr>
            <a:r>
              <a:rPr lang="en-US" sz="3000" b="1" dirty="0">
                <a:solidFill>
                  <a:srgbClr val="1A1A1A"/>
                </a:solidFill>
                <a:latin typeface="Calibri" pitchFamily="34" charset="0"/>
                <a:ea typeface="Calibri" pitchFamily="34" charset="-122"/>
                <a:cs typeface="Calibri" pitchFamily="34" charset="-120"/>
              </a:rPr>
              <a:t>프로젝트 개요</a:t>
            </a:r>
            <a:endParaRPr lang="en-US" sz="3000" dirty="0"/>
          </a:p>
        </p:txBody>
      </p:sp>
      <p:sp>
        <p:nvSpPr>
          <p:cNvPr id="4" name="Text 2"/>
          <p:cNvSpPr txBox="1"/>
          <p:nvPr/>
        </p:nvSpPr>
        <p:spPr>
          <a:xfrm>
            <a:off x="640080" y="1600200"/>
            <a:ext cx="10908792" cy="640080"/>
          </a:xfrm>
          <a:prstGeom prst="rect">
            <a:avLst/>
          </a:prstGeom>
          <a:noFill/>
          <a:ln/>
        </p:spPr>
        <p:txBody>
          <a:bodyPr wrap="square" lIns="0" tIns="0" rIns="0" bIns="0" rtlCol="0" anchor="ctr"/>
          <a:lstStyle/>
          <a:p>
            <a:pPr marL="0" indent="0">
              <a:buNone/>
            </a:pPr>
            <a:r>
              <a:rPr lang="en-US" sz="3200" b="1" dirty="0">
                <a:solidFill>
                  <a:srgbClr val="B85042"/>
                </a:solidFill>
                <a:latin typeface="Calibri" pitchFamily="34" charset="0"/>
                <a:ea typeface="Calibri" pitchFamily="34" charset="-122"/>
                <a:cs typeface="Calibri" pitchFamily="34" charset="-120"/>
              </a:rPr>
              <a:t>"낮의 선택이 밤의 생존을 결정한다"</a:t>
            </a:r>
            <a:endParaRPr lang="en-US" sz="3200" dirty="0"/>
          </a:p>
        </p:txBody>
      </p:sp>
      <p:sp>
        <p:nvSpPr>
          <p:cNvPr id="5" name="Text 3"/>
          <p:cNvSpPr txBox="1"/>
          <p:nvPr/>
        </p:nvSpPr>
        <p:spPr>
          <a:xfrm>
            <a:off x="640080" y="2286000"/>
            <a:ext cx="10908792" cy="365760"/>
          </a:xfrm>
          <a:prstGeom prst="rect">
            <a:avLst/>
          </a:prstGeom>
          <a:noFill/>
          <a:ln/>
        </p:spPr>
        <p:txBody>
          <a:bodyPr wrap="square" lIns="0" tIns="0" rIns="0" bIns="0" rtlCol="0" anchor="ctr"/>
          <a:lstStyle/>
          <a:p>
            <a:pPr marL="0" indent="0">
              <a:buNone/>
            </a:pPr>
            <a:r>
              <a:rPr lang="en-US" sz="1600" dirty="0">
                <a:solidFill>
                  <a:srgbClr val="1A1A1A"/>
                </a:solidFill>
                <a:latin typeface="Calibri" pitchFamily="34" charset="0"/>
                <a:ea typeface="Calibri" pitchFamily="34" charset="-122"/>
                <a:cs typeface="Calibri" pitchFamily="34" charset="-120"/>
              </a:rPr>
              <a:t>타워디펜스 × 도시건설 — 싱글플레이 전략 게임 「수성록 (Tower and Dragons)」</a:t>
            </a:r>
            <a:endParaRPr lang="en-US" sz="1600" dirty="0"/>
          </a:p>
        </p:txBody>
      </p:sp>
      <p:sp>
        <p:nvSpPr>
          <p:cNvPr id="6" name="Text 4"/>
          <p:cNvSpPr txBox="1"/>
          <p:nvPr/>
        </p:nvSpPr>
        <p:spPr>
          <a:xfrm>
            <a:off x="640080" y="3200400"/>
            <a:ext cx="2651760" cy="256032"/>
          </a:xfrm>
          <a:prstGeom prst="rect">
            <a:avLst/>
          </a:prstGeom>
          <a:noFill/>
          <a:ln/>
        </p:spPr>
        <p:txBody>
          <a:bodyPr wrap="square" lIns="0" tIns="0" rIns="0" bIns="0" rtlCol="0" anchor="ctr"/>
          <a:lstStyle/>
          <a:p>
            <a:pPr marL="0" indent="0">
              <a:buNone/>
            </a:pPr>
            <a:r>
              <a:rPr lang="en-US" sz="1150" b="1" dirty="0">
                <a:solidFill>
                  <a:srgbClr val="B85042"/>
                </a:solidFill>
                <a:latin typeface="Calibri" pitchFamily="34" charset="0"/>
                <a:ea typeface="Calibri" pitchFamily="34" charset="-122"/>
                <a:cs typeface="Calibri" pitchFamily="34" charset="-120"/>
              </a:rPr>
              <a:t>장르</a:t>
            </a:r>
            <a:endParaRPr lang="en-US" sz="1150" dirty="0"/>
          </a:p>
        </p:txBody>
      </p:sp>
      <p:sp>
        <p:nvSpPr>
          <p:cNvPr id="7" name="Text 5"/>
          <p:cNvSpPr txBox="1"/>
          <p:nvPr/>
        </p:nvSpPr>
        <p:spPr>
          <a:xfrm>
            <a:off x="640080" y="3493008"/>
            <a:ext cx="2651760" cy="548640"/>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타워디펜스 + 도시건설</a:t>
            </a:r>
            <a:endParaRPr lang="en-US" sz="1400" dirty="0"/>
          </a:p>
        </p:txBody>
      </p:sp>
      <p:sp>
        <p:nvSpPr>
          <p:cNvPr id="8" name="Text 6"/>
          <p:cNvSpPr txBox="1"/>
          <p:nvPr/>
        </p:nvSpPr>
        <p:spPr>
          <a:xfrm>
            <a:off x="3392424" y="3200400"/>
            <a:ext cx="2651760" cy="256032"/>
          </a:xfrm>
          <a:prstGeom prst="rect">
            <a:avLst/>
          </a:prstGeom>
          <a:noFill/>
          <a:ln/>
        </p:spPr>
        <p:txBody>
          <a:bodyPr wrap="square" lIns="0" tIns="0" rIns="0" bIns="0" rtlCol="0" anchor="ctr"/>
          <a:lstStyle/>
          <a:p>
            <a:pPr marL="0" indent="0">
              <a:buNone/>
            </a:pPr>
            <a:r>
              <a:rPr lang="en-US" sz="1150" b="1" dirty="0">
                <a:solidFill>
                  <a:srgbClr val="B85042"/>
                </a:solidFill>
                <a:latin typeface="Calibri" pitchFamily="34" charset="0"/>
                <a:ea typeface="Calibri" pitchFamily="34" charset="-122"/>
                <a:cs typeface="Calibri" pitchFamily="34" charset="-120"/>
              </a:rPr>
              <a:t>플랫폼</a:t>
            </a:r>
            <a:endParaRPr lang="en-US" sz="1150" dirty="0"/>
          </a:p>
        </p:txBody>
      </p:sp>
      <p:sp>
        <p:nvSpPr>
          <p:cNvPr id="9" name="Text 7"/>
          <p:cNvSpPr txBox="1"/>
          <p:nvPr/>
        </p:nvSpPr>
        <p:spPr>
          <a:xfrm>
            <a:off x="3392424" y="3493008"/>
            <a:ext cx="2651760" cy="548640"/>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Windows PC · 싱글플레이</a:t>
            </a:r>
            <a:endParaRPr lang="en-US" sz="1400" dirty="0"/>
          </a:p>
        </p:txBody>
      </p:sp>
      <p:sp>
        <p:nvSpPr>
          <p:cNvPr id="10" name="Text 8"/>
          <p:cNvSpPr txBox="1"/>
          <p:nvPr/>
        </p:nvSpPr>
        <p:spPr>
          <a:xfrm>
            <a:off x="6144768" y="3200400"/>
            <a:ext cx="2651760" cy="256032"/>
          </a:xfrm>
          <a:prstGeom prst="rect">
            <a:avLst/>
          </a:prstGeom>
          <a:noFill/>
          <a:ln/>
        </p:spPr>
        <p:txBody>
          <a:bodyPr wrap="square" lIns="0" tIns="0" rIns="0" bIns="0" rtlCol="0" anchor="ctr"/>
          <a:lstStyle/>
          <a:p>
            <a:pPr marL="0" indent="0">
              <a:buNone/>
            </a:pPr>
            <a:r>
              <a:rPr lang="en-US" sz="1150" b="1" dirty="0">
                <a:solidFill>
                  <a:srgbClr val="B85042"/>
                </a:solidFill>
                <a:latin typeface="Calibri" pitchFamily="34" charset="0"/>
                <a:ea typeface="Calibri" pitchFamily="34" charset="-122"/>
                <a:cs typeface="Calibri" pitchFamily="34" charset="-120"/>
              </a:rPr>
              <a:t>개발</a:t>
            </a:r>
            <a:endParaRPr lang="en-US" sz="1150" dirty="0"/>
          </a:p>
        </p:txBody>
      </p:sp>
      <p:sp>
        <p:nvSpPr>
          <p:cNvPr id="11" name="Text 9"/>
          <p:cNvSpPr txBox="1"/>
          <p:nvPr/>
        </p:nvSpPr>
        <p:spPr>
          <a:xfrm>
            <a:off x="6144768" y="3493008"/>
            <a:ext cx="2651760" cy="548640"/>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Unity · C# · 데이터 기반 설계</a:t>
            </a:r>
            <a:endParaRPr lang="en-US" sz="1400" dirty="0"/>
          </a:p>
        </p:txBody>
      </p:sp>
      <p:sp>
        <p:nvSpPr>
          <p:cNvPr id="12" name="Text 10"/>
          <p:cNvSpPr txBox="1"/>
          <p:nvPr/>
        </p:nvSpPr>
        <p:spPr>
          <a:xfrm>
            <a:off x="8897112" y="3200400"/>
            <a:ext cx="2651760" cy="256032"/>
          </a:xfrm>
          <a:prstGeom prst="rect">
            <a:avLst/>
          </a:prstGeom>
          <a:noFill/>
          <a:ln/>
        </p:spPr>
        <p:txBody>
          <a:bodyPr wrap="square" lIns="0" tIns="0" rIns="0" bIns="0" rtlCol="0" anchor="ctr"/>
          <a:lstStyle/>
          <a:p>
            <a:pPr marL="0" indent="0">
              <a:buNone/>
            </a:pPr>
            <a:r>
              <a:rPr lang="en-US" sz="1150" b="1" dirty="0">
                <a:solidFill>
                  <a:srgbClr val="B85042"/>
                </a:solidFill>
                <a:latin typeface="Calibri" pitchFamily="34" charset="0"/>
                <a:ea typeface="Calibri" pitchFamily="34" charset="-122"/>
                <a:cs typeface="Calibri" pitchFamily="34" charset="-120"/>
              </a:rPr>
              <a:t>규모</a:t>
            </a:r>
            <a:endParaRPr lang="en-US" sz="1150" dirty="0"/>
          </a:p>
        </p:txBody>
      </p:sp>
      <p:sp>
        <p:nvSpPr>
          <p:cNvPr id="13" name="Text 11"/>
          <p:cNvSpPr txBox="1"/>
          <p:nvPr/>
        </p:nvSpPr>
        <p:spPr>
          <a:xfrm>
            <a:off x="8897112" y="3493008"/>
            <a:ext cx="2651760" cy="548640"/>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9주 · 4인 · 1회차 28일 분량</a:t>
            </a:r>
            <a:endParaRPr lang="en-US" sz="1400" dirty="0"/>
          </a:p>
        </p:txBody>
      </p:sp>
      <p:sp>
        <p:nvSpPr>
          <p:cNvPr id="14" name="Text 12"/>
          <p:cNvSpPr txBox="1"/>
          <p:nvPr/>
        </p:nvSpPr>
        <p:spPr>
          <a:xfrm>
            <a:off x="640080" y="4480560"/>
            <a:ext cx="10908792" cy="256032"/>
          </a:xfrm>
          <a:prstGeom prst="rect">
            <a:avLst/>
          </a:prstGeom>
          <a:noFill/>
          <a:ln/>
        </p:spPr>
        <p:txBody>
          <a:bodyPr wrap="square" lIns="0" tIns="0" rIns="0" bIns="0" rtlCol="0" anchor="ctr"/>
          <a:lstStyle/>
          <a:p>
            <a:pPr marL="0" indent="0">
              <a:buNone/>
            </a:pPr>
            <a:r>
              <a:rPr lang="en-US" sz="1150" b="1" dirty="0">
                <a:solidFill>
                  <a:srgbClr val="B85042"/>
                </a:solidFill>
                <a:latin typeface="Calibri" pitchFamily="34" charset="0"/>
                <a:ea typeface="Calibri" pitchFamily="34" charset="-122"/>
                <a:cs typeface="Calibri" pitchFamily="34" charset="-120"/>
              </a:rPr>
              <a:t>선정 배경</a:t>
            </a:r>
            <a:endParaRPr lang="en-US" sz="1150" dirty="0"/>
          </a:p>
        </p:txBody>
      </p:sp>
      <p:sp>
        <p:nvSpPr>
          <p:cNvPr id="15" name="Text 13"/>
          <p:cNvSpPr txBox="1"/>
          <p:nvPr/>
        </p:nvSpPr>
        <p:spPr>
          <a:xfrm>
            <a:off x="640080" y="4791456"/>
            <a:ext cx="10908792" cy="914400"/>
          </a:xfrm>
          <a:prstGeom prst="rect">
            <a:avLst/>
          </a:prstGeom>
          <a:noFill/>
          <a:ln/>
        </p:spPr>
        <p:txBody>
          <a:bodyPr wrap="square" lIns="0" tIns="0" rIns="0" bIns="0" rtlCol="0" anchor="t"/>
          <a:lstStyle/>
          <a:p>
            <a:pPr marL="0" indent="0">
              <a:spcAft>
                <a:spcPts val="600"/>
              </a:spcAft>
              <a:buNone/>
            </a:pPr>
            <a:r>
              <a:rPr lang="en-US" sz="1400" dirty="0">
                <a:solidFill>
                  <a:srgbClr val="1A1A1A"/>
                </a:solidFill>
                <a:latin typeface="Calibri" pitchFamily="34" charset="0"/>
                <a:ea typeface="Calibri" pitchFamily="34" charset="-122"/>
                <a:cs typeface="Calibri" pitchFamily="34" charset="-120"/>
              </a:rPr>
              <a:t>미션 가이드를 "낮에 한정된 자원을 전략적으로 투자해 밤을 대비한다"로 해석</a:t>
            </a:r>
            <a:endParaRPr lang="en-US" sz="1400" dirty="0"/>
          </a:p>
          <a:p>
            <a:pPr marL="0" indent="0">
              <a:spcAft>
                <a:spcPts val="600"/>
              </a:spcAft>
              <a:buNone/>
            </a:pPr>
            <a:r>
              <a:rPr lang="en-US" sz="1400" dirty="0">
                <a:solidFill>
                  <a:srgbClr val="1A1A1A"/>
                </a:solidFill>
                <a:latin typeface="Calibri" pitchFamily="34" charset="0"/>
                <a:ea typeface="Calibri" pitchFamily="34" charset="-122"/>
                <a:cs typeface="Calibri" pitchFamily="34" charset="-120"/>
              </a:rPr>
              <a:t>레퍼런스 — Thronefall(낮/밤 준비-방어) · Kingdom: Two Crowns(사전 준비형 전투) · FTL(제한 자원의 투자 고민)</a:t>
            </a:r>
            <a:endParaRPr lang="en-US" sz="1400" dirty="0"/>
          </a:p>
        </p:txBody>
      </p:sp>
      <p:sp>
        <p:nvSpPr>
          <p:cNvPr id="16" name="Text 14"/>
          <p:cNvSpPr txBox="1"/>
          <p:nvPr/>
        </p:nvSpPr>
        <p:spPr>
          <a:xfrm>
            <a:off x="640080" y="6355080"/>
            <a:ext cx="5486400" cy="256032"/>
          </a:xfrm>
          <a:prstGeom prst="rect">
            <a:avLst/>
          </a:prstGeom>
          <a:noFill/>
          <a:ln/>
        </p:spPr>
        <p:txBody>
          <a:bodyPr wrap="square" lIns="0" tIns="0" rIns="0" bIns="0" rtlCol="0" anchor="ctr"/>
          <a:lstStyle/>
          <a:p>
            <a:pPr marL="0" indent="0">
              <a:buNone/>
            </a:pPr>
            <a:r>
              <a:rPr lang="en-US" sz="900" dirty="0">
                <a:solidFill>
                  <a:srgbClr val="6E6E6E"/>
                </a:solidFill>
                <a:latin typeface="Calibri" pitchFamily="34" charset="0"/>
                <a:ea typeface="Calibri" pitchFamily="34" charset="-122"/>
                <a:cs typeface="Calibri" pitchFamily="34" charset="-120"/>
              </a:rPr>
              <a:t>수성록 (Tower and Dragons) · 최종 결과 보고</a:t>
            </a:r>
            <a:endParaRPr lang="en-US" sz="900" dirty="0"/>
          </a:p>
        </p:txBody>
      </p:sp>
      <p:sp>
        <p:nvSpPr>
          <p:cNvPr id="17" name="Text 15"/>
          <p:cNvSpPr txBox="1"/>
          <p:nvPr/>
        </p:nvSpPr>
        <p:spPr>
          <a:xfrm>
            <a:off x="6062472" y="6355080"/>
            <a:ext cx="5486400" cy="256032"/>
          </a:xfrm>
          <a:prstGeom prst="rect">
            <a:avLst/>
          </a:prstGeom>
          <a:noFill/>
          <a:ln/>
        </p:spPr>
        <p:txBody>
          <a:bodyPr wrap="square" lIns="0" tIns="0" rIns="0" bIns="0" rtlCol="0" anchor="ctr"/>
          <a:lstStyle/>
          <a:p>
            <a:pPr marL="0" indent="0" algn="r">
              <a:buNone/>
            </a:pPr>
            <a:r>
              <a:rPr lang="en-US" sz="900" dirty="0">
                <a:solidFill>
                  <a:srgbClr val="6E6E6E"/>
                </a:solidFill>
                <a:latin typeface="Calibri" pitchFamily="34" charset="0"/>
                <a:ea typeface="Calibri" pitchFamily="34" charset="-122"/>
                <a:cs typeface="Calibri" pitchFamily="34" charset="-120"/>
              </a:rPr>
              <a:t>01 — 프로젝트 개요</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47472"/>
            <a:ext cx="10908792" cy="256032"/>
          </a:xfrm>
          <a:prstGeom prst="rect">
            <a:avLst/>
          </a:prstGeom>
          <a:noFill/>
          <a:ln/>
        </p:spPr>
        <p:txBody>
          <a:bodyPr wrap="square" lIns="0" tIns="0" rIns="0" bIns="0" rtlCol="0" anchor="ctr"/>
          <a:lstStyle/>
          <a:p>
            <a:pPr marL="0" indent="0">
              <a:buNone/>
            </a:pPr>
            <a:r>
              <a:rPr lang="en-US" sz="1100" b="1" dirty="0">
                <a:solidFill>
                  <a:srgbClr val="B85042"/>
                </a:solidFill>
                <a:latin typeface="Calibri" pitchFamily="34" charset="0"/>
                <a:ea typeface="Calibri" pitchFamily="34" charset="-122"/>
                <a:cs typeface="Calibri" pitchFamily="34" charset="-120"/>
              </a:rPr>
              <a:t>01</a:t>
            </a:r>
            <a:r>
              <a:rPr lang="en-US" sz="1100" dirty="0">
                <a:solidFill>
                  <a:srgbClr val="6E6E6E"/>
                </a:solidFill>
                <a:latin typeface="Calibri" pitchFamily="34" charset="0"/>
                <a:ea typeface="Calibri" pitchFamily="34" charset="-122"/>
                <a:cs typeface="Calibri" pitchFamily="34" charset="-120"/>
              </a:rPr>
              <a:t>   프로젝트 개요</a:t>
            </a:r>
            <a:endParaRPr lang="en-US" sz="1100" dirty="0"/>
          </a:p>
        </p:txBody>
      </p:sp>
      <p:sp>
        <p:nvSpPr>
          <p:cNvPr id="3" name="Text 1"/>
          <p:cNvSpPr txBox="1"/>
          <p:nvPr/>
        </p:nvSpPr>
        <p:spPr>
          <a:xfrm>
            <a:off x="640080" y="621792"/>
            <a:ext cx="10908792" cy="640080"/>
          </a:xfrm>
          <a:prstGeom prst="rect">
            <a:avLst/>
          </a:prstGeom>
          <a:noFill/>
          <a:ln/>
        </p:spPr>
        <p:txBody>
          <a:bodyPr wrap="square" lIns="0" tIns="0" rIns="0" bIns="0" rtlCol="0" anchor="t"/>
          <a:lstStyle/>
          <a:p>
            <a:pPr marL="0" indent="0">
              <a:buNone/>
            </a:pPr>
            <a:r>
              <a:rPr lang="en-US" sz="3000" b="1" dirty="0">
                <a:solidFill>
                  <a:srgbClr val="1A1A1A"/>
                </a:solidFill>
                <a:latin typeface="Calibri" pitchFamily="34" charset="0"/>
                <a:ea typeface="Calibri" pitchFamily="34" charset="-122"/>
                <a:cs typeface="Calibri" pitchFamily="34" charset="-120"/>
              </a:rPr>
              <a:t>차별화 포인트</a:t>
            </a:r>
            <a:endParaRPr lang="en-US" sz="3000" dirty="0"/>
          </a:p>
        </p:txBody>
      </p:sp>
      <p:sp>
        <p:nvSpPr>
          <p:cNvPr id="4" name="Text 2"/>
          <p:cNvSpPr txBox="1"/>
          <p:nvPr/>
        </p:nvSpPr>
        <p:spPr>
          <a:xfrm>
            <a:off x="640080" y="1280160"/>
            <a:ext cx="10908792" cy="292608"/>
          </a:xfrm>
          <a:prstGeom prst="rect">
            <a:avLst/>
          </a:prstGeom>
          <a:noFill/>
          <a:ln/>
        </p:spPr>
        <p:txBody>
          <a:bodyPr wrap="square" lIns="0" tIns="0" rIns="0" bIns="0" rtlCol="0" anchor="ctr"/>
          <a:lstStyle/>
          <a:p>
            <a:pPr marL="0" indent="0">
              <a:buNone/>
            </a:pPr>
            <a:r>
              <a:rPr lang="en-US" sz="1300" dirty="0">
                <a:solidFill>
                  <a:srgbClr val="6E6E6E"/>
                </a:solidFill>
                <a:latin typeface="Calibri" pitchFamily="34" charset="0"/>
                <a:ea typeface="Calibri" pitchFamily="34" charset="-122"/>
                <a:cs typeface="Calibri" pitchFamily="34" charset="-120"/>
              </a:rPr>
              <a:t>장르 문법 위에 얹은 세 개의 고유 축</a:t>
            </a:r>
            <a:endParaRPr lang="en-US" sz="1300" dirty="0"/>
          </a:p>
        </p:txBody>
      </p:sp>
      <p:sp>
        <p:nvSpPr>
          <p:cNvPr id="5" name="Text 3"/>
          <p:cNvSpPr txBox="1"/>
          <p:nvPr/>
        </p:nvSpPr>
        <p:spPr>
          <a:xfrm>
            <a:off x="640080" y="2011680"/>
            <a:ext cx="3520440" cy="411480"/>
          </a:xfrm>
          <a:prstGeom prst="rect">
            <a:avLst/>
          </a:prstGeom>
          <a:noFill/>
          <a:ln/>
        </p:spPr>
        <p:txBody>
          <a:bodyPr wrap="square" lIns="0" tIns="0" rIns="0" bIns="0" rtlCol="0" anchor="ctr"/>
          <a:lstStyle/>
          <a:p>
            <a:pPr marL="0" indent="0">
              <a:buNone/>
            </a:pPr>
            <a:r>
              <a:rPr lang="en-US" sz="1900" b="1" dirty="0">
                <a:solidFill>
                  <a:srgbClr val="B85042"/>
                </a:solidFill>
                <a:latin typeface="Calibri" pitchFamily="34" charset="0"/>
                <a:ea typeface="Calibri" pitchFamily="34" charset="-122"/>
                <a:cs typeface="Calibri" pitchFamily="34" charset="-120"/>
              </a:rPr>
              <a:t>① 용의 운용</a:t>
            </a:r>
            <a:endParaRPr lang="en-US" sz="1900" dirty="0"/>
          </a:p>
        </p:txBody>
      </p:sp>
      <p:sp>
        <p:nvSpPr>
          <p:cNvPr id="6" name="Text 4"/>
          <p:cNvSpPr txBox="1"/>
          <p:nvPr/>
        </p:nvSpPr>
        <p:spPr>
          <a:xfrm>
            <a:off x="640080" y="2560320"/>
            <a:ext cx="3520440" cy="1645920"/>
          </a:xfrm>
          <a:prstGeom prst="rect">
            <a:avLst/>
          </a:prstGeom>
          <a:noFill/>
          <a:ln/>
        </p:spPr>
        <p:txBody>
          <a:bodyPr wrap="square" lIns="0" tIns="0" rIns="0" bIns="0" rtlCol="0" anchor="t"/>
          <a:lstStyle/>
          <a:p>
            <a:pPr marL="0" indent="0">
              <a:lnSpc>
                <a:spcPct val="125000"/>
              </a:lnSpc>
              <a:buNone/>
            </a:pPr>
            <a:r>
              <a:rPr lang="en-US" sz="1400" dirty="0">
                <a:solidFill>
                  <a:srgbClr val="1A1A1A"/>
                </a:solidFill>
                <a:latin typeface="Calibri" pitchFamily="34" charset="0"/>
                <a:ea typeface="Calibri" pitchFamily="34" charset="-122"/>
                <a:cs typeface="Calibri" pitchFamily="34" charset="-120"/>
              </a:rPr>
              <a:t>어미용 5속성 스킬트리와 새끼용 운용.</a:t>
            </a:r>
            <a:endParaRPr lang="en-US" sz="1400" dirty="0"/>
          </a:p>
          <a:p>
            <a:pPr marL="0" indent="0">
              <a:lnSpc>
                <a:spcPct val="125000"/>
              </a:lnSpc>
              <a:buNone/>
            </a:pPr>
            <a:r>
              <a:rPr lang="en-US" sz="1400" dirty="0">
                <a:solidFill>
                  <a:srgbClr val="1A1A1A"/>
                </a:solidFill>
                <a:latin typeface="Calibri" pitchFamily="34" charset="0"/>
                <a:ea typeface="Calibri" pitchFamily="34" charset="-122"/>
                <a:cs typeface="Calibri" pitchFamily="34" charset="-120"/>
              </a:rPr>
              <a:t>연구와 분리된 별도 성장 축으로,</a:t>
            </a:r>
            <a:endParaRPr lang="en-US" sz="1400" dirty="0"/>
          </a:p>
          <a:p>
            <a:pPr marL="0" indent="0">
              <a:lnSpc>
                <a:spcPct val="125000"/>
              </a:lnSpc>
              <a:buNone/>
            </a:pPr>
            <a:r>
              <a:rPr lang="en-US" sz="1400" dirty="0">
                <a:solidFill>
                  <a:srgbClr val="1A1A1A"/>
                </a:solidFill>
                <a:latin typeface="Calibri" pitchFamily="34" charset="0"/>
                <a:ea typeface="Calibri" pitchFamily="34" charset="-122"/>
                <a:cs typeface="Calibri" pitchFamily="34" charset="-120"/>
              </a:rPr>
              <a:t>플레이어마다 다른 빌드가 나온다.</a:t>
            </a:r>
            <a:endParaRPr lang="en-US" sz="1400" dirty="0"/>
          </a:p>
        </p:txBody>
      </p:sp>
      <p:sp>
        <p:nvSpPr>
          <p:cNvPr id="7" name="Text 5"/>
          <p:cNvSpPr txBox="1"/>
          <p:nvPr/>
        </p:nvSpPr>
        <p:spPr>
          <a:xfrm>
            <a:off x="4334256" y="2011680"/>
            <a:ext cx="3520440" cy="411480"/>
          </a:xfrm>
          <a:prstGeom prst="rect">
            <a:avLst/>
          </a:prstGeom>
          <a:noFill/>
          <a:ln/>
        </p:spPr>
        <p:txBody>
          <a:bodyPr wrap="square" lIns="0" tIns="0" rIns="0" bIns="0" rtlCol="0" anchor="ctr"/>
          <a:lstStyle/>
          <a:p>
            <a:pPr marL="0" indent="0">
              <a:buNone/>
            </a:pPr>
            <a:r>
              <a:rPr lang="en-US" sz="1900" b="1" dirty="0">
                <a:solidFill>
                  <a:srgbClr val="B85042"/>
                </a:solidFill>
                <a:latin typeface="Calibri" pitchFamily="34" charset="0"/>
                <a:ea typeface="Calibri" pitchFamily="34" charset="-122"/>
                <a:cs typeface="Calibri" pitchFamily="34" charset="-120"/>
              </a:rPr>
              <a:t>② 인구의 배분</a:t>
            </a:r>
            <a:endParaRPr lang="en-US" sz="1900" dirty="0"/>
          </a:p>
        </p:txBody>
      </p:sp>
      <p:sp>
        <p:nvSpPr>
          <p:cNvPr id="8" name="Text 6"/>
          <p:cNvSpPr txBox="1"/>
          <p:nvPr/>
        </p:nvSpPr>
        <p:spPr>
          <a:xfrm>
            <a:off x="4334256" y="2560320"/>
            <a:ext cx="3520440" cy="1645920"/>
          </a:xfrm>
          <a:prstGeom prst="rect">
            <a:avLst/>
          </a:prstGeom>
          <a:noFill/>
          <a:ln/>
        </p:spPr>
        <p:txBody>
          <a:bodyPr wrap="square" lIns="0" tIns="0" rIns="0" bIns="0" rtlCol="0" anchor="t"/>
          <a:lstStyle/>
          <a:p>
            <a:pPr marL="0" indent="0">
              <a:lnSpc>
                <a:spcPct val="125000"/>
              </a:lnSpc>
              <a:buNone/>
            </a:pPr>
            <a:r>
              <a:rPr lang="en-US" sz="1400" dirty="0">
                <a:solidFill>
                  <a:srgbClr val="1A1A1A"/>
                </a:solidFill>
                <a:latin typeface="Calibri" pitchFamily="34" charset="0"/>
                <a:ea typeface="Calibri" pitchFamily="34" charset="-122"/>
                <a:cs typeface="Calibri" pitchFamily="34" charset="-120"/>
              </a:rPr>
              <a:t>한정된 인구를 생산 · 방어 · 점령 · 연구가</a:t>
            </a:r>
            <a:endParaRPr lang="en-US" sz="1400" dirty="0"/>
          </a:p>
          <a:p>
            <a:pPr marL="0" indent="0">
              <a:lnSpc>
                <a:spcPct val="125000"/>
              </a:lnSpc>
              <a:buNone/>
            </a:pPr>
            <a:r>
              <a:rPr lang="en-US" sz="1400" dirty="0">
                <a:solidFill>
                  <a:srgbClr val="1A1A1A"/>
                </a:solidFill>
                <a:latin typeface="Calibri" pitchFamily="34" charset="0"/>
                <a:ea typeface="Calibri" pitchFamily="34" charset="-122"/>
                <a:cs typeface="Calibri" pitchFamily="34" charset="-120"/>
              </a:rPr>
              <a:t>하나의 풀로 공유한다.</a:t>
            </a:r>
            <a:endParaRPr lang="en-US" sz="1400" dirty="0"/>
          </a:p>
          <a:p>
            <a:pPr marL="0" indent="0">
              <a:lnSpc>
                <a:spcPct val="125000"/>
              </a:lnSpc>
              <a:buNone/>
            </a:pPr>
            <a:r>
              <a:rPr lang="en-US" sz="1400" dirty="0">
                <a:solidFill>
                  <a:srgbClr val="1A1A1A"/>
                </a:solidFill>
                <a:latin typeface="Calibri" pitchFamily="34" charset="0"/>
                <a:ea typeface="Calibri" pitchFamily="34" charset="-122"/>
                <a:cs typeface="Calibri" pitchFamily="34" charset="-120"/>
              </a:rPr>
              <a:t>한쪽에 넣으면 다른 쪽에 구멍이 생긴다.</a:t>
            </a:r>
            <a:endParaRPr lang="en-US" sz="1400" dirty="0"/>
          </a:p>
        </p:txBody>
      </p:sp>
      <p:sp>
        <p:nvSpPr>
          <p:cNvPr id="9" name="Text 7"/>
          <p:cNvSpPr txBox="1"/>
          <p:nvPr/>
        </p:nvSpPr>
        <p:spPr>
          <a:xfrm>
            <a:off x="8028432" y="2011680"/>
            <a:ext cx="3520440" cy="411480"/>
          </a:xfrm>
          <a:prstGeom prst="rect">
            <a:avLst/>
          </a:prstGeom>
          <a:noFill/>
          <a:ln/>
        </p:spPr>
        <p:txBody>
          <a:bodyPr wrap="square" lIns="0" tIns="0" rIns="0" bIns="0" rtlCol="0" anchor="ctr"/>
          <a:lstStyle/>
          <a:p>
            <a:pPr marL="0" indent="0">
              <a:buNone/>
            </a:pPr>
            <a:r>
              <a:rPr lang="en-US" sz="1900" b="1" dirty="0">
                <a:solidFill>
                  <a:srgbClr val="B85042"/>
                </a:solidFill>
                <a:latin typeface="Calibri" pitchFamily="34" charset="0"/>
                <a:ea typeface="Calibri" pitchFamily="34" charset="-122"/>
                <a:cs typeface="Calibri" pitchFamily="34" charset="-120"/>
              </a:rPr>
              <a:t>③ 전략적 확장</a:t>
            </a:r>
            <a:endParaRPr lang="en-US" sz="1900" dirty="0"/>
          </a:p>
        </p:txBody>
      </p:sp>
      <p:sp>
        <p:nvSpPr>
          <p:cNvPr id="10" name="Text 8"/>
          <p:cNvSpPr txBox="1"/>
          <p:nvPr/>
        </p:nvSpPr>
        <p:spPr>
          <a:xfrm>
            <a:off x="8028432" y="2560320"/>
            <a:ext cx="3520440" cy="1645920"/>
          </a:xfrm>
          <a:prstGeom prst="rect">
            <a:avLst/>
          </a:prstGeom>
          <a:noFill/>
          <a:ln/>
        </p:spPr>
        <p:txBody>
          <a:bodyPr wrap="square" lIns="0" tIns="0" rIns="0" bIns="0" rtlCol="0" anchor="t"/>
          <a:lstStyle/>
          <a:p>
            <a:pPr marL="0" indent="0">
              <a:lnSpc>
                <a:spcPct val="125000"/>
              </a:lnSpc>
              <a:buNone/>
            </a:pPr>
            <a:r>
              <a:rPr lang="en-US" sz="1400" dirty="0">
                <a:solidFill>
                  <a:srgbClr val="1A1A1A"/>
                </a:solidFill>
                <a:latin typeface="Calibri" pitchFamily="34" charset="0"/>
                <a:ea typeface="Calibri" pitchFamily="34" charset="-122"/>
                <a:cs typeface="Calibri" pitchFamily="34" charset="-120"/>
              </a:rPr>
              <a:t>점령해야 인구 · 자원 · 타워를 얻지만,</a:t>
            </a:r>
            <a:endParaRPr lang="en-US" sz="1400" dirty="0"/>
          </a:p>
          <a:p>
            <a:pPr marL="0" indent="0">
              <a:lnSpc>
                <a:spcPct val="125000"/>
              </a:lnSpc>
              <a:buNone/>
            </a:pPr>
            <a:r>
              <a:rPr lang="en-US" sz="1400" dirty="0">
                <a:solidFill>
                  <a:srgbClr val="1A1A1A"/>
                </a:solidFill>
                <a:latin typeface="Calibri" pitchFamily="34" charset="0"/>
                <a:ea typeface="Calibri" pitchFamily="34" charset="-122"/>
                <a:cs typeface="Calibri" pitchFamily="34" charset="-120"/>
              </a:rPr>
              <a:t>확장할수록 적 스폰이 늘어난다.</a:t>
            </a:r>
            <a:endParaRPr lang="en-US" sz="1400" dirty="0"/>
          </a:p>
          <a:p>
            <a:pPr marL="0" indent="0">
              <a:lnSpc>
                <a:spcPct val="125000"/>
              </a:lnSpc>
              <a:buNone/>
            </a:pPr>
            <a:r>
              <a:rPr lang="en-US" sz="1400" dirty="0">
                <a:solidFill>
                  <a:srgbClr val="1A1A1A"/>
                </a:solidFill>
                <a:latin typeface="Calibri" pitchFamily="34" charset="0"/>
                <a:ea typeface="Calibri" pitchFamily="34" charset="-122"/>
                <a:cs typeface="Calibri" pitchFamily="34" charset="-120"/>
              </a:rPr>
              <a:t>성장과 위험이 같은 축에 묶여 있다.</a:t>
            </a:r>
            <a:endParaRPr lang="en-US" sz="1400" dirty="0"/>
          </a:p>
        </p:txBody>
      </p:sp>
      <p:sp>
        <p:nvSpPr>
          <p:cNvPr id="11" name="Text 9"/>
          <p:cNvSpPr txBox="1"/>
          <p:nvPr/>
        </p:nvSpPr>
        <p:spPr>
          <a:xfrm>
            <a:off x="640080" y="4480560"/>
            <a:ext cx="10908792" cy="256032"/>
          </a:xfrm>
          <a:prstGeom prst="rect">
            <a:avLst/>
          </a:prstGeom>
          <a:noFill/>
          <a:ln/>
        </p:spPr>
        <p:txBody>
          <a:bodyPr wrap="square" lIns="0" tIns="0" rIns="0" bIns="0" rtlCol="0" anchor="ctr"/>
          <a:lstStyle/>
          <a:p>
            <a:pPr marL="0" indent="0">
              <a:buNone/>
            </a:pPr>
            <a:r>
              <a:rPr lang="en-US" sz="1150" b="1" dirty="0">
                <a:solidFill>
                  <a:srgbClr val="B85042"/>
                </a:solidFill>
                <a:latin typeface="Calibri" pitchFamily="34" charset="0"/>
                <a:ea typeface="Calibri" pitchFamily="34" charset="-122"/>
                <a:cs typeface="Calibri" pitchFamily="34" charset="-120"/>
              </a:rPr>
              <a:t>활용 방안 및 기대 효과</a:t>
            </a:r>
            <a:endParaRPr lang="en-US" sz="1150" dirty="0"/>
          </a:p>
        </p:txBody>
      </p:sp>
      <p:sp>
        <p:nvSpPr>
          <p:cNvPr id="12" name="Text 10"/>
          <p:cNvSpPr txBox="1"/>
          <p:nvPr/>
        </p:nvSpPr>
        <p:spPr>
          <a:xfrm>
            <a:off x="640080" y="4791456"/>
            <a:ext cx="10908792" cy="914400"/>
          </a:xfrm>
          <a:prstGeom prst="rect">
            <a:avLst/>
          </a:prstGeom>
          <a:noFill/>
          <a:ln/>
        </p:spPr>
        <p:txBody>
          <a:bodyPr wrap="square" lIns="0" tIns="0" rIns="0" bIns="0" rtlCol="0" anchor="t"/>
          <a:lstStyle/>
          <a:p>
            <a:pPr marL="0" indent="0">
              <a:spcAft>
                <a:spcPts val="600"/>
              </a:spcAft>
              <a:buNone/>
            </a:pPr>
            <a:r>
              <a:rPr lang="en-US" sz="1400" dirty="0">
                <a:solidFill>
                  <a:srgbClr val="1A1A1A"/>
                </a:solidFill>
                <a:latin typeface="Calibri" pitchFamily="34" charset="0"/>
                <a:ea typeface="Calibri" pitchFamily="34" charset="-122"/>
                <a:cs typeface="Calibri" pitchFamily="34" charset="-120"/>
              </a:rPr>
              <a:t>Unity 기반 상용 수준 게임 개발 역량 · 데이터 주도 설계와 밸런싱 파이프라인 경험</a:t>
            </a:r>
            <a:endParaRPr lang="en-US" sz="1400" dirty="0"/>
          </a:p>
          <a:p>
            <a:pPr marL="0" indent="0">
              <a:spcAft>
                <a:spcPts val="600"/>
              </a:spcAft>
              <a:buNone/>
            </a:pPr>
            <a:r>
              <a:rPr lang="en-US" sz="1400" dirty="0">
                <a:solidFill>
                  <a:srgbClr val="1A1A1A"/>
                </a:solidFill>
                <a:latin typeface="Calibri" pitchFamily="34" charset="0"/>
                <a:ea typeface="Calibri" pitchFamily="34" charset="-122"/>
                <a:cs typeface="Calibri" pitchFamily="34" charset="-120"/>
              </a:rPr>
              <a:t>대규모 시스템 간 연동 설계 능력 · 기획–구현–QA 전 주기 협업 및 AI 협업 개발 워크플로우 확보</a:t>
            </a:r>
            <a:endParaRPr lang="en-US" sz="1400" dirty="0"/>
          </a:p>
        </p:txBody>
      </p:sp>
      <p:sp>
        <p:nvSpPr>
          <p:cNvPr id="13" name="Text 11"/>
          <p:cNvSpPr txBox="1"/>
          <p:nvPr/>
        </p:nvSpPr>
        <p:spPr>
          <a:xfrm>
            <a:off x="640080" y="6355080"/>
            <a:ext cx="5486400" cy="256032"/>
          </a:xfrm>
          <a:prstGeom prst="rect">
            <a:avLst/>
          </a:prstGeom>
          <a:noFill/>
          <a:ln/>
        </p:spPr>
        <p:txBody>
          <a:bodyPr wrap="square" lIns="0" tIns="0" rIns="0" bIns="0" rtlCol="0" anchor="ctr"/>
          <a:lstStyle/>
          <a:p>
            <a:pPr marL="0" indent="0">
              <a:buNone/>
            </a:pPr>
            <a:r>
              <a:rPr lang="en-US" sz="900" dirty="0">
                <a:solidFill>
                  <a:srgbClr val="6E6E6E"/>
                </a:solidFill>
                <a:latin typeface="Calibri" pitchFamily="34" charset="0"/>
                <a:ea typeface="Calibri" pitchFamily="34" charset="-122"/>
                <a:cs typeface="Calibri" pitchFamily="34" charset="-120"/>
              </a:rPr>
              <a:t>수성록 (Tower and Dragons) · 최종 결과 보고</a:t>
            </a:r>
            <a:endParaRPr lang="en-US" sz="900" dirty="0"/>
          </a:p>
        </p:txBody>
      </p:sp>
      <p:sp>
        <p:nvSpPr>
          <p:cNvPr id="14" name="Text 12"/>
          <p:cNvSpPr txBox="1"/>
          <p:nvPr/>
        </p:nvSpPr>
        <p:spPr>
          <a:xfrm>
            <a:off x="6062472" y="6355080"/>
            <a:ext cx="5486400" cy="256032"/>
          </a:xfrm>
          <a:prstGeom prst="rect">
            <a:avLst/>
          </a:prstGeom>
          <a:noFill/>
          <a:ln/>
        </p:spPr>
        <p:txBody>
          <a:bodyPr wrap="square" lIns="0" tIns="0" rIns="0" bIns="0" rtlCol="0" anchor="ctr"/>
          <a:lstStyle/>
          <a:p>
            <a:pPr marL="0" indent="0" algn="r">
              <a:buNone/>
            </a:pPr>
            <a:r>
              <a:rPr lang="en-US" sz="900" dirty="0">
                <a:solidFill>
                  <a:srgbClr val="6E6E6E"/>
                </a:solidFill>
                <a:latin typeface="Calibri" pitchFamily="34" charset="0"/>
                <a:ea typeface="Calibri" pitchFamily="34" charset="-122"/>
                <a:cs typeface="Calibri" pitchFamily="34" charset="-120"/>
              </a:rPr>
              <a:t>01 — 프로젝트 개요</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47472"/>
            <a:ext cx="10908792" cy="256032"/>
          </a:xfrm>
          <a:prstGeom prst="rect">
            <a:avLst/>
          </a:prstGeom>
          <a:noFill/>
          <a:ln/>
        </p:spPr>
        <p:txBody>
          <a:bodyPr wrap="square" lIns="0" tIns="0" rIns="0" bIns="0" rtlCol="0" anchor="ctr"/>
          <a:lstStyle/>
          <a:p>
            <a:pPr marL="0" indent="0">
              <a:buNone/>
            </a:pPr>
            <a:r>
              <a:rPr lang="en-US" sz="1100" b="1" dirty="0">
                <a:solidFill>
                  <a:srgbClr val="B85042"/>
                </a:solidFill>
                <a:latin typeface="Calibri" pitchFamily="34" charset="0"/>
                <a:ea typeface="Calibri" pitchFamily="34" charset="-122"/>
                <a:cs typeface="Calibri" pitchFamily="34" charset="-120"/>
              </a:rPr>
              <a:t>01</a:t>
            </a:r>
            <a:r>
              <a:rPr lang="en-US" sz="1100" dirty="0">
                <a:solidFill>
                  <a:srgbClr val="6E6E6E"/>
                </a:solidFill>
                <a:latin typeface="Calibri" pitchFamily="34" charset="0"/>
                <a:ea typeface="Calibri" pitchFamily="34" charset="-122"/>
                <a:cs typeface="Calibri" pitchFamily="34" charset="-120"/>
              </a:rPr>
              <a:t>   프로젝트 개요</a:t>
            </a:r>
            <a:endParaRPr lang="en-US" sz="1100" dirty="0"/>
          </a:p>
        </p:txBody>
      </p:sp>
      <p:sp>
        <p:nvSpPr>
          <p:cNvPr id="3" name="Text 1"/>
          <p:cNvSpPr txBox="1"/>
          <p:nvPr/>
        </p:nvSpPr>
        <p:spPr>
          <a:xfrm>
            <a:off x="640080" y="621792"/>
            <a:ext cx="10908792" cy="640080"/>
          </a:xfrm>
          <a:prstGeom prst="rect">
            <a:avLst/>
          </a:prstGeom>
          <a:noFill/>
          <a:ln/>
        </p:spPr>
        <p:txBody>
          <a:bodyPr wrap="square" lIns="0" tIns="0" rIns="0" bIns="0" rtlCol="0" anchor="t"/>
          <a:lstStyle/>
          <a:p>
            <a:pPr marL="0" indent="0">
              <a:buNone/>
            </a:pPr>
            <a:r>
              <a:rPr lang="en-US" sz="3000" b="1" dirty="0">
                <a:solidFill>
                  <a:srgbClr val="1A1A1A"/>
                </a:solidFill>
                <a:latin typeface="Calibri" pitchFamily="34" charset="0"/>
                <a:ea typeface="Calibri" pitchFamily="34" charset="-122"/>
                <a:cs typeface="Calibri" pitchFamily="34" charset="-120"/>
              </a:rPr>
              <a:t>핵심 지표 · 구현 규모</a:t>
            </a:r>
            <a:endParaRPr lang="en-US" sz="3000" dirty="0"/>
          </a:p>
        </p:txBody>
      </p:sp>
      <p:sp>
        <p:nvSpPr>
          <p:cNvPr id="4" name="Text 2"/>
          <p:cNvSpPr txBox="1"/>
          <p:nvPr/>
        </p:nvSpPr>
        <p:spPr>
          <a:xfrm>
            <a:off x="640080" y="1280160"/>
            <a:ext cx="10908792" cy="292608"/>
          </a:xfrm>
          <a:prstGeom prst="rect">
            <a:avLst/>
          </a:prstGeom>
          <a:noFill/>
          <a:ln/>
        </p:spPr>
        <p:txBody>
          <a:bodyPr wrap="square" lIns="0" tIns="0" rIns="0" bIns="0" rtlCol="0" anchor="ctr"/>
          <a:lstStyle/>
          <a:p>
            <a:pPr marL="0" indent="0">
              <a:buNone/>
            </a:pPr>
            <a:r>
              <a:rPr lang="en-US" sz="1300" dirty="0">
                <a:solidFill>
                  <a:srgbClr val="6E6E6E"/>
                </a:solidFill>
                <a:latin typeface="Calibri" pitchFamily="34" charset="0"/>
                <a:ea typeface="Calibri" pitchFamily="34" charset="-122"/>
                <a:cs typeface="Calibri" pitchFamily="34" charset="-120"/>
              </a:rPr>
              <a:t>게임에 실제로 들어간 콘텐츠 기준</a:t>
            </a:r>
            <a:endParaRPr lang="en-US" sz="1300" dirty="0"/>
          </a:p>
        </p:txBody>
      </p:sp>
      <p:sp>
        <p:nvSpPr>
          <p:cNvPr id="5" name="Text 3"/>
          <p:cNvSpPr txBox="1"/>
          <p:nvPr/>
        </p:nvSpPr>
        <p:spPr>
          <a:xfrm>
            <a:off x="640080" y="1783080"/>
            <a:ext cx="2651760" cy="731520"/>
          </a:xfrm>
          <a:prstGeom prst="rect">
            <a:avLst/>
          </a:prstGeom>
          <a:noFill/>
          <a:ln/>
        </p:spPr>
        <p:txBody>
          <a:bodyPr wrap="square" lIns="0" tIns="0" rIns="0" bIns="0" rtlCol="0" anchor="ctr"/>
          <a:lstStyle/>
          <a:p>
            <a:pPr marL="0" indent="0">
              <a:buNone/>
            </a:pPr>
            <a:r>
              <a:rPr lang="en-US" sz="3300" b="1" dirty="0">
                <a:solidFill>
                  <a:srgbClr val="B85042"/>
                </a:solidFill>
                <a:latin typeface="Calibri" pitchFamily="34" charset="0"/>
                <a:ea typeface="Calibri" pitchFamily="34" charset="-122"/>
                <a:cs typeface="Calibri" pitchFamily="34" charset="-120"/>
              </a:rPr>
              <a:t>13종</a:t>
            </a:r>
            <a:endParaRPr lang="en-US" sz="3300" dirty="0"/>
          </a:p>
        </p:txBody>
      </p:sp>
      <p:sp>
        <p:nvSpPr>
          <p:cNvPr id="6" name="Text 4"/>
          <p:cNvSpPr txBox="1"/>
          <p:nvPr/>
        </p:nvSpPr>
        <p:spPr>
          <a:xfrm>
            <a:off x="640080" y="2496312"/>
            <a:ext cx="2651760" cy="292608"/>
          </a:xfrm>
          <a:prstGeom prst="rect">
            <a:avLst/>
          </a:prstGeom>
          <a:noFill/>
          <a:ln/>
        </p:spPr>
        <p:txBody>
          <a:bodyPr wrap="square" lIns="0" tIns="0" rIns="0" bIns="0" rtlCol="0" anchor="ctr"/>
          <a:lstStyle/>
          <a:p>
            <a:pPr marL="0" indent="0">
              <a:buNone/>
            </a:pPr>
            <a:r>
              <a:rPr lang="en-US" sz="1450" b="1" dirty="0">
                <a:solidFill>
                  <a:srgbClr val="1A1A1A"/>
                </a:solidFill>
                <a:latin typeface="Calibri" pitchFamily="34" charset="0"/>
                <a:ea typeface="Calibri" pitchFamily="34" charset="-122"/>
                <a:cs typeface="Calibri" pitchFamily="34" charset="-120"/>
              </a:rPr>
              <a:t>전투 타워</a:t>
            </a:r>
            <a:endParaRPr lang="en-US" sz="1450" dirty="0"/>
          </a:p>
        </p:txBody>
      </p:sp>
      <p:sp>
        <p:nvSpPr>
          <p:cNvPr id="7" name="Text 5"/>
          <p:cNvSpPr txBox="1"/>
          <p:nvPr/>
        </p:nvSpPr>
        <p:spPr>
          <a:xfrm>
            <a:off x="640080" y="2788920"/>
            <a:ext cx="2651760" cy="502920"/>
          </a:xfrm>
          <a:prstGeom prst="rect">
            <a:avLst/>
          </a:prstGeom>
          <a:noFill/>
          <a:ln/>
        </p:spPr>
        <p:txBody>
          <a:bodyPr wrap="square" lIns="0" tIns="0" rIns="0" bIns="0" rtlCol="0" anchor="t"/>
          <a:lstStyle/>
          <a:p>
            <a:pPr marL="0" indent="0">
              <a:buNone/>
            </a:pPr>
            <a:r>
              <a:rPr lang="en-US" sz="1100" dirty="0">
                <a:solidFill>
                  <a:srgbClr val="6E6E6E"/>
                </a:solidFill>
                <a:latin typeface="Calibri" pitchFamily="34" charset="0"/>
                <a:ea typeface="Calibri" pitchFamily="34" charset="-122"/>
                <a:cs typeface="Calibri" pitchFamily="34" charset="-120"/>
              </a:rPr>
              <a:t>기본 3 · 대공 1</a:t>
            </a:r>
            <a:endParaRPr lang="en-US" sz="1100" dirty="0"/>
          </a:p>
          <a:p>
            <a:pPr marL="0" indent="0">
              <a:buNone/>
            </a:pPr>
            <a:r>
              <a:rPr lang="en-US" sz="1100" dirty="0">
                <a:solidFill>
                  <a:srgbClr val="6E6E6E"/>
                </a:solidFill>
                <a:latin typeface="Calibri" pitchFamily="34" charset="0"/>
                <a:ea typeface="Calibri" pitchFamily="34" charset="-122"/>
                <a:cs typeface="Calibri" pitchFamily="34" charset="-120"/>
              </a:rPr>
              <a:t>속성 5 · 특수 4</a:t>
            </a:r>
            <a:endParaRPr lang="en-US" sz="1100" dirty="0"/>
          </a:p>
        </p:txBody>
      </p:sp>
      <p:sp>
        <p:nvSpPr>
          <p:cNvPr id="8" name="Text 6"/>
          <p:cNvSpPr txBox="1"/>
          <p:nvPr/>
        </p:nvSpPr>
        <p:spPr>
          <a:xfrm>
            <a:off x="3392424" y="1783080"/>
            <a:ext cx="2651760" cy="731520"/>
          </a:xfrm>
          <a:prstGeom prst="rect">
            <a:avLst/>
          </a:prstGeom>
          <a:noFill/>
          <a:ln/>
        </p:spPr>
        <p:txBody>
          <a:bodyPr wrap="square" lIns="0" tIns="0" rIns="0" bIns="0" rtlCol="0" anchor="ctr"/>
          <a:lstStyle/>
          <a:p>
            <a:pPr marL="0" indent="0">
              <a:buNone/>
            </a:pPr>
            <a:r>
              <a:rPr lang="en-US" sz="3300" b="1" dirty="0">
                <a:solidFill>
                  <a:srgbClr val="B85042"/>
                </a:solidFill>
                <a:latin typeface="Calibri" pitchFamily="34" charset="0"/>
                <a:ea typeface="Calibri" pitchFamily="34" charset="-122"/>
                <a:cs typeface="Calibri" pitchFamily="34" charset="-120"/>
              </a:rPr>
              <a:t>34종</a:t>
            </a:r>
            <a:endParaRPr lang="en-US" sz="3300" dirty="0"/>
          </a:p>
        </p:txBody>
      </p:sp>
      <p:sp>
        <p:nvSpPr>
          <p:cNvPr id="9" name="Text 7"/>
          <p:cNvSpPr txBox="1"/>
          <p:nvPr/>
        </p:nvSpPr>
        <p:spPr>
          <a:xfrm>
            <a:off x="3392424" y="2496312"/>
            <a:ext cx="2651760" cy="292608"/>
          </a:xfrm>
          <a:prstGeom prst="rect">
            <a:avLst/>
          </a:prstGeom>
          <a:noFill/>
          <a:ln/>
        </p:spPr>
        <p:txBody>
          <a:bodyPr wrap="square" lIns="0" tIns="0" rIns="0" bIns="0" rtlCol="0" anchor="ctr"/>
          <a:lstStyle/>
          <a:p>
            <a:pPr marL="0" indent="0">
              <a:buNone/>
            </a:pPr>
            <a:r>
              <a:rPr lang="en-US" sz="1450" b="1" dirty="0">
                <a:solidFill>
                  <a:srgbClr val="1A1A1A"/>
                </a:solidFill>
                <a:latin typeface="Calibri" pitchFamily="34" charset="0"/>
                <a:ea typeface="Calibri" pitchFamily="34" charset="-122"/>
                <a:cs typeface="Calibri" pitchFamily="34" charset="-120"/>
              </a:rPr>
              <a:t>몬스터</a:t>
            </a:r>
            <a:endParaRPr lang="en-US" sz="1450" dirty="0"/>
          </a:p>
        </p:txBody>
      </p:sp>
      <p:sp>
        <p:nvSpPr>
          <p:cNvPr id="10" name="Text 8"/>
          <p:cNvSpPr txBox="1"/>
          <p:nvPr/>
        </p:nvSpPr>
        <p:spPr>
          <a:xfrm>
            <a:off x="3392424" y="2788920"/>
            <a:ext cx="2651760" cy="502920"/>
          </a:xfrm>
          <a:prstGeom prst="rect">
            <a:avLst/>
          </a:prstGeom>
          <a:noFill/>
          <a:ln/>
        </p:spPr>
        <p:txBody>
          <a:bodyPr wrap="square" lIns="0" tIns="0" rIns="0" bIns="0" rtlCol="0" anchor="t"/>
          <a:lstStyle/>
          <a:p>
            <a:pPr marL="0" indent="0">
              <a:buNone/>
            </a:pPr>
            <a:r>
              <a:rPr lang="en-US" sz="1100" dirty="0">
                <a:solidFill>
                  <a:srgbClr val="6E6E6E"/>
                </a:solidFill>
                <a:latin typeface="Calibri" pitchFamily="34" charset="0"/>
                <a:ea typeface="Calibri" pitchFamily="34" charset="-122"/>
                <a:cs typeface="Calibri" pitchFamily="34" charset="-120"/>
              </a:rPr>
              <a:t>지상 24 · 공중 3</a:t>
            </a:r>
            <a:endParaRPr lang="en-US" sz="1100" dirty="0"/>
          </a:p>
          <a:p>
            <a:pPr marL="0" indent="0">
              <a:buNone/>
            </a:pPr>
            <a:r>
              <a:rPr lang="en-US" sz="1100" dirty="0">
                <a:solidFill>
                  <a:srgbClr val="6E6E6E"/>
                </a:solidFill>
                <a:latin typeface="Calibri" pitchFamily="34" charset="0"/>
                <a:ea typeface="Calibri" pitchFamily="34" charset="-122"/>
                <a:cs typeface="Calibri" pitchFamily="34" charset="-120"/>
              </a:rPr>
              <a:t>보스 7</a:t>
            </a:r>
            <a:endParaRPr lang="en-US" sz="1100" dirty="0"/>
          </a:p>
        </p:txBody>
      </p:sp>
      <p:sp>
        <p:nvSpPr>
          <p:cNvPr id="11" name="Text 9"/>
          <p:cNvSpPr txBox="1"/>
          <p:nvPr/>
        </p:nvSpPr>
        <p:spPr>
          <a:xfrm>
            <a:off x="6144768" y="1783080"/>
            <a:ext cx="2651760" cy="731520"/>
          </a:xfrm>
          <a:prstGeom prst="rect">
            <a:avLst/>
          </a:prstGeom>
          <a:noFill/>
          <a:ln/>
        </p:spPr>
        <p:txBody>
          <a:bodyPr wrap="square" lIns="0" tIns="0" rIns="0" bIns="0" rtlCol="0" anchor="ctr"/>
          <a:lstStyle/>
          <a:p>
            <a:pPr marL="0" indent="0">
              <a:buNone/>
            </a:pPr>
            <a:r>
              <a:rPr lang="en-US" sz="3300" b="1" dirty="0">
                <a:solidFill>
                  <a:srgbClr val="B85042"/>
                </a:solidFill>
                <a:latin typeface="Calibri" pitchFamily="34" charset="0"/>
                <a:ea typeface="Calibri" pitchFamily="34" charset="-122"/>
                <a:cs typeface="Calibri" pitchFamily="34" charset="-120"/>
              </a:rPr>
              <a:t>70노드</a:t>
            </a:r>
            <a:endParaRPr lang="en-US" sz="3300" dirty="0"/>
          </a:p>
        </p:txBody>
      </p:sp>
      <p:sp>
        <p:nvSpPr>
          <p:cNvPr id="12" name="Text 10"/>
          <p:cNvSpPr txBox="1"/>
          <p:nvPr/>
        </p:nvSpPr>
        <p:spPr>
          <a:xfrm>
            <a:off x="6144768" y="2496312"/>
            <a:ext cx="2651760" cy="292608"/>
          </a:xfrm>
          <a:prstGeom prst="rect">
            <a:avLst/>
          </a:prstGeom>
          <a:noFill/>
          <a:ln/>
        </p:spPr>
        <p:txBody>
          <a:bodyPr wrap="square" lIns="0" tIns="0" rIns="0" bIns="0" rtlCol="0" anchor="ctr"/>
          <a:lstStyle/>
          <a:p>
            <a:pPr marL="0" indent="0">
              <a:buNone/>
            </a:pPr>
            <a:r>
              <a:rPr lang="en-US" sz="1450" b="1" dirty="0">
                <a:solidFill>
                  <a:srgbClr val="1A1A1A"/>
                </a:solidFill>
                <a:latin typeface="Calibri" pitchFamily="34" charset="0"/>
                <a:ea typeface="Calibri" pitchFamily="34" charset="-122"/>
                <a:cs typeface="Calibri" pitchFamily="34" charset="-120"/>
              </a:rPr>
              <a:t>용 스킬트리</a:t>
            </a:r>
            <a:endParaRPr lang="en-US" sz="1450" dirty="0"/>
          </a:p>
        </p:txBody>
      </p:sp>
      <p:sp>
        <p:nvSpPr>
          <p:cNvPr id="13" name="Text 11"/>
          <p:cNvSpPr txBox="1"/>
          <p:nvPr/>
        </p:nvSpPr>
        <p:spPr>
          <a:xfrm>
            <a:off x="6144768" y="2788920"/>
            <a:ext cx="2651760" cy="502920"/>
          </a:xfrm>
          <a:prstGeom prst="rect">
            <a:avLst/>
          </a:prstGeom>
          <a:noFill/>
          <a:ln/>
        </p:spPr>
        <p:txBody>
          <a:bodyPr wrap="square" lIns="0" tIns="0" rIns="0" bIns="0" rtlCol="0" anchor="t"/>
          <a:lstStyle/>
          <a:p>
            <a:pPr marL="0" indent="0">
              <a:buNone/>
            </a:pPr>
            <a:r>
              <a:rPr lang="en-US" sz="1100" dirty="0">
                <a:solidFill>
                  <a:srgbClr val="6E6E6E"/>
                </a:solidFill>
                <a:latin typeface="Calibri" pitchFamily="34" charset="0"/>
                <a:ea typeface="Calibri" pitchFamily="34" charset="-122"/>
                <a:cs typeface="Calibri" pitchFamily="34" charset="-120"/>
              </a:rPr>
              <a:t>5속성 × 14노드</a:t>
            </a:r>
            <a:endParaRPr lang="en-US" sz="1100" dirty="0"/>
          </a:p>
          <a:p>
            <a:pPr marL="0" indent="0">
              <a:buNone/>
            </a:pPr>
            <a:r>
              <a:rPr lang="en-US" sz="1100" dirty="0">
                <a:solidFill>
                  <a:srgbClr val="6E6E6E"/>
                </a:solidFill>
                <a:latin typeface="Calibri" pitchFamily="34" charset="0"/>
                <a:ea typeface="Calibri" pitchFamily="34" charset="-122"/>
                <a:cs typeface="Calibri" pitchFamily="34" charset="-120"/>
              </a:rPr>
              <a:t>효과 80종 · 궁극기 5종</a:t>
            </a:r>
            <a:endParaRPr lang="en-US" sz="1100" dirty="0"/>
          </a:p>
        </p:txBody>
      </p:sp>
      <p:sp>
        <p:nvSpPr>
          <p:cNvPr id="14" name="Text 12"/>
          <p:cNvSpPr txBox="1"/>
          <p:nvPr/>
        </p:nvSpPr>
        <p:spPr>
          <a:xfrm>
            <a:off x="8897112" y="1783080"/>
            <a:ext cx="2651760" cy="731520"/>
          </a:xfrm>
          <a:prstGeom prst="rect">
            <a:avLst/>
          </a:prstGeom>
          <a:noFill/>
          <a:ln/>
        </p:spPr>
        <p:txBody>
          <a:bodyPr wrap="square" lIns="0" tIns="0" rIns="0" bIns="0" rtlCol="0" anchor="ctr"/>
          <a:lstStyle/>
          <a:p>
            <a:pPr marL="0" indent="0">
              <a:buNone/>
            </a:pPr>
            <a:r>
              <a:rPr lang="en-US" sz="3300" b="1" dirty="0">
                <a:solidFill>
                  <a:srgbClr val="B85042"/>
                </a:solidFill>
                <a:latin typeface="Calibri" pitchFamily="34" charset="0"/>
                <a:ea typeface="Calibri" pitchFamily="34" charset="-122"/>
                <a:cs typeface="Calibri" pitchFamily="34" charset="-120"/>
              </a:rPr>
              <a:t>38노드</a:t>
            </a:r>
            <a:endParaRPr lang="en-US" sz="3300" dirty="0"/>
          </a:p>
        </p:txBody>
      </p:sp>
      <p:sp>
        <p:nvSpPr>
          <p:cNvPr id="15" name="Text 13"/>
          <p:cNvSpPr txBox="1"/>
          <p:nvPr/>
        </p:nvSpPr>
        <p:spPr>
          <a:xfrm>
            <a:off x="8897112" y="2496312"/>
            <a:ext cx="2651760" cy="292608"/>
          </a:xfrm>
          <a:prstGeom prst="rect">
            <a:avLst/>
          </a:prstGeom>
          <a:noFill/>
          <a:ln/>
        </p:spPr>
        <p:txBody>
          <a:bodyPr wrap="square" lIns="0" tIns="0" rIns="0" bIns="0" rtlCol="0" anchor="ctr"/>
          <a:lstStyle/>
          <a:p>
            <a:pPr marL="0" indent="0">
              <a:buNone/>
            </a:pPr>
            <a:r>
              <a:rPr lang="en-US" sz="1450" b="1" dirty="0">
                <a:solidFill>
                  <a:srgbClr val="1A1A1A"/>
                </a:solidFill>
                <a:latin typeface="Calibri" pitchFamily="34" charset="0"/>
                <a:ea typeface="Calibri" pitchFamily="34" charset="-122"/>
                <a:cs typeface="Calibri" pitchFamily="34" charset="-120"/>
              </a:rPr>
              <a:t>연구 트리</a:t>
            </a:r>
            <a:endParaRPr lang="en-US" sz="1450" dirty="0"/>
          </a:p>
        </p:txBody>
      </p:sp>
      <p:sp>
        <p:nvSpPr>
          <p:cNvPr id="16" name="Text 14"/>
          <p:cNvSpPr txBox="1"/>
          <p:nvPr/>
        </p:nvSpPr>
        <p:spPr>
          <a:xfrm>
            <a:off x="8897112" y="2788920"/>
            <a:ext cx="2651760" cy="502920"/>
          </a:xfrm>
          <a:prstGeom prst="rect">
            <a:avLst/>
          </a:prstGeom>
          <a:noFill/>
          <a:ln/>
        </p:spPr>
        <p:txBody>
          <a:bodyPr wrap="square" lIns="0" tIns="0" rIns="0" bIns="0" rtlCol="0" anchor="t"/>
          <a:lstStyle/>
          <a:p>
            <a:pPr marL="0" indent="0">
              <a:buNone/>
            </a:pPr>
            <a:r>
              <a:rPr lang="en-US" sz="1100" dirty="0">
                <a:solidFill>
                  <a:srgbClr val="6E6E6E"/>
                </a:solidFill>
                <a:latin typeface="Calibri" pitchFamily="34" charset="0"/>
                <a:ea typeface="Calibri" pitchFamily="34" charset="-122"/>
                <a:cs typeface="Calibri" pitchFamily="34" charset="-120"/>
              </a:rPr>
              <a:t>타워 12 · 생산 13</a:t>
            </a:r>
            <a:endParaRPr lang="en-US" sz="1100" dirty="0"/>
          </a:p>
          <a:p>
            <a:pPr marL="0" indent="0">
              <a:buNone/>
            </a:pPr>
            <a:r>
              <a:rPr lang="en-US" sz="1100" dirty="0">
                <a:solidFill>
                  <a:srgbClr val="6E6E6E"/>
                </a:solidFill>
                <a:latin typeface="Calibri" pitchFamily="34" charset="0"/>
                <a:ea typeface="Calibri" pitchFamily="34" charset="-122"/>
                <a:cs typeface="Calibri" pitchFamily="34" charset="-120"/>
              </a:rPr>
              <a:t>편의 13</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3364992"/>
          <a:ext cx="10908792" cy="2706624"/>
        </p:xfrm>
        <a:graphic>
          <a:graphicData uri="http://schemas.openxmlformats.org/drawingml/2006/table">
            <a:tbl>
              <a:tblPr/>
              <a:tblGrid>
                <a:gridCol w="1737360">
                  <a:extLst>
                    <a:ext uri="{9D8B030D-6E8A-4147-A177-3AD203B41FA5}">
                      <a16:colId xmlns:a16="http://schemas.microsoft.com/office/drawing/2014/main" val="20000"/>
                    </a:ext>
                  </a:extLst>
                </a:gridCol>
                <a:gridCol w="9171432">
                  <a:extLst>
                    <a:ext uri="{9D8B030D-6E8A-4147-A177-3AD203B41FA5}">
                      <a16:colId xmlns:a16="http://schemas.microsoft.com/office/drawing/2014/main" val="20001"/>
                    </a:ext>
                  </a:extLst>
                </a:gridCol>
              </a:tblGrid>
              <a:tr h="33832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영역</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solidFill>
                      <a:srgbClr val="2B2B2B"/>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구현 규모</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solidFill>
                      <a:srgbClr val="2B2B2B"/>
                    </a:solidFill>
                  </a:tcPr>
                </a:tc>
                <a:extLst>
                  <a:ext uri="{0D108BD9-81ED-4DB2-BD59-A6C34878D82A}">
                    <a16:rowId xmlns:a16="http://schemas.microsoft.com/office/drawing/2014/main" val="10000"/>
                  </a:ext>
                </a:extLst>
              </a:tr>
              <a:tr h="338328">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타워</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기본 3종(화살·석궁·머스킷) · 대공 1종 · 속성 5종(얼음·불·암석·시간·생명) · 특수 4종(은신·영혼·가시·강화)</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extLst>
                  <a:ext uri="{0D108BD9-81ED-4DB2-BD59-A6C34878D82A}">
                    <a16:rowId xmlns:a16="http://schemas.microsoft.com/office/drawing/2014/main" val="10001"/>
                  </a:ext>
                </a:extLst>
              </a:tr>
              <a:tr h="338328">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몬스터</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지상 24종(탱커·원거리·자폭·마비·힐러·보호형·용사냥꾼·속성 면역/전용 등) · 공중 3종 · 보스 7종</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extLst>
                  <a:ext uri="{0D108BD9-81ED-4DB2-BD59-A6C34878D82A}">
                    <a16:rowId xmlns:a16="http://schemas.microsoft.com/office/drawing/2014/main" val="10002"/>
                  </a:ext>
                </a:extLst>
              </a:tr>
              <a:tr h="338328">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용</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어미용 5속성 · 새끼용 5속성 · 스킬트리 70노드 / 효과 80종 · 궁극기 5종</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extLst>
                  <a:ext uri="{0D108BD9-81ED-4DB2-BD59-A6C34878D82A}">
                    <a16:rowId xmlns:a16="http://schemas.microsoft.com/office/drawing/2014/main" val="10003"/>
                  </a:ext>
                </a:extLst>
              </a:tr>
              <a:tr h="338328">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연구</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38노드 3갈래 — 타워 12 · 생산 13 · 편의 13</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extLst>
                  <a:ext uri="{0D108BD9-81ED-4DB2-BD59-A6C34878D82A}">
                    <a16:rowId xmlns:a16="http://schemas.microsoft.com/office/drawing/2014/main" val="10004"/>
                  </a:ext>
                </a:extLst>
              </a:tr>
              <a:tr h="338328">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웨이브 · 맵</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본편 28일 웨이브 + 튜토리얼 7일 · 보스 웨이브 4회 · 포탈 4개 · 바이옴 5종 · 지형 페널티 · 랜드마크 17종</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extLst>
                  <a:ext uri="{0D108BD9-81ED-4DB2-BD59-A6C34878D82A}">
                    <a16:rowId xmlns:a16="http://schemas.microsoft.com/office/drawing/2014/main" val="10005"/>
                  </a:ext>
                </a:extLst>
              </a:tr>
              <a:tr h="338328">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건물 · 자원</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건물 19종 · 자원 13종(기본 · 특화 · 슬라임) · 자원 노드 시스템</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extLst>
                  <a:ext uri="{0D108BD9-81ED-4DB2-BD59-A6C34878D82A}">
                    <a16:rowId xmlns:a16="http://schemas.microsoft.com/office/drawing/2014/main" val="10006"/>
                  </a:ext>
                </a:extLst>
              </a:tr>
              <a:tr h="338328">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온보딩</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튜토리얼 챕터 12 · 가이드 퀘스트 28 · 도움말 도감 16 · 한국어/영어 2개 언어</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18" name="Text 15"/>
          <p:cNvSpPr txBox="1"/>
          <p:nvPr/>
        </p:nvSpPr>
        <p:spPr>
          <a:xfrm>
            <a:off x="640080" y="6355080"/>
            <a:ext cx="5486400" cy="256032"/>
          </a:xfrm>
          <a:prstGeom prst="rect">
            <a:avLst/>
          </a:prstGeom>
          <a:noFill/>
          <a:ln/>
        </p:spPr>
        <p:txBody>
          <a:bodyPr wrap="square" lIns="0" tIns="0" rIns="0" bIns="0" rtlCol="0" anchor="ctr"/>
          <a:lstStyle/>
          <a:p>
            <a:pPr marL="0" indent="0">
              <a:buNone/>
            </a:pPr>
            <a:r>
              <a:rPr lang="en-US" sz="900" dirty="0">
                <a:solidFill>
                  <a:srgbClr val="6E6E6E"/>
                </a:solidFill>
                <a:latin typeface="Calibri" pitchFamily="34" charset="0"/>
                <a:ea typeface="Calibri" pitchFamily="34" charset="-122"/>
                <a:cs typeface="Calibri" pitchFamily="34" charset="-120"/>
              </a:rPr>
              <a:t>수성록 (Tower and Dragons) · 최종 결과 보고</a:t>
            </a:r>
            <a:endParaRPr lang="en-US" sz="900" dirty="0"/>
          </a:p>
        </p:txBody>
      </p:sp>
      <p:sp>
        <p:nvSpPr>
          <p:cNvPr id="19" name="Text 16"/>
          <p:cNvSpPr txBox="1"/>
          <p:nvPr/>
        </p:nvSpPr>
        <p:spPr>
          <a:xfrm>
            <a:off x="6062472" y="6355080"/>
            <a:ext cx="5486400" cy="256032"/>
          </a:xfrm>
          <a:prstGeom prst="rect">
            <a:avLst/>
          </a:prstGeom>
          <a:noFill/>
          <a:ln/>
        </p:spPr>
        <p:txBody>
          <a:bodyPr wrap="square" lIns="0" tIns="0" rIns="0" bIns="0" rtlCol="0" anchor="ctr"/>
          <a:lstStyle/>
          <a:p>
            <a:pPr marL="0" indent="0" algn="r">
              <a:buNone/>
            </a:pPr>
            <a:r>
              <a:rPr lang="en-US" sz="900" dirty="0">
                <a:solidFill>
                  <a:srgbClr val="6E6E6E"/>
                </a:solidFill>
                <a:latin typeface="Calibri" pitchFamily="34" charset="0"/>
                <a:ea typeface="Calibri" pitchFamily="34" charset="-122"/>
                <a:cs typeface="Calibri" pitchFamily="34" charset="-120"/>
              </a:rPr>
              <a:t>01 — 프로젝트 개요</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47472"/>
            <a:ext cx="10908792" cy="256032"/>
          </a:xfrm>
          <a:prstGeom prst="rect">
            <a:avLst/>
          </a:prstGeom>
          <a:noFill/>
          <a:ln/>
        </p:spPr>
        <p:txBody>
          <a:bodyPr wrap="square" lIns="0" tIns="0" rIns="0" bIns="0" rtlCol="0" anchor="ctr"/>
          <a:lstStyle/>
          <a:p>
            <a:pPr marL="0" indent="0">
              <a:buNone/>
            </a:pPr>
            <a:r>
              <a:rPr lang="en-US" sz="1100" b="1" dirty="0">
                <a:solidFill>
                  <a:srgbClr val="B85042"/>
                </a:solidFill>
                <a:latin typeface="Calibri" pitchFamily="34" charset="0"/>
                <a:ea typeface="Calibri" pitchFamily="34" charset="-122"/>
                <a:cs typeface="Calibri" pitchFamily="34" charset="-120"/>
              </a:rPr>
              <a:t>01</a:t>
            </a:r>
            <a:r>
              <a:rPr lang="en-US" sz="1100" dirty="0">
                <a:solidFill>
                  <a:srgbClr val="6E6E6E"/>
                </a:solidFill>
                <a:latin typeface="Calibri" pitchFamily="34" charset="0"/>
                <a:ea typeface="Calibri" pitchFamily="34" charset="-122"/>
                <a:cs typeface="Calibri" pitchFamily="34" charset="-120"/>
              </a:rPr>
              <a:t>   프로젝트 개요</a:t>
            </a:r>
            <a:endParaRPr lang="en-US" sz="1100" dirty="0"/>
          </a:p>
        </p:txBody>
      </p:sp>
      <p:sp>
        <p:nvSpPr>
          <p:cNvPr id="3" name="Text 1"/>
          <p:cNvSpPr txBox="1"/>
          <p:nvPr/>
        </p:nvSpPr>
        <p:spPr>
          <a:xfrm>
            <a:off x="640080" y="621792"/>
            <a:ext cx="10908792" cy="640080"/>
          </a:xfrm>
          <a:prstGeom prst="rect">
            <a:avLst/>
          </a:prstGeom>
          <a:noFill/>
          <a:ln/>
        </p:spPr>
        <p:txBody>
          <a:bodyPr wrap="square" lIns="0" tIns="0" rIns="0" bIns="0" rtlCol="0" anchor="t"/>
          <a:lstStyle/>
          <a:p>
            <a:pPr marL="0" indent="0">
              <a:buNone/>
            </a:pPr>
            <a:r>
              <a:rPr lang="en-US" sz="3000" b="1" dirty="0">
                <a:solidFill>
                  <a:srgbClr val="1A1A1A"/>
                </a:solidFill>
                <a:latin typeface="Calibri" pitchFamily="34" charset="0"/>
                <a:ea typeface="Calibri" pitchFamily="34" charset="-122"/>
                <a:cs typeface="Calibri" pitchFamily="34" charset="-120"/>
              </a:rPr>
              <a:t>기획 변경 사항 및 사유</a:t>
            </a:r>
            <a:endParaRPr lang="en-US" sz="3000" dirty="0"/>
          </a:p>
        </p:txBody>
      </p:sp>
      <p:sp>
        <p:nvSpPr>
          <p:cNvPr id="4" name="Text 2"/>
          <p:cNvSpPr txBox="1"/>
          <p:nvPr/>
        </p:nvSpPr>
        <p:spPr>
          <a:xfrm>
            <a:off x="640080" y="1280160"/>
            <a:ext cx="10908792" cy="292608"/>
          </a:xfrm>
          <a:prstGeom prst="rect">
            <a:avLst/>
          </a:prstGeom>
          <a:noFill/>
          <a:ln/>
        </p:spPr>
        <p:txBody>
          <a:bodyPr wrap="square" lIns="0" tIns="0" rIns="0" bIns="0" rtlCol="0" anchor="ctr"/>
          <a:lstStyle/>
          <a:p>
            <a:pPr marL="0" indent="0">
              <a:buNone/>
            </a:pPr>
            <a:r>
              <a:rPr lang="en-US" sz="1300" dirty="0">
                <a:solidFill>
                  <a:srgbClr val="6E6E6E"/>
                </a:solidFill>
                <a:latin typeface="Calibri" pitchFamily="34" charset="0"/>
                <a:ea typeface="Calibri" pitchFamily="34" charset="-122"/>
                <a:cs typeface="Calibri" pitchFamily="34" charset="-120"/>
              </a:rPr>
              <a:t>초기 기획 대비 조정한 항목과 그 판단 근거</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920240"/>
          <a:ext cx="10908792" cy="3017520"/>
        </p:xfrm>
        <a:graphic>
          <a:graphicData uri="http://schemas.openxmlformats.org/drawingml/2006/table">
            <a:tbl>
              <a:tblPr/>
              <a:tblGrid>
                <a:gridCol w="14630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3959352">
                  <a:extLst>
                    <a:ext uri="{9D8B030D-6E8A-4147-A177-3AD203B41FA5}">
                      <a16:colId xmlns:a16="http://schemas.microsoft.com/office/drawing/2014/main" val="20003"/>
                    </a:ext>
                  </a:extLst>
                </a:gridCol>
              </a:tblGrid>
              <a:tr h="502920">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구분</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solidFill>
                      <a:srgbClr val="2B2B2B"/>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초기 기획</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solidFill>
                      <a:srgbClr val="2B2B2B"/>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변경된 구현 내용</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solidFill>
                      <a:srgbClr val="2B2B2B"/>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변경 사유</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solidFill>
                      <a:srgbClr val="2B2B2B"/>
                    </a:solidFill>
                  </a:tcPr>
                </a:tc>
                <a:extLst>
                  <a:ext uri="{0D108BD9-81ED-4DB2-BD59-A6C34878D82A}">
                    <a16:rowId xmlns:a16="http://schemas.microsoft.com/office/drawing/2014/main" val="10000"/>
                  </a:ext>
                </a:extLst>
              </a:tr>
              <a:tr h="502920">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자원 종류</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기본 4종 (식량 · 목재 · 석재 · 광물)</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기본 3종 (광물 제외)</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자원 가독성 개선 및 관리 복잡도 완화</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extLst>
                  <a:ext uri="{0D108BD9-81ED-4DB2-BD59-A6C34878D82A}">
                    <a16:rowId xmlns:a16="http://schemas.microsoft.com/office/drawing/2014/main" val="10001"/>
                  </a:ext>
                </a:extLst>
              </a:tr>
              <a:tr h="502920">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주둔지</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점령 시 주둔지 자동 건설 및 자원 강화</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주둔지 제외, 점령 보상 직접 지급</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건물 관리 피로도(마이크로매니지먼트) 저감</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extLst>
                  <a:ext uri="{0D108BD9-81ED-4DB2-BD59-A6C34878D82A}">
                    <a16:rowId xmlns:a16="http://schemas.microsoft.com/office/drawing/2014/main" val="10002"/>
                  </a:ext>
                </a:extLst>
              </a:tr>
              <a:tr h="502920">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타워 파괴</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파괴 후 재건설</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비활성화 후 인구 충원으로 부활</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밤 방어 실패 시 즉시 부도되는 스노우볼 완화</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extLst>
                  <a:ext uri="{0D108BD9-81ED-4DB2-BD59-A6C34878D82A}">
                    <a16:rowId xmlns:a16="http://schemas.microsoft.com/office/drawing/2014/main" val="10003"/>
                  </a:ext>
                </a:extLst>
              </a:tr>
              <a:tr h="502920">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적 타겟팅</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메인 성과 타워만 공격</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새끼용도 적 공격 대상에 포함</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새끼용 전술 배치에 리스크-리턴 부여</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extLst>
                  <a:ext uri="{0D108BD9-81ED-4DB2-BD59-A6C34878D82A}">
                    <a16:rowId xmlns:a16="http://schemas.microsoft.com/office/drawing/2014/main" val="10004"/>
                  </a:ext>
                </a:extLst>
              </a:tr>
              <a:tr h="502920">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점령 페널티</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점령 시 적 스탯 배율 증가</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추가 스폰 중심으로 전환</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배율 중첩으로 난이도가 비선형 급증하는 문제 해소</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6" name="Text 3"/>
          <p:cNvSpPr txBox="1"/>
          <p:nvPr/>
        </p:nvSpPr>
        <p:spPr>
          <a:xfrm>
            <a:off x="640080" y="5623560"/>
            <a:ext cx="10908792" cy="256032"/>
          </a:xfrm>
          <a:prstGeom prst="rect">
            <a:avLst/>
          </a:prstGeom>
          <a:noFill/>
          <a:ln/>
        </p:spPr>
        <p:txBody>
          <a:bodyPr wrap="square" lIns="0" tIns="0" rIns="0" bIns="0" rtlCol="0" anchor="ctr"/>
          <a:lstStyle/>
          <a:p>
            <a:pPr marL="0" indent="0">
              <a:buNone/>
            </a:pPr>
            <a:r>
              <a:rPr lang="en-US" sz="1150" b="1" dirty="0">
                <a:solidFill>
                  <a:srgbClr val="B85042"/>
                </a:solidFill>
                <a:latin typeface="Calibri" pitchFamily="34" charset="0"/>
                <a:ea typeface="Calibri" pitchFamily="34" charset="-122"/>
                <a:cs typeface="Calibri" pitchFamily="34" charset="-120"/>
              </a:rPr>
              <a:t>변경 원칙</a:t>
            </a:r>
            <a:endParaRPr lang="en-US" sz="1150" dirty="0"/>
          </a:p>
        </p:txBody>
      </p:sp>
      <p:sp>
        <p:nvSpPr>
          <p:cNvPr id="5" name="Text 4"/>
          <p:cNvSpPr txBox="1"/>
          <p:nvPr/>
        </p:nvSpPr>
        <p:spPr>
          <a:xfrm>
            <a:off x="640080" y="5934456"/>
            <a:ext cx="10908792" cy="548640"/>
          </a:xfrm>
          <a:prstGeom prst="rect">
            <a:avLst/>
          </a:prstGeom>
          <a:noFill/>
          <a:ln/>
        </p:spPr>
        <p:txBody>
          <a:bodyPr wrap="square" lIns="0" tIns="0" rIns="0" bIns="0" rtlCol="0" anchor="t"/>
          <a:lstStyle/>
          <a:p>
            <a:pPr marL="0" indent="0">
              <a:spcAft>
                <a:spcPts val="600"/>
              </a:spcAft>
              <a:buNone/>
            </a:pPr>
            <a:r>
              <a:rPr lang="en-US" sz="1250" dirty="0">
                <a:solidFill>
                  <a:srgbClr val="1A1A1A"/>
                </a:solidFill>
                <a:latin typeface="Calibri" pitchFamily="34" charset="0"/>
                <a:ea typeface="Calibri" pitchFamily="34" charset="-122"/>
                <a:cs typeface="Calibri" pitchFamily="34" charset="-120"/>
              </a:rPr>
              <a:t>플레이어에게 "고민할 가치가 없는 복잡도"와 "회복 불가능한 실패"를 만드는 요소를 우선 정리하고, 핵심 재미 루프에 자원을 집중</a:t>
            </a:r>
            <a:endParaRPr lang="en-US" sz="1250" dirty="0"/>
          </a:p>
        </p:txBody>
      </p:sp>
      <p:sp>
        <p:nvSpPr>
          <p:cNvPr id="8" name="Text 5"/>
          <p:cNvSpPr txBox="1"/>
          <p:nvPr/>
        </p:nvSpPr>
        <p:spPr>
          <a:xfrm>
            <a:off x="640080" y="6355080"/>
            <a:ext cx="5486400" cy="256032"/>
          </a:xfrm>
          <a:prstGeom prst="rect">
            <a:avLst/>
          </a:prstGeom>
          <a:noFill/>
          <a:ln/>
        </p:spPr>
        <p:txBody>
          <a:bodyPr wrap="square" lIns="0" tIns="0" rIns="0" bIns="0" rtlCol="0" anchor="ctr"/>
          <a:lstStyle/>
          <a:p>
            <a:pPr marL="0" indent="0">
              <a:buNone/>
            </a:pPr>
            <a:r>
              <a:rPr lang="en-US" sz="900" dirty="0">
                <a:solidFill>
                  <a:srgbClr val="6E6E6E"/>
                </a:solidFill>
                <a:latin typeface="Calibri" pitchFamily="34" charset="0"/>
                <a:ea typeface="Calibri" pitchFamily="34" charset="-122"/>
                <a:cs typeface="Calibri" pitchFamily="34" charset="-120"/>
              </a:rPr>
              <a:t>수성록 (Tower and Dragons) · 최종 결과 보고</a:t>
            </a:r>
            <a:endParaRPr lang="en-US" sz="900" dirty="0"/>
          </a:p>
        </p:txBody>
      </p:sp>
      <p:sp>
        <p:nvSpPr>
          <p:cNvPr id="9" name="Text 6"/>
          <p:cNvSpPr txBox="1"/>
          <p:nvPr/>
        </p:nvSpPr>
        <p:spPr>
          <a:xfrm>
            <a:off x="6062472" y="6355080"/>
            <a:ext cx="5486400" cy="256032"/>
          </a:xfrm>
          <a:prstGeom prst="rect">
            <a:avLst/>
          </a:prstGeom>
          <a:noFill/>
          <a:ln/>
        </p:spPr>
        <p:txBody>
          <a:bodyPr wrap="square" lIns="0" tIns="0" rIns="0" bIns="0" rtlCol="0" anchor="ctr"/>
          <a:lstStyle/>
          <a:p>
            <a:pPr marL="0" indent="0" algn="r">
              <a:buNone/>
            </a:pPr>
            <a:r>
              <a:rPr lang="en-US" sz="900" dirty="0">
                <a:solidFill>
                  <a:srgbClr val="6E6E6E"/>
                </a:solidFill>
                <a:latin typeface="Calibri" pitchFamily="34" charset="0"/>
                <a:ea typeface="Calibri" pitchFamily="34" charset="-122"/>
                <a:cs typeface="Calibri" pitchFamily="34" charset="-120"/>
              </a:rPr>
              <a:t>01 — 프로젝트 개요</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47472"/>
            <a:ext cx="10908792" cy="256032"/>
          </a:xfrm>
          <a:prstGeom prst="rect">
            <a:avLst/>
          </a:prstGeom>
          <a:noFill/>
          <a:ln/>
        </p:spPr>
        <p:txBody>
          <a:bodyPr wrap="square" lIns="0" tIns="0" rIns="0" bIns="0" rtlCol="0" anchor="ctr"/>
          <a:lstStyle/>
          <a:p>
            <a:pPr marL="0" indent="0">
              <a:buNone/>
            </a:pPr>
            <a:r>
              <a:rPr lang="en-US" sz="1100" b="1" dirty="0">
                <a:solidFill>
                  <a:srgbClr val="B85042"/>
                </a:solidFill>
                <a:latin typeface="Calibri" pitchFamily="34" charset="0"/>
                <a:ea typeface="Calibri" pitchFamily="34" charset="-122"/>
                <a:cs typeface="Calibri" pitchFamily="34" charset="-120"/>
              </a:rPr>
              <a:t>02</a:t>
            </a:r>
            <a:r>
              <a:rPr lang="en-US" sz="1100" dirty="0">
                <a:solidFill>
                  <a:srgbClr val="6E6E6E"/>
                </a:solidFill>
                <a:latin typeface="Calibri" pitchFamily="34" charset="0"/>
                <a:ea typeface="Calibri" pitchFamily="34" charset="-122"/>
                <a:cs typeface="Calibri" pitchFamily="34" charset="-120"/>
              </a:rPr>
              <a:t>   팀 구성 및 역할</a:t>
            </a:r>
            <a:endParaRPr lang="en-US" sz="1100" dirty="0"/>
          </a:p>
        </p:txBody>
      </p:sp>
      <p:sp>
        <p:nvSpPr>
          <p:cNvPr id="3" name="Text 1"/>
          <p:cNvSpPr txBox="1"/>
          <p:nvPr/>
        </p:nvSpPr>
        <p:spPr>
          <a:xfrm>
            <a:off x="640080" y="621792"/>
            <a:ext cx="10908792" cy="640080"/>
          </a:xfrm>
          <a:prstGeom prst="rect">
            <a:avLst/>
          </a:prstGeom>
          <a:noFill/>
          <a:ln/>
        </p:spPr>
        <p:txBody>
          <a:bodyPr wrap="square" lIns="0" tIns="0" rIns="0" bIns="0" rtlCol="0" anchor="t"/>
          <a:lstStyle/>
          <a:p>
            <a:pPr marL="0" indent="0">
              <a:buNone/>
            </a:pPr>
            <a:r>
              <a:rPr lang="en-US" sz="3000" b="1" dirty="0">
                <a:solidFill>
                  <a:srgbClr val="1A1A1A"/>
                </a:solidFill>
                <a:latin typeface="Calibri" pitchFamily="34" charset="0"/>
                <a:ea typeface="Calibri" pitchFamily="34" charset="-122"/>
                <a:cs typeface="Calibri" pitchFamily="34" charset="-120"/>
              </a:rPr>
              <a:t>팀 구성 및 역할</a:t>
            </a:r>
            <a:endParaRPr lang="en-US" sz="3000" dirty="0"/>
          </a:p>
        </p:txBody>
      </p:sp>
      <p:sp>
        <p:nvSpPr>
          <p:cNvPr id="4" name="Text 2"/>
          <p:cNvSpPr txBox="1"/>
          <p:nvPr/>
        </p:nvSpPr>
        <p:spPr>
          <a:xfrm>
            <a:off x="640080" y="1280160"/>
            <a:ext cx="10908792" cy="292608"/>
          </a:xfrm>
          <a:prstGeom prst="rect">
            <a:avLst/>
          </a:prstGeom>
          <a:noFill/>
          <a:ln/>
        </p:spPr>
        <p:txBody>
          <a:bodyPr wrap="square" lIns="0" tIns="0" rIns="0" bIns="0" rtlCol="0" anchor="ctr"/>
          <a:lstStyle/>
          <a:p>
            <a:pPr marL="0" indent="0">
              <a:buNone/>
            </a:pPr>
            <a:r>
              <a:rPr lang="en-US" sz="1300" dirty="0">
                <a:solidFill>
                  <a:srgbClr val="6E6E6E"/>
                </a:solidFill>
                <a:latin typeface="Calibri" pitchFamily="34" charset="0"/>
                <a:ea typeface="Calibri" pitchFamily="34" charset="-122"/>
                <a:cs typeface="Calibri" pitchFamily="34" charset="-120"/>
              </a:rPr>
              <a:t>Git 커밋 · PR 이력 분석으로 담당 영역을 확인했습니다</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2286000"/>
          <a:ext cx="10908792" cy="3291840"/>
        </p:xfrm>
        <a:graphic>
          <a:graphicData uri="http://schemas.openxmlformats.org/drawingml/2006/table">
            <a:tbl>
              <a:tblPr/>
              <a:tblGrid>
                <a:gridCol w="18288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5788152">
                  <a:extLst>
                    <a:ext uri="{9D8B030D-6E8A-4147-A177-3AD203B41FA5}">
                      <a16:colId xmlns:a16="http://schemas.microsoft.com/office/drawing/2014/main" val="20002"/>
                    </a:ext>
                  </a:extLst>
                </a:gridCol>
              </a:tblGrid>
              <a:tr h="658368">
                <a:tc>
                  <a:txBody>
                    <a:bodyPr/>
                    <a:lstStyle/>
                    <a:p>
                      <a:pPr marL="0" indent="0">
                        <a:buNone/>
                      </a:pPr>
                      <a:r>
                        <a:rPr lang="en-US" sz="1500" b="1" dirty="0">
                          <a:solidFill>
                            <a:srgbClr val="FFFFFF"/>
                          </a:solidFill>
                          <a:latin typeface="Calibri" pitchFamily="34" charset="0"/>
                          <a:ea typeface="Calibri" pitchFamily="34" charset="-122"/>
                          <a:cs typeface="Calibri" pitchFamily="34" charset="-120"/>
                        </a:rPr>
                        <a:t>이름</a:t>
                      </a:r>
                      <a:endParaRPr lang="en-US" sz="15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solidFill>
                      <a:srgbClr val="2B2B2B"/>
                    </a:solidFill>
                  </a:tcPr>
                </a:tc>
                <a:tc>
                  <a:txBody>
                    <a:bodyPr/>
                    <a:lstStyle/>
                    <a:p>
                      <a:pPr marL="0" indent="0">
                        <a:buNone/>
                      </a:pPr>
                      <a:r>
                        <a:rPr lang="en-US" sz="1500" b="1" dirty="0">
                          <a:solidFill>
                            <a:srgbClr val="FFFFFF"/>
                          </a:solidFill>
                          <a:latin typeface="Calibri" pitchFamily="34" charset="0"/>
                          <a:ea typeface="Calibri" pitchFamily="34" charset="-122"/>
                          <a:cs typeface="Calibri" pitchFamily="34" charset="-120"/>
                        </a:rPr>
                        <a:t>역할</a:t>
                      </a:r>
                      <a:endParaRPr lang="en-US" sz="15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solidFill>
                      <a:srgbClr val="2B2B2B"/>
                    </a:solidFill>
                  </a:tcPr>
                </a:tc>
                <a:tc>
                  <a:txBody>
                    <a:bodyPr/>
                    <a:lstStyle/>
                    <a:p>
                      <a:pPr marL="0" indent="0">
                        <a:buNone/>
                      </a:pPr>
                      <a:r>
                        <a:rPr lang="en-US" sz="1500" b="1" dirty="0">
                          <a:solidFill>
                            <a:srgbClr val="FFFFFF"/>
                          </a:solidFill>
                          <a:latin typeface="Calibri" pitchFamily="34" charset="0"/>
                          <a:ea typeface="Calibri" pitchFamily="34" charset="-122"/>
                          <a:cs typeface="Calibri" pitchFamily="34" charset="-120"/>
                        </a:rPr>
                        <a:t>담당 영역</a:t>
                      </a:r>
                      <a:endParaRPr lang="en-US" sz="15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solidFill>
                      <a:srgbClr val="2B2B2B"/>
                    </a:solidFill>
                  </a:tcPr>
                </a:tc>
                <a:extLst>
                  <a:ext uri="{0D108BD9-81ED-4DB2-BD59-A6C34878D82A}">
                    <a16:rowId xmlns:a16="http://schemas.microsoft.com/office/drawing/2014/main" val="10000"/>
                  </a:ext>
                </a:extLst>
              </a:tr>
              <a:tr h="658368">
                <a:tc>
                  <a:txBody>
                    <a:bodyPr/>
                    <a:lstStyle/>
                    <a:p>
                      <a:pPr marL="0" indent="0">
                        <a:buNone/>
                      </a:pPr>
                      <a:r>
                        <a:rPr lang="en-US" sz="1500" dirty="0">
                          <a:solidFill>
                            <a:srgbClr val="1A1A1A"/>
                          </a:solidFill>
                          <a:latin typeface="Calibri" pitchFamily="34" charset="0"/>
                          <a:ea typeface="Calibri" pitchFamily="34" charset="-122"/>
                          <a:cs typeface="Calibri" pitchFamily="34" charset="-120"/>
                        </a:rPr>
                        <a:t>조강현</a:t>
                      </a:r>
                      <a:endParaRPr lang="en-US" sz="15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500" dirty="0">
                          <a:solidFill>
                            <a:srgbClr val="1A1A1A"/>
                          </a:solidFill>
                          <a:latin typeface="Calibri" pitchFamily="34" charset="0"/>
                          <a:ea typeface="Calibri" pitchFamily="34" charset="-122"/>
                          <a:cs typeface="Calibri" pitchFamily="34" charset="-120"/>
                        </a:rPr>
                        <a:t>팀장 · 시스템 인프라</a:t>
                      </a:r>
                      <a:endParaRPr lang="en-US" sz="15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500" dirty="0">
                          <a:solidFill>
                            <a:srgbClr val="1A1A1A"/>
                          </a:solidFill>
                          <a:latin typeface="Calibri" pitchFamily="34" charset="0"/>
                          <a:ea typeface="Calibri" pitchFamily="34" charset="-122"/>
                          <a:cs typeface="Calibri" pitchFamily="34" charset="-120"/>
                        </a:rPr>
                        <a:t>세이브 / 로드 · 설정 · 매니저 구조 · UI 인프라</a:t>
                      </a:r>
                      <a:endParaRPr lang="en-US" sz="15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extLst>
                  <a:ext uri="{0D108BD9-81ED-4DB2-BD59-A6C34878D82A}">
                    <a16:rowId xmlns:a16="http://schemas.microsoft.com/office/drawing/2014/main" val="10001"/>
                  </a:ext>
                </a:extLst>
              </a:tr>
              <a:tr h="658368">
                <a:tc>
                  <a:txBody>
                    <a:bodyPr/>
                    <a:lstStyle/>
                    <a:p>
                      <a:pPr marL="0" indent="0">
                        <a:buNone/>
                      </a:pPr>
                      <a:r>
                        <a:rPr lang="en-US" sz="1500" dirty="0">
                          <a:solidFill>
                            <a:srgbClr val="1A1A1A"/>
                          </a:solidFill>
                          <a:latin typeface="Calibri" pitchFamily="34" charset="0"/>
                          <a:ea typeface="Calibri" pitchFamily="34" charset="-122"/>
                          <a:cs typeface="Calibri" pitchFamily="34" charset="-120"/>
                        </a:rPr>
                        <a:t>김지해</a:t>
                      </a:r>
                      <a:endParaRPr lang="en-US" sz="15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500" dirty="0">
                          <a:solidFill>
                            <a:srgbClr val="1A1A1A"/>
                          </a:solidFill>
                          <a:latin typeface="Calibri" pitchFamily="34" charset="0"/>
                          <a:ea typeface="Calibri" pitchFamily="34" charset="-122"/>
                          <a:cs typeface="Calibri" pitchFamily="34" charset="-120"/>
                        </a:rPr>
                        <a:t>UI · 아트 연출</a:t>
                      </a:r>
                      <a:endParaRPr lang="en-US" sz="15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500" dirty="0">
                          <a:solidFill>
                            <a:srgbClr val="1A1A1A"/>
                          </a:solidFill>
                          <a:latin typeface="Calibri" pitchFamily="34" charset="0"/>
                          <a:ea typeface="Calibri" pitchFamily="34" charset="-122"/>
                          <a:cs typeface="Calibri" pitchFamily="34" charset="-120"/>
                        </a:rPr>
                        <a:t>인게임 UI · 연출 · 주민 캐릭터</a:t>
                      </a:r>
                      <a:endParaRPr lang="en-US" sz="15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extLst>
                  <a:ext uri="{0D108BD9-81ED-4DB2-BD59-A6C34878D82A}">
                    <a16:rowId xmlns:a16="http://schemas.microsoft.com/office/drawing/2014/main" val="10002"/>
                  </a:ext>
                </a:extLst>
              </a:tr>
              <a:tr h="658368">
                <a:tc>
                  <a:txBody>
                    <a:bodyPr/>
                    <a:lstStyle/>
                    <a:p>
                      <a:pPr marL="0" indent="0">
                        <a:buNone/>
                      </a:pPr>
                      <a:r>
                        <a:rPr lang="en-US" sz="1500" dirty="0">
                          <a:solidFill>
                            <a:srgbClr val="1A1A1A"/>
                          </a:solidFill>
                          <a:latin typeface="Calibri" pitchFamily="34" charset="0"/>
                          <a:ea typeface="Calibri" pitchFamily="34" charset="-122"/>
                          <a:cs typeface="Calibri" pitchFamily="34" charset="-120"/>
                        </a:rPr>
                        <a:t>이하늘</a:t>
                      </a:r>
                      <a:endParaRPr lang="en-US" sz="15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500" dirty="0">
                          <a:solidFill>
                            <a:srgbClr val="1A1A1A"/>
                          </a:solidFill>
                          <a:latin typeface="Calibri" pitchFamily="34" charset="0"/>
                          <a:ea typeface="Calibri" pitchFamily="34" charset="-122"/>
                          <a:cs typeface="Calibri" pitchFamily="34" charset="-120"/>
                        </a:rPr>
                        <a:t>낮 운영 · 온보딩</a:t>
                      </a:r>
                      <a:endParaRPr lang="en-US" sz="15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500" dirty="0">
                          <a:solidFill>
                            <a:srgbClr val="1A1A1A"/>
                          </a:solidFill>
                          <a:latin typeface="Calibri" pitchFamily="34" charset="0"/>
                          <a:ea typeface="Calibri" pitchFamily="34" charset="-122"/>
                          <a:cs typeface="Calibri" pitchFamily="34" charset="-120"/>
                        </a:rPr>
                        <a:t>그리드 · 건설 · 점령 · 튜토리얼 · 이펙트</a:t>
                      </a:r>
                      <a:endParaRPr lang="en-US" sz="15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extLst>
                  <a:ext uri="{0D108BD9-81ED-4DB2-BD59-A6C34878D82A}">
                    <a16:rowId xmlns:a16="http://schemas.microsoft.com/office/drawing/2014/main" val="10003"/>
                  </a:ext>
                </a:extLst>
              </a:tr>
              <a:tr h="658368">
                <a:tc>
                  <a:txBody>
                    <a:bodyPr/>
                    <a:lstStyle/>
                    <a:p>
                      <a:pPr marL="0" indent="0">
                        <a:buNone/>
                      </a:pPr>
                      <a:r>
                        <a:rPr lang="en-US" sz="1500" dirty="0">
                          <a:solidFill>
                            <a:srgbClr val="1A1A1A"/>
                          </a:solidFill>
                          <a:latin typeface="Calibri" pitchFamily="34" charset="0"/>
                          <a:ea typeface="Calibri" pitchFamily="34" charset="-122"/>
                          <a:cs typeface="Calibri" pitchFamily="34" charset="-120"/>
                        </a:rPr>
                        <a:t>나상욱</a:t>
                      </a:r>
                      <a:endParaRPr lang="en-US" sz="15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500" dirty="0">
                          <a:solidFill>
                            <a:srgbClr val="1A1A1A"/>
                          </a:solidFill>
                          <a:latin typeface="Calibri" pitchFamily="34" charset="0"/>
                          <a:ea typeface="Calibri" pitchFamily="34" charset="-122"/>
                          <a:cs typeface="Calibri" pitchFamily="34" charset="-120"/>
                        </a:rPr>
                        <a:t>밤 전투 · 밸런스</a:t>
                      </a:r>
                      <a:endParaRPr lang="en-US" sz="15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500" dirty="0">
                          <a:solidFill>
                            <a:srgbClr val="1A1A1A"/>
                          </a:solidFill>
                          <a:latin typeface="Calibri" pitchFamily="34" charset="0"/>
                          <a:ea typeface="Calibri" pitchFamily="34" charset="-122"/>
                          <a:cs typeface="Calibri" pitchFamily="34" charset="-120"/>
                        </a:rPr>
                        <a:t>웨이브 · 몬스터 · 타워 · 인구 · 용 · 연구</a:t>
                      </a:r>
                      <a:endParaRPr lang="en-US" sz="15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 name="Text 3"/>
          <p:cNvSpPr txBox="1"/>
          <p:nvPr/>
        </p:nvSpPr>
        <p:spPr>
          <a:xfrm>
            <a:off x="640080" y="6355080"/>
            <a:ext cx="5486400" cy="256032"/>
          </a:xfrm>
          <a:prstGeom prst="rect">
            <a:avLst/>
          </a:prstGeom>
          <a:noFill/>
          <a:ln/>
        </p:spPr>
        <p:txBody>
          <a:bodyPr wrap="square" lIns="0" tIns="0" rIns="0" bIns="0" rtlCol="0" anchor="ctr"/>
          <a:lstStyle/>
          <a:p>
            <a:pPr marL="0" indent="0">
              <a:buNone/>
            </a:pPr>
            <a:r>
              <a:rPr lang="en-US" sz="900" dirty="0">
                <a:solidFill>
                  <a:srgbClr val="6E6E6E"/>
                </a:solidFill>
                <a:latin typeface="Calibri" pitchFamily="34" charset="0"/>
                <a:ea typeface="Calibri" pitchFamily="34" charset="-122"/>
                <a:cs typeface="Calibri" pitchFamily="34" charset="-120"/>
              </a:rPr>
              <a:t>수성록 (Tower and Dragons) · 최종 결과 보고</a:t>
            </a:r>
            <a:endParaRPr lang="en-US" sz="900" dirty="0"/>
          </a:p>
        </p:txBody>
      </p:sp>
      <p:sp>
        <p:nvSpPr>
          <p:cNvPr id="7" name="Text 4"/>
          <p:cNvSpPr txBox="1"/>
          <p:nvPr/>
        </p:nvSpPr>
        <p:spPr>
          <a:xfrm>
            <a:off x="6062472" y="6355080"/>
            <a:ext cx="5486400" cy="256032"/>
          </a:xfrm>
          <a:prstGeom prst="rect">
            <a:avLst/>
          </a:prstGeom>
          <a:noFill/>
          <a:ln/>
        </p:spPr>
        <p:txBody>
          <a:bodyPr wrap="square" lIns="0" tIns="0" rIns="0" bIns="0" rtlCol="0" anchor="ctr"/>
          <a:lstStyle/>
          <a:p>
            <a:pPr marL="0" indent="0" algn="r">
              <a:buNone/>
            </a:pPr>
            <a:r>
              <a:rPr lang="en-US" sz="900" dirty="0">
                <a:solidFill>
                  <a:srgbClr val="6E6E6E"/>
                </a:solidFill>
                <a:latin typeface="Calibri" pitchFamily="34" charset="0"/>
                <a:ea typeface="Calibri" pitchFamily="34" charset="-122"/>
                <a:cs typeface="Calibri" pitchFamily="34" charset="-120"/>
              </a:rPr>
              <a:t>02 — 팀 구성 및 역할</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47472"/>
            <a:ext cx="10908792" cy="256032"/>
          </a:xfrm>
          <a:prstGeom prst="rect">
            <a:avLst/>
          </a:prstGeom>
          <a:noFill/>
          <a:ln/>
        </p:spPr>
        <p:txBody>
          <a:bodyPr wrap="square" lIns="0" tIns="0" rIns="0" bIns="0" rtlCol="0" anchor="ctr"/>
          <a:lstStyle/>
          <a:p>
            <a:pPr marL="0" indent="0">
              <a:buNone/>
            </a:pPr>
            <a:r>
              <a:rPr lang="en-US" sz="1100" b="1" dirty="0">
                <a:solidFill>
                  <a:srgbClr val="B85042"/>
                </a:solidFill>
                <a:latin typeface="Calibri" pitchFamily="34" charset="0"/>
                <a:ea typeface="Calibri" pitchFamily="34" charset="-122"/>
                <a:cs typeface="Calibri" pitchFamily="34" charset="-120"/>
              </a:rPr>
              <a:t>02</a:t>
            </a:r>
            <a:r>
              <a:rPr lang="en-US" sz="1100" dirty="0">
                <a:solidFill>
                  <a:srgbClr val="6E6E6E"/>
                </a:solidFill>
                <a:latin typeface="Calibri" pitchFamily="34" charset="0"/>
                <a:ea typeface="Calibri" pitchFamily="34" charset="-122"/>
                <a:cs typeface="Calibri" pitchFamily="34" charset="-120"/>
              </a:rPr>
              <a:t>   팀 구성 및 역할</a:t>
            </a:r>
            <a:endParaRPr lang="en-US" sz="1100" dirty="0"/>
          </a:p>
        </p:txBody>
      </p:sp>
      <p:sp>
        <p:nvSpPr>
          <p:cNvPr id="3" name="Text 1"/>
          <p:cNvSpPr txBox="1"/>
          <p:nvPr/>
        </p:nvSpPr>
        <p:spPr>
          <a:xfrm>
            <a:off x="640080" y="621792"/>
            <a:ext cx="10908792" cy="640080"/>
          </a:xfrm>
          <a:prstGeom prst="rect">
            <a:avLst/>
          </a:prstGeom>
          <a:noFill/>
          <a:ln/>
        </p:spPr>
        <p:txBody>
          <a:bodyPr wrap="square" lIns="0" tIns="0" rIns="0" bIns="0" rtlCol="0" anchor="t"/>
          <a:lstStyle/>
          <a:p>
            <a:pPr marL="0" indent="0">
              <a:buNone/>
            </a:pPr>
            <a:r>
              <a:rPr lang="en-US" sz="3000" b="1" dirty="0">
                <a:solidFill>
                  <a:srgbClr val="1A1A1A"/>
                </a:solidFill>
                <a:latin typeface="Calibri" pitchFamily="34" charset="0"/>
                <a:ea typeface="Calibri" pitchFamily="34" charset="-122"/>
                <a:cs typeface="Calibri" pitchFamily="34" charset="-120"/>
              </a:rPr>
              <a:t>기여 분석에서 확인된 협업 구조</a:t>
            </a:r>
            <a:endParaRPr lang="en-US" sz="3000" dirty="0"/>
          </a:p>
        </p:txBody>
      </p:sp>
      <p:sp>
        <p:nvSpPr>
          <p:cNvPr id="4" name="Text 2"/>
          <p:cNvSpPr txBox="1"/>
          <p:nvPr/>
        </p:nvSpPr>
        <p:spPr>
          <a:xfrm>
            <a:off x="640080" y="2194560"/>
            <a:ext cx="2194560" cy="731520"/>
          </a:xfrm>
          <a:prstGeom prst="rect">
            <a:avLst/>
          </a:prstGeom>
          <a:noFill/>
          <a:ln/>
        </p:spPr>
        <p:txBody>
          <a:bodyPr wrap="square" lIns="0" tIns="0" rIns="0" bIns="0" rtlCol="0" anchor="ctr"/>
          <a:lstStyle/>
          <a:p>
            <a:pPr marL="0" indent="0">
              <a:buNone/>
            </a:pPr>
            <a:r>
              <a:rPr lang="en-US" sz="3800" b="1" dirty="0">
                <a:solidFill>
                  <a:srgbClr val="B85042"/>
                </a:solidFill>
                <a:latin typeface="Calibri" pitchFamily="34" charset="0"/>
                <a:ea typeface="Calibri" pitchFamily="34" charset="-122"/>
                <a:cs typeface="Calibri" pitchFamily="34" charset="-120"/>
              </a:rPr>
              <a:t>70%+</a:t>
            </a:r>
            <a:endParaRPr lang="en-US" sz="3800" dirty="0"/>
          </a:p>
        </p:txBody>
      </p:sp>
      <p:sp>
        <p:nvSpPr>
          <p:cNvPr id="5" name="Text 3"/>
          <p:cNvSpPr txBox="1"/>
          <p:nvPr/>
        </p:nvSpPr>
        <p:spPr>
          <a:xfrm>
            <a:off x="3291840" y="2148840"/>
            <a:ext cx="8257032" cy="411480"/>
          </a:xfrm>
          <a:prstGeom prst="rect">
            <a:avLst/>
          </a:prstGeom>
          <a:noFill/>
          <a:ln/>
        </p:spPr>
        <p:txBody>
          <a:bodyPr wrap="square" lIns="0" tIns="0" rIns="0" bIns="0" rtlCol="0" anchor="ctr"/>
          <a:lstStyle/>
          <a:p>
            <a:pPr marL="0" indent="0">
              <a:buNone/>
            </a:pPr>
            <a:r>
              <a:rPr lang="en-US" sz="2300" b="1" dirty="0">
                <a:solidFill>
                  <a:srgbClr val="1A1A1A"/>
                </a:solidFill>
                <a:latin typeface="Calibri" pitchFamily="34" charset="0"/>
                <a:ea typeface="Calibri" pitchFamily="34" charset="-122"/>
                <a:cs typeface="Calibri" pitchFamily="34" charset="-120"/>
              </a:rPr>
              <a:t>역할 분담</a:t>
            </a:r>
            <a:endParaRPr lang="en-US" sz="2300" dirty="0"/>
          </a:p>
        </p:txBody>
      </p:sp>
      <p:sp>
        <p:nvSpPr>
          <p:cNvPr id="6" name="Text 4"/>
          <p:cNvSpPr txBox="1"/>
          <p:nvPr/>
        </p:nvSpPr>
        <p:spPr>
          <a:xfrm>
            <a:off x="3291840" y="2624328"/>
            <a:ext cx="8257032" cy="365760"/>
          </a:xfrm>
          <a:prstGeom prst="rect">
            <a:avLst/>
          </a:prstGeom>
          <a:noFill/>
          <a:ln/>
        </p:spPr>
        <p:txBody>
          <a:bodyPr wrap="square" lIns="0" tIns="0" rIns="0" bIns="0" rtlCol="0" anchor="ctr"/>
          <a:lstStyle/>
          <a:p>
            <a:pPr marL="0" indent="0">
              <a:buNone/>
            </a:pPr>
            <a:r>
              <a:rPr lang="en-US" sz="1400" dirty="0">
                <a:solidFill>
                  <a:srgbClr val="1A1A1A"/>
                </a:solidFill>
                <a:latin typeface="Calibri" pitchFamily="34" charset="0"/>
                <a:ea typeface="Calibri" pitchFamily="34" charset="-122"/>
                <a:cs typeface="Calibri" pitchFamily="34" charset="-120"/>
              </a:rPr>
              <a:t>네 명이 각자 전담 영역을 70% 이상 점유 — 담당 경계가 명확했습니다</a:t>
            </a:r>
            <a:endParaRPr lang="en-US" sz="1400" dirty="0"/>
          </a:p>
        </p:txBody>
      </p:sp>
      <p:sp>
        <p:nvSpPr>
          <p:cNvPr id="7" name="Text 5"/>
          <p:cNvSpPr txBox="1"/>
          <p:nvPr/>
        </p:nvSpPr>
        <p:spPr>
          <a:xfrm>
            <a:off x="640080" y="3493008"/>
            <a:ext cx="2194560" cy="731520"/>
          </a:xfrm>
          <a:prstGeom prst="rect">
            <a:avLst/>
          </a:prstGeom>
          <a:noFill/>
          <a:ln/>
        </p:spPr>
        <p:txBody>
          <a:bodyPr wrap="square" lIns="0" tIns="0" rIns="0" bIns="0" rtlCol="0" anchor="ctr"/>
          <a:lstStyle/>
          <a:p>
            <a:pPr marL="0" indent="0">
              <a:buNone/>
            </a:pPr>
            <a:r>
              <a:rPr lang="en-US" sz="3800" b="1" dirty="0">
                <a:solidFill>
                  <a:srgbClr val="B85042"/>
                </a:solidFill>
                <a:latin typeface="Calibri" pitchFamily="34" charset="0"/>
                <a:ea typeface="Calibri" pitchFamily="34" charset="-122"/>
                <a:cs typeface="Calibri" pitchFamily="34" charset="-120"/>
              </a:rPr>
              <a:t>2곳</a:t>
            </a:r>
            <a:endParaRPr lang="en-US" sz="3800" dirty="0"/>
          </a:p>
        </p:txBody>
      </p:sp>
      <p:sp>
        <p:nvSpPr>
          <p:cNvPr id="8" name="Text 6"/>
          <p:cNvSpPr txBox="1"/>
          <p:nvPr/>
        </p:nvSpPr>
        <p:spPr>
          <a:xfrm>
            <a:off x="3291840" y="3447288"/>
            <a:ext cx="8257032" cy="411480"/>
          </a:xfrm>
          <a:prstGeom prst="rect">
            <a:avLst/>
          </a:prstGeom>
          <a:noFill/>
          <a:ln/>
        </p:spPr>
        <p:txBody>
          <a:bodyPr wrap="square" lIns="0" tIns="0" rIns="0" bIns="0" rtlCol="0" anchor="ctr"/>
          <a:lstStyle/>
          <a:p>
            <a:pPr marL="0" indent="0">
              <a:buNone/>
            </a:pPr>
            <a:r>
              <a:rPr lang="en-US" sz="2300" b="1" dirty="0">
                <a:solidFill>
                  <a:srgbClr val="1A1A1A"/>
                </a:solidFill>
                <a:latin typeface="Calibri" pitchFamily="34" charset="0"/>
                <a:ea typeface="Calibri" pitchFamily="34" charset="-122"/>
                <a:cs typeface="Calibri" pitchFamily="34" charset="-120"/>
              </a:rPr>
              <a:t>충돌 최소화</a:t>
            </a:r>
            <a:endParaRPr lang="en-US" sz="2300" dirty="0"/>
          </a:p>
        </p:txBody>
      </p:sp>
      <p:sp>
        <p:nvSpPr>
          <p:cNvPr id="9" name="Text 7"/>
          <p:cNvSpPr txBox="1"/>
          <p:nvPr/>
        </p:nvSpPr>
        <p:spPr>
          <a:xfrm>
            <a:off x="3291840" y="3922776"/>
            <a:ext cx="8257032" cy="365760"/>
          </a:xfrm>
          <a:prstGeom prst="rect">
            <a:avLst/>
          </a:prstGeom>
          <a:noFill/>
          <a:ln/>
        </p:spPr>
        <p:txBody>
          <a:bodyPr wrap="square" lIns="0" tIns="0" rIns="0" bIns="0" rtlCol="0" anchor="ctr"/>
          <a:lstStyle/>
          <a:p>
            <a:pPr marL="0" indent="0">
              <a:buNone/>
            </a:pPr>
            <a:r>
              <a:rPr lang="en-US" sz="1400" dirty="0">
                <a:solidFill>
                  <a:srgbClr val="1A1A1A"/>
                </a:solidFill>
                <a:latin typeface="Calibri" pitchFamily="34" charset="0"/>
                <a:ea typeface="Calibri" pitchFamily="34" charset="-122"/>
                <a:cs typeface="Calibri" pitchFamily="34" charset="-120"/>
              </a:rPr>
              <a:t>공동 작업 구역이 씬 배선과 건물 스크립트로만 한정됐습니다</a:t>
            </a:r>
            <a:endParaRPr lang="en-US" sz="1400" dirty="0"/>
          </a:p>
        </p:txBody>
      </p:sp>
      <p:sp>
        <p:nvSpPr>
          <p:cNvPr id="10" name="Text 8"/>
          <p:cNvSpPr txBox="1"/>
          <p:nvPr/>
        </p:nvSpPr>
        <p:spPr>
          <a:xfrm>
            <a:off x="640080" y="4791456"/>
            <a:ext cx="2194560" cy="731520"/>
          </a:xfrm>
          <a:prstGeom prst="rect">
            <a:avLst/>
          </a:prstGeom>
          <a:noFill/>
          <a:ln/>
        </p:spPr>
        <p:txBody>
          <a:bodyPr wrap="square" lIns="0" tIns="0" rIns="0" bIns="0" rtlCol="0" anchor="ctr"/>
          <a:lstStyle/>
          <a:p>
            <a:pPr marL="0" indent="0">
              <a:buNone/>
            </a:pPr>
            <a:r>
              <a:rPr lang="en-US" sz="3800" b="1" dirty="0">
                <a:solidFill>
                  <a:srgbClr val="B85042"/>
                </a:solidFill>
                <a:latin typeface="Calibri" pitchFamily="34" charset="0"/>
                <a:ea typeface="Calibri" pitchFamily="34" charset="-122"/>
                <a:cs typeface="Calibri" pitchFamily="34" charset="-120"/>
              </a:rPr>
              <a:t>83.6%</a:t>
            </a:r>
            <a:endParaRPr lang="en-US" sz="3800" dirty="0"/>
          </a:p>
        </p:txBody>
      </p:sp>
      <p:sp>
        <p:nvSpPr>
          <p:cNvPr id="11" name="Text 9"/>
          <p:cNvSpPr txBox="1"/>
          <p:nvPr/>
        </p:nvSpPr>
        <p:spPr>
          <a:xfrm>
            <a:off x="3291840" y="4745736"/>
            <a:ext cx="8257032" cy="411480"/>
          </a:xfrm>
          <a:prstGeom prst="rect">
            <a:avLst/>
          </a:prstGeom>
          <a:noFill/>
          <a:ln/>
        </p:spPr>
        <p:txBody>
          <a:bodyPr wrap="square" lIns="0" tIns="0" rIns="0" bIns="0" rtlCol="0" anchor="ctr"/>
          <a:lstStyle/>
          <a:p>
            <a:pPr marL="0" indent="0">
              <a:buNone/>
            </a:pPr>
            <a:r>
              <a:rPr lang="en-US" sz="2300" b="1" dirty="0">
                <a:solidFill>
                  <a:srgbClr val="1A1A1A"/>
                </a:solidFill>
                <a:latin typeface="Calibri" pitchFamily="34" charset="0"/>
                <a:ea typeface="Calibri" pitchFamily="34" charset="-122"/>
                <a:cs typeface="Calibri" pitchFamily="34" charset="-120"/>
              </a:rPr>
              <a:t>PR 리뷰 단일화</a:t>
            </a:r>
            <a:endParaRPr lang="en-US" sz="2300" dirty="0"/>
          </a:p>
        </p:txBody>
      </p:sp>
      <p:sp>
        <p:nvSpPr>
          <p:cNvPr id="12" name="Text 10"/>
          <p:cNvSpPr txBox="1"/>
          <p:nvPr/>
        </p:nvSpPr>
        <p:spPr>
          <a:xfrm>
            <a:off x="3291840" y="5221224"/>
            <a:ext cx="8257032" cy="365760"/>
          </a:xfrm>
          <a:prstGeom prst="rect">
            <a:avLst/>
          </a:prstGeom>
          <a:noFill/>
          <a:ln/>
        </p:spPr>
        <p:txBody>
          <a:bodyPr wrap="square" lIns="0" tIns="0" rIns="0" bIns="0" rtlCol="0" anchor="ctr"/>
          <a:lstStyle/>
          <a:p>
            <a:pPr marL="0" indent="0">
              <a:buNone/>
            </a:pPr>
            <a:r>
              <a:rPr lang="en-US" sz="1400" dirty="0">
                <a:solidFill>
                  <a:srgbClr val="1A1A1A"/>
                </a:solidFill>
                <a:latin typeface="Calibri" pitchFamily="34" charset="0"/>
                <a:ea typeface="Calibri" pitchFamily="34" charset="-122"/>
                <a:cs typeface="Calibri" pitchFamily="34" charset="-120"/>
              </a:rPr>
              <a:t>전체 PR 110건 중 92건을 팀장이 직접 리뷰 · 머지했습니다</a:t>
            </a:r>
            <a:endParaRPr lang="en-US" sz="1400" dirty="0"/>
          </a:p>
        </p:txBody>
      </p:sp>
      <p:sp>
        <p:nvSpPr>
          <p:cNvPr id="13" name="Text 11"/>
          <p:cNvSpPr txBox="1"/>
          <p:nvPr/>
        </p:nvSpPr>
        <p:spPr>
          <a:xfrm>
            <a:off x="640080" y="6355080"/>
            <a:ext cx="5486400" cy="256032"/>
          </a:xfrm>
          <a:prstGeom prst="rect">
            <a:avLst/>
          </a:prstGeom>
          <a:noFill/>
          <a:ln/>
        </p:spPr>
        <p:txBody>
          <a:bodyPr wrap="square" lIns="0" tIns="0" rIns="0" bIns="0" rtlCol="0" anchor="ctr"/>
          <a:lstStyle/>
          <a:p>
            <a:pPr marL="0" indent="0">
              <a:buNone/>
            </a:pPr>
            <a:r>
              <a:rPr lang="en-US" sz="900" dirty="0">
                <a:solidFill>
                  <a:srgbClr val="6E6E6E"/>
                </a:solidFill>
                <a:latin typeface="Calibri" pitchFamily="34" charset="0"/>
                <a:ea typeface="Calibri" pitchFamily="34" charset="-122"/>
                <a:cs typeface="Calibri" pitchFamily="34" charset="-120"/>
              </a:rPr>
              <a:t>수성록 (Tower and Dragons) · 최종 결과 보고</a:t>
            </a:r>
            <a:endParaRPr lang="en-US" sz="900" dirty="0"/>
          </a:p>
        </p:txBody>
      </p:sp>
      <p:sp>
        <p:nvSpPr>
          <p:cNvPr id="14" name="Text 12"/>
          <p:cNvSpPr txBox="1"/>
          <p:nvPr/>
        </p:nvSpPr>
        <p:spPr>
          <a:xfrm>
            <a:off x="6062472" y="6355080"/>
            <a:ext cx="5486400" cy="256032"/>
          </a:xfrm>
          <a:prstGeom prst="rect">
            <a:avLst/>
          </a:prstGeom>
          <a:noFill/>
          <a:ln/>
        </p:spPr>
        <p:txBody>
          <a:bodyPr wrap="square" lIns="0" tIns="0" rIns="0" bIns="0" rtlCol="0" anchor="ctr"/>
          <a:lstStyle/>
          <a:p>
            <a:pPr marL="0" indent="0" algn="r">
              <a:buNone/>
            </a:pPr>
            <a:r>
              <a:rPr lang="en-US" sz="900" dirty="0">
                <a:solidFill>
                  <a:srgbClr val="6E6E6E"/>
                </a:solidFill>
                <a:latin typeface="Calibri" pitchFamily="34" charset="0"/>
                <a:ea typeface="Calibri" pitchFamily="34" charset="-122"/>
                <a:cs typeface="Calibri" pitchFamily="34" charset="-120"/>
              </a:rPr>
              <a:t>02 — 팀 구성 및 역할</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47472"/>
            <a:ext cx="10908792" cy="256032"/>
          </a:xfrm>
          <a:prstGeom prst="rect">
            <a:avLst/>
          </a:prstGeom>
          <a:noFill/>
          <a:ln/>
        </p:spPr>
        <p:txBody>
          <a:bodyPr wrap="square" lIns="0" tIns="0" rIns="0" bIns="0" rtlCol="0" anchor="ctr"/>
          <a:lstStyle/>
          <a:p>
            <a:pPr marL="0" indent="0">
              <a:buNone/>
            </a:pPr>
            <a:r>
              <a:rPr lang="en-US" sz="1100" b="1" dirty="0">
                <a:solidFill>
                  <a:srgbClr val="B85042"/>
                </a:solidFill>
                <a:latin typeface="Calibri" pitchFamily="34" charset="0"/>
                <a:ea typeface="Calibri" pitchFamily="34" charset="-122"/>
                <a:cs typeface="Calibri" pitchFamily="34" charset="-120"/>
              </a:rPr>
              <a:t>03</a:t>
            </a:r>
            <a:r>
              <a:rPr lang="en-US" sz="1100" dirty="0">
                <a:solidFill>
                  <a:srgbClr val="6E6E6E"/>
                </a:solidFill>
                <a:latin typeface="Calibri" pitchFamily="34" charset="0"/>
                <a:ea typeface="Calibri" pitchFamily="34" charset="-122"/>
                <a:cs typeface="Calibri" pitchFamily="34" charset="-120"/>
              </a:rPr>
              <a:t>   수행 절차 및 방법</a:t>
            </a:r>
            <a:endParaRPr lang="en-US" sz="1100" dirty="0"/>
          </a:p>
        </p:txBody>
      </p:sp>
      <p:sp>
        <p:nvSpPr>
          <p:cNvPr id="3" name="Text 1"/>
          <p:cNvSpPr txBox="1"/>
          <p:nvPr/>
        </p:nvSpPr>
        <p:spPr>
          <a:xfrm>
            <a:off x="640080" y="621792"/>
            <a:ext cx="10908792" cy="640080"/>
          </a:xfrm>
          <a:prstGeom prst="rect">
            <a:avLst/>
          </a:prstGeom>
          <a:noFill/>
          <a:ln/>
        </p:spPr>
        <p:txBody>
          <a:bodyPr wrap="square" lIns="0" tIns="0" rIns="0" bIns="0" rtlCol="0" anchor="t"/>
          <a:lstStyle/>
          <a:p>
            <a:pPr marL="0" indent="0">
              <a:buNone/>
            </a:pPr>
            <a:r>
              <a:rPr lang="en-US" sz="3000" b="1" dirty="0">
                <a:solidFill>
                  <a:srgbClr val="1A1A1A"/>
                </a:solidFill>
                <a:latin typeface="Calibri" pitchFamily="34" charset="0"/>
                <a:ea typeface="Calibri" pitchFamily="34" charset="-122"/>
                <a:cs typeface="Calibri" pitchFamily="34" charset="-120"/>
              </a:rPr>
              <a:t>수행 일정 및 실행 내역</a:t>
            </a:r>
            <a:endParaRPr lang="en-US" sz="3000" dirty="0"/>
          </a:p>
        </p:txBody>
      </p:sp>
      <p:sp>
        <p:nvSpPr>
          <p:cNvPr id="4" name="Text 2"/>
          <p:cNvSpPr txBox="1"/>
          <p:nvPr/>
        </p:nvSpPr>
        <p:spPr>
          <a:xfrm>
            <a:off x="640080" y="1280160"/>
            <a:ext cx="10908792" cy="292608"/>
          </a:xfrm>
          <a:prstGeom prst="rect">
            <a:avLst/>
          </a:prstGeom>
          <a:noFill/>
          <a:ln/>
        </p:spPr>
        <p:txBody>
          <a:bodyPr wrap="square" lIns="0" tIns="0" rIns="0" bIns="0" rtlCol="0" anchor="ctr"/>
          <a:lstStyle/>
          <a:p>
            <a:pPr marL="0" indent="0">
              <a:buNone/>
            </a:pPr>
            <a:r>
              <a:rPr lang="en-US" sz="1300" dirty="0">
                <a:solidFill>
                  <a:srgbClr val="6E6E6E"/>
                </a:solidFill>
                <a:latin typeface="Calibri" pitchFamily="34" charset="0"/>
                <a:ea typeface="Calibri" pitchFamily="34" charset="-122"/>
                <a:cs typeface="Calibri" pitchFamily="34" charset="-120"/>
              </a:rPr>
              <a:t>2026-07-03 ~ 09-03 · 총 9주 · 주 단위 빌드 6회</a:t>
            </a:r>
            <a:endParaRPr lang="en-US" sz="1300" dirty="0"/>
          </a:p>
        </p:txBody>
      </p:sp>
      <p:sp>
        <p:nvSpPr>
          <p:cNvPr id="5" name="Shape 3"/>
          <p:cNvSpPr/>
          <p:nvPr/>
        </p:nvSpPr>
        <p:spPr>
          <a:xfrm>
            <a:off x="6094476" y="1828800"/>
            <a:ext cx="91" cy="3977640"/>
          </a:xfrm>
          <a:prstGeom prst="line">
            <a:avLst/>
          </a:prstGeom>
          <a:noFill/>
          <a:ln w="19050">
            <a:solidFill>
              <a:srgbClr val="D8D8D8"/>
            </a:solidFill>
            <a:prstDash val="solid"/>
          </a:ln>
        </p:spPr>
      </p:sp>
      <p:sp>
        <p:nvSpPr>
          <p:cNvPr id="6" name="Shape 4"/>
          <p:cNvSpPr/>
          <p:nvPr/>
        </p:nvSpPr>
        <p:spPr>
          <a:xfrm>
            <a:off x="6025896" y="1920240"/>
            <a:ext cx="137160" cy="137160"/>
          </a:xfrm>
          <a:prstGeom prst="ellipse">
            <a:avLst/>
          </a:prstGeom>
          <a:solidFill>
            <a:srgbClr val="B85042"/>
          </a:solidFill>
          <a:ln w="12700">
            <a:solidFill>
              <a:srgbClr val="B85042"/>
            </a:solidFill>
            <a:prstDash val="solid"/>
          </a:ln>
        </p:spPr>
      </p:sp>
      <p:sp>
        <p:nvSpPr>
          <p:cNvPr id="7" name="Shape 5"/>
          <p:cNvSpPr/>
          <p:nvPr/>
        </p:nvSpPr>
        <p:spPr>
          <a:xfrm>
            <a:off x="5783580" y="1988820"/>
            <a:ext cx="246888" cy="91"/>
          </a:xfrm>
          <a:prstGeom prst="line">
            <a:avLst/>
          </a:prstGeom>
          <a:noFill/>
          <a:ln w="15240">
            <a:solidFill>
              <a:srgbClr val="D8D8D8"/>
            </a:solidFill>
            <a:prstDash val="solid"/>
          </a:ln>
        </p:spPr>
      </p:sp>
      <p:sp>
        <p:nvSpPr>
          <p:cNvPr id="8" name="Text 6"/>
          <p:cNvSpPr txBox="1"/>
          <p:nvPr/>
        </p:nvSpPr>
        <p:spPr>
          <a:xfrm>
            <a:off x="640080" y="1783080"/>
            <a:ext cx="4892040" cy="292608"/>
          </a:xfrm>
          <a:prstGeom prst="rect">
            <a:avLst/>
          </a:prstGeom>
          <a:noFill/>
          <a:ln/>
        </p:spPr>
        <p:txBody>
          <a:bodyPr wrap="square" lIns="0" tIns="0" rIns="0" bIns="0" rtlCol="0" anchor="ctr"/>
          <a:lstStyle/>
          <a:p>
            <a:pPr marL="0" indent="0" algn="r">
              <a:buNone/>
            </a:pPr>
            <a:r>
              <a:rPr lang="en-US" sz="1500" b="1" dirty="0">
                <a:solidFill>
                  <a:srgbClr val="1A1A1A"/>
                </a:solidFill>
                <a:latin typeface="Calibri" pitchFamily="34" charset="0"/>
                <a:ea typeface="Calibri" pitchFamily="34" charset="-122"/>
                <a:cs typeface="Calibri" pitchFamily="34" charset="-120"/>
              </a:rPr>
              <a:t>사전 기획</a:t>
            </a:r>
            <a:r>
              <a:rPr lang="en-US" sz="1150" dirty="0">
                <a:solidFill>
                  <a:srgbClr val="B85042"/>
                </a:solidFill>
                <a:latin typeface="Calibri" pitchFamily="34" charset="0"/>
                <a:ea typeface="Calibri" pitchFamily="34" charset="-122"/>
                <a:cs typeface="Calibri" pitchFamily="34" charset="-120"/>
              </a:rPr>
              <a:t>    7/03 ~ 7/11</a:t>
            </a:r>
            <a:endParaRPr lang="en-US" sz="1500" dirty="0"/>
          </a:p>
        </p:txBody>
      </p:sp>
      <p:sp>
        <p:nvSpPr>
          <p:cNvPr id="9" name="Text 7"/>
          <p:cNvSpPr txBox="1"/>
          <p:nvPr/>
        </p:nvSpPr>
        <p:spPr>
          <a:xfrm>
            <a:off x="640080" y="2066544"/>
            <a:ext cx="4892040" cy="310896"/>
          </a:xfrm>
          <a:prstGeom prst="rect">
            <a:avLst/>
          </a:prstGeom>
          <a:noFill/>
          <a:ln/>
        </p:spPr>
        <p:txBody>
          <a:bodyPr wrap="square" lIns="0" tIns="0" rIns="0" bIns="0" rtlCol="0" anchor="ctr"/>
          <a:lstStyle/>
          <a:p>
            <a:pPr marL="0" indent="0" algn="r">
              <a:buNone/>
            </a:pPr>
            <a:r>
              <a:rPr lang="en-US" sz="1200" dirty="0">
                <a:solidFill>
                  <a:srgbClr val="6E6E6E"/>
                </a:solidFill>
                <a:latin typeface="Calibri" pitchFamily="34" charset="0"/>
                <a:ea typeface="Calibri" pitchFamily="34" charset="-122"/>
                <a:cs typeface="Calibri" pitchFamily="34" charset="-120"/>
              </a:rPr>
              <a:t>주제 선정 · 컨셉 확정 · 기획 종합 작성   ·   컨셉 발표</a:t>
            </a:r>
            <a:endParaRPr lang="en-US" sz="1200" dirty="0"/>
          </a:p>
        </p:txBody>
      </p:sp>
      <p:sp>
        <p:nvSpPr>
          <p:cNvPr id="10" name="Shape 8"/>
          <p:cNvSpPr/>
          <p:nvPr/>
        </p:nvSpPr>
        <p:spPr>
          <a:xfrm>
            <a:off x="6025896" y="2651760"/>
            <a:ext cx="137160" cy="137160"/>
          </a:xfrm>
          <a:prstGeom prst="ellipse">
            <a:avLst/>
          </a:prstGeom>
          <a:solidFill>
            <a:srgbClr val="B85042"/>
          </a:solidFill>
          <a:ln w="12700">
            <a:solidFill>
              <a:srgbClr val="B85042"/>
            </a:solidFill>
            <a:prstDash val="solid"/>
          </a:ln>
        </p:spPr>
      </p:sp>
      <p:sp>
        <p:nvSpPr>
          <p:cNvPr id="11" name="Shape 9"/>
          <p:cNvSpPr/>
          <p:nvPr/>
        </p:nvSpPr>
        <p:spPr>
          <a:xfrm>
            <a:off x="6158484" y="2720340"/>
            <a:ext cx="246888" cy="91"/>
          </a:xfrm>
          <a:prstGeom prst="line">
            <a:avLst/>
          </a:prstGeom>
          <a:noFill/>
          <a:ln w="15240">
            <a:solidFill>
              <a:srgbClr val="D8D8D8"/>
            </a:solidFill>
            <a:prstDash val="solid"/>
          </a:ln>
        </p:spPr>
      </p:sp>
      <p:sp>
        <p:nvSpPr>
          <p:cNvPr id="12" name="Text 10"/>
          <p:cNvSpPr txBox="1"/>
          <p:nvPr/>
        </p:nvSpPr>
        <p:spPr>
          <a:xfrm>
            <a:off x="6551676" y="2514600"/>
            <a:ext cx="4892040" cy="292608"/>
          </a:xfrm>
          <a:prstGeom prst="rect">
            <a:avLst/>
          </a:prstGeom>
          <a:noFill/>
          <a:ln/>
        </p:spPr>
        <p:txBody>
          <a:bodyPr wrap="square" lIns="0" tIns="0" rIns="0" bIns="0" rtlCol="0" anchor="ctr"/>
          <a:lstStyle/>
          <a:p>
            <a:pPr marL="0" indent="0" algn="l">
              <a:buNone/>
            </a:pPr>
            <a:r>
              <a:rPr lang="en-US" sz="1500" b="1" dirty="0">
                <a:solidFill>
                  <a:srgbClr val="1A1A1A"/>
                </a:solidFill>
                <a:latin typeface="Calibri" pitchFamily="34" charset="0"/>
                <a:ea typeface="Calibri" pitchFamily="34" charset="-122"/>
                <a:cs typeface="Calibri" pitchFamily="34" charset="-120"/>
              </a:rPr>
              <a:t>환경 구축 · 설계</a:t>
            </a:r>
            <a:r>
              <a:rPr lang="en-US" sz="1150" dirty="0">
                <a:solidFill>
                  <a:srgbClr val="B85042"/>
                </a:solidFill>
                <a:latin typeface="Calibri" pitchFamily="34" charset="0"/>
                <a:ea typeface="Calibri" pitchFamily="34" charset="-122"/>
                <a:cs typeface="Calibri" pitchFamily="34" charset="-120"/>
              </a:rPr>
              <a:t>    7/14 ~ 7/25</a:t>
            </a:r>
            <a:endParaRPr lang="en-US" sz="1500" dirty="0"/>
          </a:p>
        </p:txBody>
      </p:sp>
      <p:sp>
        <p:nvSpPr>
          <p:cNvPr id="13" name="Text 11"/>
          <p:cNvSpPr txBox="1"/>
          <p:nvPr/>
        </p:nvSpPr>
        <p:spPr>
          <a:xfrm>
            <a:off x="6551676" y="2798064"/>
            <a:ext cx="4892040" cy="310896"/>
          </a:xfrm>
          <a:prstGeom prst="rect">
            <a:avLst/>
          </a:prstGeom>
          <a:noFill/>
          <a:ln/>
        </p:spPr>
        <p:txBody>
          <a:bodyPr wrap="square" lIns="0" tIns="0" rIns="0" bIns="0" rtlCol="0" anchor="ctr"/>
          <a:lstStyle/>
          <a:p>
            <a:pPr marL="0" indent="0" algn="l">
              <a:buNone/>
            </a:pPr>
            <a:r>
              <a:rPr lang="en-US" sz="1200" dirty="0">
                <a:solidFill>
                  <a:srgbClr val="6E6E6E"/>
                </a:solidFill>
                <a:latin typeface="Calibri" pitchFamily="34" charset="0"/>
                <a:ea typeface="Calibri" pitchFamily="34" charset="-122"/>
                <a:cs typeface="Calibri" pitchFamily="34" charset="-120"/>
              </a:rPr>
              <a:t>개발 환경과 협업 규칙 수립 · 코어 시스템 설계</a:t>
            </a:r>
            <a:endParaRPr lang="en-US" sz="1200" dirty="0"/>
          </a:p>
        </p:txBody>
      </p:sp>
      <p:sp>
        <p:nvSpPr>
          <p:cNvPr id="14" name="Shape 12"/>
          <p:cNvSpPr/>
          <p:nvPr/>
        </p:nvSpPr>
        <p:spPr>
          <a:xfrm>
            <a:off x="6025896" y="3383280"/>
            <a:ext cx="137160" cy="137160"/>
          </a:xfrm>
          <a:prstGeom prst="ellipse">
            <a:avLst/>
          </a:prstGeom>
          <a:solidFill>
            <a:srgbClr val="B85042"/>
          </a:solidFill>
          <a:ln w="12700">
            <a:solidFill>
              <a:srgbClr val="B85042"/>
            </a:solidFill>
            <a:prstDash val="solid"/>
          </a:ln>
        </p:spPr>
      </p:sp>
      <p:sp>
        <p:nvSpPr>
          <p:cNvPr id="15" name="Shape 13"/>
          <p:cNvSpPr/>
          <p:nvPr/>
        </p:nvSpPr>
        <p:spPr>
          <a:xfrm>
            <a:off x="5783580" y="3451860"/>
            <a:ext cx="246888" cy="91"/>
          </a:xfrm>
          <a:prstGeom prst="line">
            <a:avLst/>
          </a:prstGeom>
          <a:noFill/>
          <a:ln w="15240">
            <a:solidFill>
              <a:srgbClr val="D8D8D8"/>
            </a:solidFill>
            <a:prstDash val="solid"/>
          </a:ln>
        </p:spPr>
      </p:sp>
      <p:sp>
        <p:nvSpPr>
          <p:cNvPr id="16" name="Text 14"/>
          <p:cNvSpPr txBox="1"/>
          <p:nvPr/>
        </p:nvSpPr>
        <p:spPr>
          <a:xfrm>
            <a:off x="640080" y="3246120"/>
            <a:ext cx="4892040" cy="292608"/>
          </a:xfrm>
          <a:prstGeom prst="rect">
            <a:avLst/>
          </a:prstGeom>
          <a:noFill/>
          <a:ln/>
        </p:spPr>
        <p:txBody>
          <a:bodyPr wrap="square" lIns="0" tIns="0" rIns="0" bIns="0" rtlCol="0" anchor="ctr"/>
          <a:lstStyle/>
          <a:p>
            <a:pPr marL="0" indent="0" algn="r">
              <a:buNone/>
            </a:pPr>
            <a:r>
              <a:rPr lang="en-US" sz="1500" b="1" dirty="0">
                <a:solidFill>
                  <a:srgbClr val="1A1A1A"/>
                </a:solidFill>
                <a:latin typeface="Calibri" pitchFamily="34" charset="0"/>
                <a:ea typeface="Calibri" pitchFamily="34" charset="-122"/>
                <a:cs typeface="Calibri" pitchFamily="34" charset="-120"/>
              </a:rPr>
              <a:t>프로토타입</a:t>
            </a:r>
            <a:r>
              <a:rPr lang="en-US" sz="1150" dirty="0">
                <a:solidFill>
                  <a:srgbClr val="B85042"/>
                </a:solidFill>
                <a:latin typeface="Calibri" pitchFamily="34" charset="0"/>
                <a:ea typeface="Calibri" pitchFamily="34" charset="-122"/>
                <a:cs typeface="Calibri" pitchFamily="34" charset="-120"/>
              </a:rPr>
              <a:t>    7/28 ~ 8/07</a:t>
            </a:r>
            <a:endParaRPr lang="en-US" sz="1500" dirty="0"/>
          </a:p>
        </p:txBody>
      </p:sp>
      <p:sp>
        <p:nvSpPr>
          <p:cNvPr id="17" name="Text 15"/>
          <p:cNvSpPr txBox="1"/>
          <p:nvPr/>
        </p:nvSpPr>
        <p:spPr>
          <a:xfrm>
            <a:off x="640080" y="3529584"/>
            <a:ext cx="4892040" cy="310896"/>
          </a:xfrm>
          <a:prstGeom prst="rect">
            <a:avLst/>
          </a:prstGeom>
          <a:noFill/>
          <a:ln/>
        </p:spPr>
        <p:txBody>
          <a:bodyPr wrap="square" lIns="0" tIns="0" rIns="0" bIns="0" rtlCol="0" anchor="ctr"/>
          <a:lstStyle/>
          <a:p>
            <a:pPr marL="0" indent="0" algn="r">
              <a:buNone/>
            </a:pPr>
            <a:r>
              <a:rPr lang="en-US" sz="1200" dirty="0">
                <a:solidFill>
                  <a:srgbClr val="6E6E6E"/>
                </a:solidFill>
                <a:latin typeface="Calibri" pitchFamily="34" charset="0"/>
                <a:ea typeface="Calibri" pitchFamily="34" charset="-122"/>
                <a:cs typeface="Calibri" pitchFamily="34" charset="-120"/>
              </a:rPr>
              <a:t>낮 / 밤 루프 · 그리드 건설 · 웨이브 · 인구 코어</a:t>
            </a:r>
            <a:endParaRPr lang="en-US" sz="1200" dirty="0"/>
          </a:p>
        </p:txBody>
      </p:sp>
      <p:sp>
        <p:nvSpPr>
          <p:cNvPr id="18" name="Shape 16"/>
          <p:cNvSpPr/>
          <p:nvPr/>
        </p:nvSpPr>
        <p:spPr>
          <a:xfrm>
            <a:off x="6025896" y="4114800"/>
            <a:ext cx="137160" cy="137160"/>
          </a:xfrm>
          <a:prstGeom prst="ellipse">
            <a:avLst/>
          </a:prstGeom>
          <a:solidFill>
            <a:srgbClr val="B85042"/>
          </a:solidFill>
          <a:ln w="12700">
            <a:solidFill>
              <a:srgbClr val="B85042"/>
            </a:solidFill>
            <a:prstDash val="solid"/>
          </a:ln>
        </p:spPr>
      </p:sp>
      <p:sp>
        <p:nvSpPr>
          <p:cNvPr id="19" name="Shape 17"/>
          <p:cNvSpPr/>
          <p:nvPr/>
        </p:nvSpPr>
        <p:spPr>
          <a:xfrm>
            <a:off x="6158484" y="4183380"/>
            <a:ext cx="246888" cy="91"/>
          </a:xfrm>
          <a:prstGeom prst="line">
            <a:avLst/>
          </a:prstGeom>
          <a:noFill/>
          <a:ln w="15240">
            <a:solidFill>
              <a:srgbClr val="D8D8D8"/>
            </a:solidFill>
            <a:prstDash val="solid"/>
          </a:ln>
        </p:spPr>
      </p:sp>
      <p:sp>
        <p:nvSpPr>
          <p:cNvPr id="20" name="Text 18"/>
          <p:cNvSpPr txBox="1"/>
          <p:nvPr/>
        </p:nvSpPr>
        <p:spPr>
          <a:xfrm>
            <a:off x="6551676" y="3977640"/>
            <a:ext cx="4892040" cy="292608"/>
          </a:xfrm>
          <a:prstGeom prst="rect">
            <a:avLst/>
          </a:prstGeom>
          <a:noFill/>
          <a:ln/>
        </p:spPr>
        <p:txBody>
          <a:bodyPr wrap="square" lIns="0" tIns="0" rIns="0" bIns="0" rtlCol="0" anchor="ctr"/>
          <a:lstStyle/>
          <a:p>
            <a:pPr marL="0" indent="0" algn="l">
              <a:buNone/>
            </a:pPr>
            <a:r>
              <a:rPr lang="en-US" sz="1500" b="1" dirty="0">
                <a:solidFill>
                  <a:srgbClr val="1A1A1A"/>
                </a:solidFill>
                <a:latin typeface="Calibri" pitchFamily="34" charset="0"/>
                <a:ea typeface="Calibri" pitchFamily="34" charset="-122"/>
                <a:cs typeface="Calibri" pitchFamily="34" charset="-120"/>
              </a:rPr>
              <a:t>알파</a:t>
            </a:r>
            <a:r>
              <a:rPr lang="en-US" sz="1150" dirty="0">
                <a:solidFill>
                  <a:srgbClr val="B85042"/>
                </a:solidFill>
                <a:latin typeface="Calibri" pitchFamily="34" charset="0"/>
                <a:ea typeface="Calibri" pitchFamily="34" charset="-122"/>
                <a:cs typeface="Calibri" pitchFamily="34" charset="-120"/>
              </a:rPr>
              <a:t>    8/08 ~ 8/14</a:t>
            </a:r>
            <a:endParaRPr lang="en-US" sz="1500" dirty="0"/>
          </a:p>
        </p:txBody>
      </p:sp>
      <p:sp>
        <p:nvSpPr>
          <p:cNvPr id="21" name="Text 19"/>
          <p:cNvSpPr txBox="1"/>
          <p:nvPr/>
        </p:nvSpPr>
        <p:spPr>
          <a:xfrm>
            <a:off x="6551676" y="4261104"/>
            <a:ext cx="4892040" cy="310896"/>
          </a:xfrm>
          <a:prstGeom prst="rect">
            <a:avLst/>
          </a:prstGeom>
          <a:noFill/>
          <a:ln/>
        </p:spPr>
        <p:txBody>
          <a:bodyPr wrap="square" lIns="0" tIns="0" rIns="0" bIns="0" rtlCol="0" anchor="ctr"/>
          <a:lstStyle/>
          <a:p>
            <a:pPr marL="0" indent="0" algn="l">
              <a:buNone/>
            </a:pPr>
            <a:r>
              <a:rPr lang="en-US" sz="1200" dirty="0">
                <a:solidFill>
                  <a:srgbClr val="6E6E6E"/>
                </a:solidFill>
                <a:latin typeface="Calibri" pitchFamily="34" charset="0"/>
                <a:ea typeface="Calibri" pitchFamily="34" charset="-122"/>
                <a:cs typeface="Calibri" pitchFamily="34" charset="-120"/>
              </a:rPr>
              <a:t>전 기능 연결 · 용 스킬트리 · 속성 타워 · 랜드마크   ·   중간 보고</a:t>
            </a:r>
            <a:endParaRPr lang="en-US" sz="1200" dirty="0"/>
          </a:p>
        </p:txBody>
      </p:sp>
      <p:sp>
        <p:nvSpPr>
          <p:cNvPr id="22" name="Shape 20"/>
          <p:cNvSpPr/>
          <p:nvPr/>
        </p:nvSpPr>
        <p:spPr>
          <a:xfrm>
            <a:off x="6025896" y="4846320"/>
            <a:ext cx="137160" cy="137160"/>
          </a:xfrm>
          <a:prstGeom prst="ellipse">
            <a:avLst/>
          </a:prstGeom>
          <a:solidFill>
            <a:srgbClr val="B85042"/>
          </a:solidFill>
          <a:ln w="12700">
            <a:solidFill>
              <a:srgbClr val="B85042"/>
            </a:solidFill>
            <a:prstDash val="solid"/>
          </a:ln>
        </p:spPr>
      </p:sp>
      <p:sp>
        <p:nvSpPr>
          <p:cNvPr id="23" name="Shape 21"/>
          <p:cNvSpPr/>
          <p:nvPr/>
        </p:nvSpPr>
        <p:spPr>
          <a:xfrm>
            <a:off x="5783580" y="4914900"/>
            <a:ext cx="246888" cy="91"/>
          </a:xfrm>
          <a:prstGeom prst="line">
            <a:avLst/>
          </a:prstGeom>
          <a:noFill/>
          <a:ln w="15240">
            <a:solidFill>
              <a:srgbClr val="D8D8D8"/>
            </a:solidFill>
            <a:prstDash val="solid"/>
          </a:ln>
        </p:spPr>
      </p:sp>
      <p:sp>
        <p:nvSpPr>
          <p:cNvPr id="24" name="Text 22"/>
          <p:cNvSpPr txBox="1"/>
          <p:nvPr/>
        </p:nvSpPr>
        <p:spPr>
          <a:xfrm>
            <a:off x="640080" y="4709160"/>
            <a:ext cx="4892040" cy="292608"/>
          </a:xfrm>
          <a:prstGeom prst="rect">
            <a:avLst/>
          </a:prstGeom>
          <a:noFill/>
          <a:ln/>
        </p:spPr>
        <p:txBody>
          <a:bodyPr wrap="square" lIns="0" tIns="0" rIns="0" bIns="0" rtlCol="0" anchor="ctr"/>
          <a:lstStyle/>
          <a:p>
            <a:pPr marL="0" indent="0" algn="r">
              <a:buNone/>
            </a:pPr>
            <a:r>
              <a:rPr lang="en-US" sz="1500" b="1" dirty="0">
                <a:solidFill>
                  <a:srgbClr val="1A1A1A"/>
                </a:solidFill>
                <a:latin typeface="Calibri" pitchFamily="34" charset="0"/>
                <a:ea typeface="Calibri" pitchFamily="34" charset="-122"/>
                <a:cs typeface="Calibri" pitchFamily="34" charset="-120"/>
              </a:rPr>
              <a:t>베타 준비</a:t>
            </a:r>
            <a:r>
              <a:rPr lang="en-US" sz="1150" dirty="0">
                <a:solidFill>
                  <a:srgbClr val="B85042"/>
                </a:solidFill>
                <a:latin typeface="Calibri" pitchFamily="34" charset="0"/>
                <a:ea typeface="Calibri" pitchFamily="34" charset="-122"/>
                <a:cs typeface="Calibri" pitchFamily="34" charset="-120"/>
              </a:rPr>
              <a:t>    8/15 ~ 8/21</a:t>
            </a:r>
            <a:endParaRPr lang="en-US" sz="1500" dirty="0"/>
          </a:p>
        </p:txBody>
      </p:sp>
      <p:sp>
        <p:nvSpPr>
          <p:cNvPr id="25" name="Text 23"/>
          <p:cNvSpPr txBox="1"/>
          <p:nvPr/>
        </p:nvSpPr>
        <p:spPr>
          <a:xfrm>
            <a:off x="640080" y="4992624"/>
            <a:ext cx="4892040" cy="310896"/>
          </a:xfrm>
          <a:prstGeom prst="rect">
            <a:avLst/>
          </a:prstGeom>
          <a:noFill/>
          <a:ln/>
        </p:spPr>
        <p:txBody>
          <a:bodyPr wrap="square" lIns="0" tIns="0" rIns="0" bIns="0" rtlCol="0" anchor="ctr"/>
          <a:lstStyle/>
          <a:p>
            <a:pPr marL="0" indent="0" algn="r">
              <a:buNone/>
            </a:pPr>
            <a:r>
              <a:rPr lang="en-US" sz="1200" dirty="0">
                <a:solidFill>
                  <a:srgbClr val="6E6E6E"/>
                </a:solidFill>
                <a:latin typeface="Calibri" pitchFamily="34" charset="0"/>
                <a:ea typeface="Calibri" pitchFamily="34" charset="-122"/>
                <a:cs typeface="Calibri" pitchFamily="34" charset="-120"/>
              </a:rPr>
              <a:t>밸런싱 1차 패치 · 튜토리얼 재구성 · 가이드 퀘스트</a:t>
            </a:r>
            <a:endParaRPr lang="en-US" sz="1200" dirty="0"/>
          </a:p>
        </p:txBody>
      </p:sp>
      <p:sp>
        <p:nvSpPr>
          <p:cNvPr id="26" name="Shape 24"/>
          <p:cNvSpPr/>
          <p:nvPr/>
        </p:nvSpPr>
        <p:spPr>
          <a:xfrm>
            <a:off x="6025896" y="5577840"/>
            <a:ext cx="137160" cy="137160"/>
          </a:xfrm>
          <a:prstGeom prst="ellipse">
            <a:avLst/>
          </a:prstGeom>
          <a:solidFill>
            <a:srgbClr val="B85042"/>
          </a:solidFill>
          <a:ln w="12700">
            <a:solidFill>
              <a:srgbClr val="B85042"/>
            </a:solidFill>
            <a:prstDash val="solid"/>
          </a:ln>
        </p:spPr>
      </p:sp>
      <p:sp>
        <p:nvSpPr>
          <p:cNvPr id="27" name="Shape 25"/>
          <p:cNvSpPr/>
          <p:nvPr/>
        </p:nvSpPr>
        <p:spPr>
          <a:xfrm>
            <a:off x="6158484" y="5646420"/>
            <a:ext cx="246888" cy="91"/>
          </a:xfrm>
          <a:prstGeom prst="line">
            <a:avLst/>
          </a:prstGeom>
          <a:noFill/>
          <a:ln w="15240">
            <a:solidFill>
              <a:srgbClr val="D8D8D8"/>
            </a:solidFill>
            <a:prstDash val="solid"/>
          </a:ln>
        </p:spPr>
      </p:sp>
      <p:sp>
        <p:nvSpPr>
          <p:cNvPr id="28" name="Text 26"/>
          <p:cNvSpPr txBox="1"/>
          <p:nvPr/>
        </p:nvSpPr>
        <p:spPr>
          <a:xfrm>
            <a:off x="6551676" y="5440680"/>
            <a:ext cx="4892040" cy="292608"/>
          </a:xfrm>
          <a:prstGeom prst="rect">
            <a:avLst/>
          </a:prstGeom>
          <a:noFill/>
          <a:ln/>
        </p:spPr>
        <p:txBody>
          <a:bodyPr wrap="square" lIns="0" tIns="0" rIns="0" bIns="0" rtlCol="0" anchor="ctr"/>
          <a:lstStyle/>
          <a:p>
            <a:pPr marL="0" indent="0" algn="l">
              <a:buNone/>
            </a:pPr>
            <a:r>
              <a:rPr lang="en-US" sz="1500" b="1" dirty="0">
                <a:solidFill>
                  <a:srgbClr val="1A1A1A"/>
                </a:solidFill>
                <a:latin typeface="Calibri" pitchFamily="34" charset="0"/>
                <a:ea typeface="Calibri" pitchFamily="34" charset="-122"/>
                <a:cs typeface="Calibri" pitchFamily="34" charset="-120"/>
              </a:rPr>
              <a:t>베타 · 폴리싱</a:t>
            </a:r>
            <a:r>
              <a:rPr lang="en-US" sz="1150" dirty="0">
                <a:solidFill>
                  <a:srgbClr val="B85042"/>
                </a:solidFill>
                <a:latin typeface="Calibri" pitchFamily="34" charset="0"/>
                <a:ea typeface="Calibri" pitchFamily="34" charset="-122"/>
                <a:cs typeface="Calibri" pitchFamily="34" charset="-120"/>
              </a:rPr>
              <a:t>    8/22 ~ 9/03</a:t>
            </a:r>
            <a:endParaRPr lang="en-US" sz="1500" dirty="0"/>
          </a:p>
        </p:txBody>
      </p:sp>
      <p:sp>
        <p:nvSpPr>
          <p:cNvPr id="29" name="Text 27"/>
          <p:cNvSpPr txBox="1"/>
          <p:nvPr/>
        </p:nvSpPr>
        <p:spPr>
          <a:xfrm>
            <a:off x="6551676" y="5724144"/>
            <a:ext cx="4892040" cy="310896"/>
          </a:xfrm>
          <a:prstGeom prst="rect">
            <a:avLst/>
          </a:prstGeom>
          <a:noFill/>
          <a:ln/>
        </p:spPr>
        <p:txBody>
          <a:bodyPr wrap="square" lIns="0" tIns="0" rIns="0" bIns="0" rtlCol="0" anchor="ctr"/>
          <a:lstStyle/>
          <a:p>
            <a:pPr marL="0" indent="0" algn="l">
              <a:buNone/>
            </a:pPr>
            <a:r>
              <a:rPr lang="en-US" sz="1200" dirty="0">
                <a:solidFill>
                  <a:srgbClr val="6E6E6E"/>
                </a:solidFill>
                <a:latin typeface="Calibri" pitchFamily="34" charset="0"/>
                <a:ea typeface="Calibri" pitchFamily="34" charset="-122"/>
                <a:cs typeface="Calibri" pitchFamily="34" charset="-120"/>
              </a:rPr>
              <a:t>공백 마감 · 28일 완주 QA · 연출 · 사운드 보강   ·   최종 제출</a:t>
            </a:r>
            <a:endParaRPr lang="en-US" sz="1200" dirty="0"/>
          </a:p>
        </p:txBody>
      </p:sp>
      <p:sp>
        <p:nvSpPr>
          <p:cNvPr id="30" name="Text 28"/>
          <p:cNvSpPr txBox="1"/>
          <p:nvPr/>
        </p:nvSpPr>
        <p:spPr>
          <a:xfrm>
            <a:off x="640080" y="6355080"/>
            <a:ext cx="5486400" cy="256032"/>
          </a:xfrm>
          <a:prstGeom prst="rect">
            <a:avLst/>
          </a:prstGeom>
          <a:noFill/>
          <a:ln/>
        </p:spPr>
        <p:txBody>
          <a:bodyPr wrap="square" lIns="0" tIns="0" rIns="0" bIns="0" rtlCol="0" anchor="ctr"/>
          <a:lstStyle/>
          <a:p>
            <a:pPr marL="0" indent="0">
              <a:buNone/>
            </a:pPr>
            <a:r>
              <a:rPr lang="en-US" sz="900" dirty="0">
                <a:solidFill>
                  <a:srgbClr val="6E6E6E"/>
                </a:solidFill>
                <a:latin typeface="Calibri" pitchFamily="34" charset="0"/>
                <a:ea typeface="Calibri" pitchFamily="34" charset="-122"/>
                <a:cs typeface="Calibri" pitchFamily="34" charset="-120"/>
              </a:rPr>
              <a:t>수성록 (Tower and Dragons) · 최종 결과 보고</a:t>
            </a:r>
            <a:endParaRPr lang="en-US" sz="900" dirty="0"/>
          </a:p>
        </p:txBody>
      </p:sp>
      <p:sp>
        <p:nvSpPr>
          <p:cNvPr id="31" name="Text 29"/>
          <p:cNvSpPr txBox="1"/>
          <p:nvPr/>
        </p:nvSpPr>
        <p:spPr>
          <a:xfrm>
            <a:off x="6062472" y="6355080"/>
            <a:ext cx="5486400" cy="256032"/>
          </a:xfrm>
          <a:prstGeom prst="rect">
            <a:avLst/>
          </a:prstGeom>
          <a:noFill/>
          <a:ln/>
        </p:spPr>
        <p:txBody>
          <a:bodyPr wrap="square" lIns="0" tIns="0" rIns="0" bIns="0" rtlCol="0" anchor="ctr"/>
          <a:lstStyle/>
          <a:p>
            <a:pPr marL="0" indent="0" algn="r">
              <a:buNone/>
            </a:pPr>
            <a:r>
              <a:rPr lang="en-US" sz="900" dirty="0">
                <a:solidFill>
                  <a:srgbClr val="6E6E6E"/>
                </a:solidFill>
                <a:latin typeface="Calibri" pitchFamily="34" charset="0"/>
                <a:ea typeface="Calibri" pitchFamily="34" charset="-122"/>
                <a:cs typeface="Calibri" pitchFamily="34" charset="-120"/>
              </a:rPr>
              <a:t>03 — 수행 절차 및 방법</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B2B2B"/>
        </a:solidFill>
        <a:effectLst/>
      </p:bgPr>
    </p:bg>
    <p:spTree>
      <p:nvGrpSpPr>
        <p:cNvPr id="1" name=""/>
        <p:cNvGrpSpPr/>
        <p:nvPr/>
      </p:nvGrpSpPr>
      <p:grpSpPr>
        <a:xfrm>
          <a:off x="0" y="0"/>
          <a:ext cx="0" cy="0"/>
          <a:chOff x="0" y="0"/>
          <a:chExt cx="0" cy="0"/>
        </a:xfrm>
      </p:grpSpPr>
      <p:sp>
        <p:nvSpPr>
          <p:cNvPr id="2" name="Text 0"/>
          <p:cNvSpPr txBox="1"/>
          <p:nvPr/>
        </p:nvSpPr>
        <p:spPr>
          <a:xfrm>
            <a:off x="640080" y="2377440"/>
            <a:ext cx="1828800" cy="457200"/>
          </a:xfrm>
          <a:prstGeom prst="rect">
            <a:avLst/>
          </a:prstGeom>
          <a:noFill/>
          <a:ln/>
        </p:spPr>
        <p:txBody>
          <a:bodyPr wrap="square" lIns="0" tIns="0" rIns="0" bIns="0" rtlCol="0" anchor="ctr"/>
          <a:lstStyle/>
          <a:p>
            <a:pPr marL="0" indent="0">
              <a:buNone/>
            </a:pPr>
            <a:r>
              <a:rPr lang="en-US" sz="1400" b="1" dirty="0">
                <a:solidFill>
                  <a:srgbClr val="B85042"/>
                </a:solidFill>
                <a:latin typeface="Calibri" pitchFamily="34" charset="0"/>
                <a:ea typeface="Calibri" pitchFamily="34" charset="-122"/>
                <a:cs typeface="Calibri" pitchFamily="34" charset="-120"/>
              </a:rPr>
              <a:t>04</a:t>
            </a:r>
            <a:endParaRPr lang="en-US" sz="1400" dirty="0"/>
          </a:p>
        </p:txBody>
      </p:sp>
      <p:sp>
        <p:nvSpPr>
          <p:cNvPr id="3" name="Text 1"/>
          <p:cNvSpPr txBox="1"/>
          <p:nvPr/>
        </p:nvSpPr>
        <p:spPr>
          <a:xfrm>
            <a:off x="640080" y="2834640"/>
            <a:ext cx="10908792"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프로젝트 수행 경과</a:t>
            </a:r>
            <a:endParaRPr lang="en-US" sz="4400" dirty="0"/>
          </a:p>
        </p:txBody>
      </p:sp>
      <p:sp>
        <p:nvSpPr>
          <p:cNvPr id="4" name="Text 2"/>
          <p:cNvSpPr txBox="1"/>
          <p:nvPr/>
        </p:nvSpPr>
        <p:spPr>
          <a:xfrm>
            <a:off x="640080" y="3840480"/>
            <a:ext cx="10908792" cy="365760"/>
          </a:xfrm>
          <a:prstGeom prst="rect">
            <a:avLst/>
          </a:prstGeom>
          <a:noFill/>
          <a:ln/>
        </p:spPr>
        <p:txBody>
          <a:bodyPr wrap="square" lIns="0" tIns="0" rIns="0" bIns="0" rtlCol="0" anchor="ctr"/>
          <a:lstStyle/>
          <a:p>
            <a:pPr marL="0" indent="0">
              <a:buNone/>
            </a:pPr>
            <a:r>
              <a:rPr lang="en-US" sz="1500" dirty="0">
                <a:solidFill>
                  <a:srgbClr val="CFCFCF"/>
                </a:solidFill>
                <a:latin typeface="Calibri" pitchFamily="34" charset="0"/>
                <a:ea typeface="Calibri" pitchFamily="34" charset="-122"/>
                <a:cs typeface="Calibri" pitchFamily="34" charset="-120"/>
              </a:rPr>
              <a:t>아키텍처 · 결합도 분리 · 설계 패턴 · 최적화 · 개발 도구</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47472"/>
            <a:ext cx="10908792" cy="256032"/>
          </a:xfrm>
          <a:prstGeom prst="rect">
            <a:avLst/>
          </a:prstGeom>
          <a:noFill/>
          <a:ln/>
        </p:spPr>
        <p:txBody>
          <a:bodyPr wrap="square" lIns="0" tIns="0" rIns="0" bIns="0" rtlCol="0" anchor="ctr"/>
          <a:lstStyle/>
          <a:p>
            <a:pPr marL="0" indent="0">
              <a:buNone/>
            </a:pPr>
            <a:r>
              <a:rPr lang="en-US" sz="1100" b="1" dirty="0">
                <a:solidFill>
                  <a:srgbClr val="B85042"/>
                </a:solidFill>
                <a:latin typeface="Calibri" pitchFamily="34" charset="0"/>
                <a:ea typeface="Calibri" pitchFamily="34" charset="-122"/>
                <a:cs typeface="Calibri" pitchFamily="34" charset="-120"/>
              </a:rPr>
              <a:t>04</a:t>
            </a:r>
            <a:r>
              <a:rPr lang="en-US" sz="1100" dirty="0">
                <a:solidFill>
                  <a:srgbClr val="6E6E6E"/>
                </a:solidFill>
                <a:latin typeface="Calibri" pitchFamily="34" charset="0"/>
                <a:ea typeface="Calibri" pitchFamily="34" charset="-122"/>
                <a:cs typeface="Calibri" pitchFamily="34" charset="-120"/>
              </a:rPr>
              <a:t>   핵심 기술 구현</a:t>
            </a:r>
            <a:endParaRPr lang="en-US" sz="1100" dirty="0"/>
          </a:p>
        </p:txBody>
      </p:sp>
      <p:sp>
        <p:nvSpPr>
          <p:cNvPr id="3" name="Text 1"/>
          <p:cNvSpPr txBox="1"/>
          <p:nvPr/>
        </p:nvSpPr>
        <p:spPr>
          <a:xfrm>
            <a:off x="640080" y="621792"/>
            <a:ext cx="10908792" cy="640080"/>
          </a:xfrm>
          <a:prstGeom prst="rect">
            <a:avLst/>
          </a:prstGeom>
          <a:noFill/>
          <a:ln/>
        </p:spPr>
        <p:txBody>
          <a:bodyPr wrap="square" lIns="0" tIns="0" rIns="0" bIns="0" rtlCol="0" anchor="t"/>
          <a:lstStyle/>
          <a:p>
            <a:pPr marL="0" indent="0">
              <a:buNone/>
            </a:pPr>
            <a:r>
              <a:rPr lang="en-US" sz="3000" b="1" dirty="0">
                <a:solidFill>
                  <a:srgbClr val="1A1A1A"/>
                </a:solidFill>
                <a:latin typeface="Calibri" pitchFamily="34" charset="0"/>
                <a:ea typeface="Calibri" pitchFamily="34" charset="-122"/>
                <a:cs typeface="Calibri" pitchFamily="34" charset="-120"/>
              </a:rPr>
              <a:t>아키텍처 — 4계층 구조</a:t>
            </a:r>
            <a:endParaRPr lang="en-US" sz="3000" dirty="0"/>
          </a:p>
        </p:txBody>
      </p:sp>
      <p:sp>
        <p:nvSpPr>
          <p:cNvPr id="4" name="Text 2"/>
          <p:cNvSpPr txBox="1"/>
          <p:nvPr/>
        </p:nvSpPr>
        <p:spPr>
          <a:xfrm>
            <a:off x="640080" y="1280160"/>
            <a:ext cx="10908792" cy="292608"/>
          </a:xfrm>
          <a:prstGeom prst="rect">
            <a:avLst/>
          </a:prstGeom>
          <a:noFill/>
          <a:ln/>
        </p:spPr>
        <p:txBody>
          <a:bodyPr wrap="square" lIns="0" tIns="0" rIns="0" bIns="0" rtlCol="0" anchor="ctr"/>
          <a:lstStyle/>
          <a:p>
            <a:pPr marL="0" indent="0">
              <a:buNone/>
            </a:pPr>
            <a:r>
              <a:rPr lang="en-US" sz="1300" dirty="0">
                <a:solidFill>
                  <a:srgbClr val="6E6E6E"/>
                </a:solidFill>
                <a:latin typeface="Calibri" pitchFamily="34" charset="0"/>
                <a:ea typeface="Calibri" pitchFamily="34" charset="-122"/>
                <a:cs typeface="Calibri" pitchFamily="34" charset="-120"/>
              </a:rPr>
              <a:t>윗층은 아래층만 참조하고, 아래층은 위층의 존재를 모른다</a:t>
            </a:r>
            <a:endParaRPr lang="en-US" sz="1300" dirty="0"/>
          </a:p>
        </p:txBody>
      </p:sp>
      <p:sp>
        <p:nvSpPr>
          <p:cNvPr id="5" name="Shape 3"/>
          <p:cNvSpPr/>
          <p:nvPr/>
        </p:nvSpPr>
        <p:spPr>
          <a:xfrm>
            <a:off x="1325880" y="1965960"/>
            <a:ext cx="9692640" cy="713232"/>
          </a:xfrm>
          <a:prstGeom prst="rect">
            <a:avLst/>
          </a:prstGeom>
          <a:solidFill>
            <a:srgbClr val="F1F1F1"/>
          </a:solidFill>
          <a:ln w="12700">
            <a:solidFill>
              <a:srgbClr val="D8D8D8"/>
            </a:solidFill>
            <a:prstDash val="solid"/>
          </a:ln>
        </p:spPr>
      </p:sp>
      <p:sp>
        <p:nvSpPr>
          <p:cNvPr id="6" name="Text 4"/>
          <p:cNvSpPr txBox="1"/>
          <p:nvPr/>
        </p:nvSpPr>
        <p:spPr>
          <a:xfrm>
            <a:off x="1554480" y="1965960"/>
            <a:ext cx="1188720" cy="713232"/>
          </a:xfrm>
          <a:prstGeom prst="rect">
            <a:avLst/>
          </a:prstGeom>
          <a:noFill/>
          <a:ln/>
        </p:spPr>
        <p:txBody>
          <a:bodyPr wrap="square" lIns="0" tIns="0" rIns="0" bIns="0" rtlCol="0" anchor="ctr"/>
          <a:lstStyle/>
          <a:p>
            <a:pPr marL="0" indent="0">
              <a:buNone/>
            </a:pPr>
            <a:r>
              <a:rPr lang="en-US" sz="1600" b="1" dirty="0">
                <a:solidFill>
                  <a:srgbClr val="1A1A1A"/>
                </a:solidFill>
                <a:latin typeface="Calibri" pitchFamily="34" charset="0"/>
                <a:ea typeface="Calibri" pitchFamily="34" charset="-122"/>
                <a:cs typeface="Calibri" pitchFamily="34" charset="-120"/>
              </a:rPr>
              <a:t>표현</a:t>
            </a:r>
            <a:endParaRPr lang="en-US" sz="1600" dirty="0"/>
          </a:p>
        </p:txBody>
      </p:sp>
      <p:sp>
        <p:nvSpPr>
          <p:cNvPr id="7" name="Text 5"/>
          <p:cNvSpPr txBox="1"/>
          <p:nvPr/>
        </p:nvSpPr>
        <p:spPr>
          <a:xfrm>
            <a:off x="2788920" y="1965960"/>
            <a:ext cx="3200400" cy="713232"/>
          </a:xfrm>
          <a:prstGeom prst="rect">
            <a:avLst/>
          </a:prstGeom>
          <a:noFill/>
          <a:ln/>
        </p:spPr>
        <p:txBody>
          <a:bodyPr wrap="square" lIns="0" tIns="0" rIns="0" bIns="0" rtlCol="0" anchor="ctr"/>
          <a:lstStyle/>
          <a:p>
            <a:pPr marL="0" indent="0">
              <a:buNone/>
            </a:pPr>
            <a:r>
              <a:rPr lang="en-US" sz="1300" b="1" dirty="0">
                <a:solidFill>
                  <a:srgbClr val="1A1A1A"/>
                </a:solidFill>
                <a:latin typeface="Calibri" pitchFamily="34" charset="0"/>
                <a:ea typeface="Calibri" pitchFamily="34" charset="-122"/>
                <a:cs typeface="Calibri" pitchFamily="34" charset="-120"/>
              </a:rPr>
              <a:t>UI · VFX · Sound</a:t>
            </a:r>
            <a:endParaRPr lang="en-US" sz="1300" dirty="0"/>
          </a:p>
        </p:txBody>
      </p:sp>
      <p:sp>
        <p:nvSpPr>
          <p:cNvPr id="8" name="Text 6"/>
          <p:cNvSpPr txBox="1"/>
          <p:nvPr/>
        </p:nvSpPr>
        <p:spPr>
          <a:xfrm>
            <a:off x="6080760" y="1965960"/>
            <a:ext cx="4709160" cy="713232"/>
          </a:xfrm>
          <a:prstGeom prst="rect">
            <a:avLst/>
          </a:prstGeom>
          <a:noFill/>
          <a:ln/>
        </p:spPr>
        <p:txBody>
          <a:bodyPr wrap="square" lIns="0" tIns="0" rIns="0" bIns="0" rtlCol="0" anchor="ctr"/>
          <a:lstStyle/>
          <a:p>
            <a:pPr marL="0" indent="0">
              <a:buNone/>
            </a:pPr>
            <a:r>
              <a:rPr lang="en-US" sz="1200" dirty="0">
                <a:solidFill>
                  <a:srgbClr val="1A1A1A"/>
                </a:solidFill>
                <a:latin typeface="Calibri" pitchFamily="34" charset="0"/>
                <a:ea typeface="Calibri" pitchFamily="34" charset="-122"/>
                <a:cs typeface="Calibri" pitchFamily="34" charset="-120"/>
              </a:rPr>
              <a:t>이벤트를 구독만 한다. 게임 규칙을 갖지 않는다</a:t>
            </a:r>
            <a:endParaRPr lang="en-US" sz="1200" dirty="0"/>
          </a:p>
        </p:txBody>
      </p:sp>
      <p:sp>
        <p:nvSpPr>
          <p:cNvPr id="9" name="Shape 7"/>
          <p:cNvSpPr/>
          <p:nvPr/>
        </p:nvSpPr>
        <p:spPr>
          <a:xfrm>
            <a:off x="1325880" y="2807208"/>
            <a:ext cx="9692640" cy="713232"/>
          </a:xfrm>
          <a:prstGeom prst="rect">
            <a:avLst/>
          </a:prstGeom>
          <a:solidFill>
            <a:srgbClr val="E4E4E4"/>
          </a:solidFill>
          <a:ln w="12700">
            <a:solidFill>
              <a:srgbClr val="E4E4E4"/>
            </a:solidFill>
            <a:prstDash val="solid"/>
          </a:ln>
        </p:spPr>
      </p:sp>
      <p:sp>
        <p:nvSpPr>
          <p:cNvPr id="10" name="Text 8"/>
          <p:cNvSpPr txBox="1"/>
          <p:nvPr/>
        </p:nvSpPr>
        <p:spPr>
          <a:xfrm>
            <a:off x="1554480" y="2807208"/>
            <a:ext cx="1188720" cy="713232"/>
          </a:xfrm>
          <a:prstGeom prst="rect">
            <a:avLst/>
          </a:prstGeom>
          <a:noFill/>
          <a:ln/>
        </p:spPr>
        <p:txBody>
          <a:bodyPr wrap="square" lIns="0" tIns="0" rIns="0" bIns="0" rtlCol="0" anchor="ctr"/>
          <a:lstStyle/>
          <a:p>
            <a:pPr marL="0" indent="0">
              <a:buNone/>
            </a:pPr>
            <a:r>
              <a:rPr lang="en-US" sz="1600" b="1" dirty="0">
                <a:solidFill>
                  <a:srgbClr val="1A1A1A"/>
                </a:solidFill>
                <a:latin typeface="Calibri" pitchFamily="34" charset="0"/>
                <a:ea typeface="Calibri" pitchFamily="34" charset="-122"/>
                <a:cs typeface="Calibri" pitchFamily="34" charset="-120"/>
              </a:rPr>
              <a:t>시스템</a:t>
            </a:r>
            <a:endParaRPr lang="en-US" sz="1600" dirty="0"/>
          </a:p>
        </p:txBody>
      </p:sp>
      <p:sp>
        <p:nvSpPr>
          <p:cNvPr id="11" name="Text 9"/>
          <p:cNvSpPr txBox="1"/>
          <p:nvPr/>
        </p:nvSpPr>
        <p:spPr>
          <a:xfrm>
            <a:off x="2788920" y="2807208"/>
            <a:ext cx="3200400" cy="713232"/>
          </a:xfrm>
          <a:prstGeom prst="rect">
            <a:avLst/>
          </a:prstGeom>
          <a:noFill/>
          <a:ln/>
        </p:spPr>
        <p:txBody>
          <a:bodyPr wrap="square" lIns="0" tIns="0" rIns="0" bIns="0" rtlCol="0" anchor="ctr"/>
          <a:lstStyle/>
          <a:p>
            <a:pPr marL="0" indent="0">
              <a:buNone/>
            </a:pPr>
            <a:r>
              <a:rPr lang="en-US" sz="1300" b="1" dirty="0">
                <a:solidFill>
                  <a:srgbClr val="1A1A1A"/>
                </a:solidFill>
                <a:latin typeface="Calibri" pitchFamily="34" charset="0"/>
                <a:ea typeface="Calibri" pitchFamily="34" charset="-122"/>
                <a:cs typeface="Calibri" pitchFamily="34" charset="-120"/>
              </a:rPr>
              <a:t>Manager · System · Coordinator</a:t>
            </a:r>
            <a:endParaRPr lang="en-US" sz="1300" dirty="0"/>
          </a:p>
        </p:txBody>
      </p:sp>
      <p:sp>
        <p:nvSpPr>
          <p:cNvPr id="12" name="Text 10"/>
          <p:cNvSpPr txBox="1"/>
          <p:nvPr/>
        </p:nvSpPr>
        <p:spPr>
          <a:xfrm>
            <a:off x="6080760" y="2807208"/>
            <a:ext cx="4709160" cy="713232"/>
          </a:xfrm>
          <a:prstGeom prst="rect">
            <a:avLst/>
          </a:prstGeom>
          <a:noFill/>
          <a:ln/>
        </p:spPr>
        <p:txBody>
          <a:bodyPr wrap="square" lIns="0" tIns="0" rIns="0" bIns="0" rtlCol="0" anchor="ctr"/>
          <a:lstStyle/>
          <a:p>
            <a:pPr marL="0" indent="0">
              <a:buNone/>
            </a:pPr>
            <a:r>
              <a:rPr lang="en-US" sz="1200" dirty="0">
                <a:solidFill>
                  <a:srgbClr val="1A1A1A"/>
                </a:solidFill>
                <a:latin typeface="Calibri" pitchFamily="34" charset="0"/>
                <a:ea typeface="Calibri" pitchFamily="34" charset="-122"/>
                <a:cs typeface="Calibri" pitchFamily="34" charset="-120"/>
              </a:rPr>
              <a:t>런타임 동작과 오브젝트 수명을 관리한다</a:t>
            </a:r>
            <a:endParaRPr lang="en-US" sz="1200" dirty="0"/>
          </a:p>
        </p:txBody>
      </p:sp>
      <p:sp>
        <p:nvSpPr>
          <p:cNvPr id="13" name="Shape 11"/>
          <p:cNvSpPr/>
          <p:nvPr/>
        </p:nvSpPr>
        <p:spPr>
          <a:xfrm>
            <a:off x="1325880" y="3648456"/>
            <a:ext cx="9692640" cy="713232"/>
          </a:xfrm>
          <a:prstGeom prst="rect">
            <a:avLst/>
          </a:prstGeom>
          <a:solidFill>
            <a:srgbClr val="D6D6D6"/>
          </a:solidFill>
          <a:ln w="12700">
            <a:solidFill>
              <a:srgbClr val="D6D6D6"/>
            </a:solidFill>
            <a:prstDash val="solid"/>
          </a:ln>
        </p:spPr>
      </p:sp>
      <p:sp>
        <p:nvSpPr>
          <p:cNvPr id="14" name="Text 12"/>
          <p:cNvSpPr txBox="1"/>
          <p:nvPr/>
        </p:nvSpPr>
        <p:spPr>
          <a:xfrm>
            <a:off x="1554480" y="3648456"/>
            <a:ext cx="1188720" cy="713232"/>
          </a:xfrm>
          <a:prstGeom prst="rect">
            <a:avLst/>
          </a:prstGeom>
          <a:noFill/>
          <a:ln/>
        </p:spPr>
        <p:txBody>
          <a:bodyPr wrap="square" lIns="0" tIns="0" rIns="0" bIns="0" rtlCol="0" anchor="ctr"/>
          <a:lstStyle/>
          <a:p>
            <a:pPr marL="0" indent="0">
              <a:buNone/>
            </a:pPr>
            <a:r>
              <a:rPr lang="en-US" sz="1600" b="1" dirty="0">
                <a:solidFill>
                  <a:srgbClr val="1A1A1A"/>
                </a:solidFill>
                <a:latin typeface="Calibri" pitchFamily="34" charset="0"/>
                <a:ea typeface="Calibri" pitchFamily="34" charset="-122"/>
                <a:cs typeface="Calibri" pitchFamily="34" charset="-120"/>
              </a:rPr>
              <a:t>규칙</a:t>
            </a:r>
            <a:endParaRPr lang="en-US" sz="1600" dirty="0"/>
          </a:p>
        </p:txBody>
      </p:sp>
      <p:sp>
        <p:nvSpPr>
          <p:cNvPr id="15" name="Text 13"/>
          <p:cNvSpPr txBox="1"/>
          <p:nvPr/>
        </p:nvSpPr>
        <p:spPr>
          <a:xfrm>
            <a:off x="2788920" y="3648456"/>
            <a:ext cx="3200400" cy="713232"/>
          </a:xfrm>
          <a:prstGeom prst="rect">
            <a:avLst/>
          </a:prstGeom>
          <a:noFill/>
          <a:ln/>
        </p:spPr>
        <p:txBody>
          <a:bodyPr wrap="square" lIns="0" tIns="0" rIns="0" bIns="0" rtlCol="0" anchor="ctr"/>
          <a:lstStyle/>
          <a:p>
            <a:pPr marL="0" indent="0">
              <a:buNone/>
            </a:pPr>
            <a:r>
              <a:rPr lang="en-US" sz="1300" b="1" dirty="0">
                <a:solidFill>
                  <a:srgbClr val="1A1A1A"/>
                </a:solidFill>
                <a:latin typeface="Calibri" pitchFamily="34" charset="0"/>
                <a:ea typeface="Calibri" pitchFamily="34" charset="-122"/>
                <a:cs typeface="Calibri" pitchFamily="34" charset="-120"/>
              </a:rPr>
              <a:t>static Rules 클래스 15개</a:t>
            </a:r>
            <a:endParaRPr lang="en-US" sz="1300" dirty="0"/>
          </a:p>
        </p:txBody>
      </p:sp>
      <p:sp>
        <p:nvSpPr>
          <p:cNvPr id="16" name="Text 14"/>
          <p:cNvSpPr txBox="1"/>
          <p:nvPr/>
        </p:nvSpPr>
        <p:spPr>
          <a:xfrm>
            <a:off x="6080760" y="3648456"/>
            <a:ext cx="4709160" cy="713232"/>
          </a:xfrm>
          <a:prstGeom prst="rect">
            <a:avLst/>
          </a:prstGeom>
          <a:noFill/>
          <a:ln/>
        </p:spPr>
        <p:txBody>
          <a:bodyPr wrap="square" lIns="0" tIns="0" rIns="0" bIns="0" rtlCol="0" anchor="ctr"/>
          <a:lstStyle/>
          <a:p>
            <a:pPr marL="0" indent="0">
              <a:buNone/>
            </a:pPr>
            <a:r>
              <a:rPr lang="en-US" sz="1200" dirty="0">
                <a:solidFill>
                  <a:srgbClr val="1A1A1A"/>
                </a:solidFill>
                <a:latin typeface="Calibri" pitchFamily="34" charset="0"/>
                <a:ea typeface="Calibri" pitchFamily="34" charset="-122"/>
                <a:cs typeface="Calibri" pitchFamily="34" charset="-120"/>
              </a:rPr>
              <a:t>상태 없는 순수 함수. 씬 없이 검증할 수 있다</a:t>
            </a:r>
            <a:endParaRPr lang="en-US" sz="1200" dirty="0"/>
          </a:p>
        </p:txBody>
      </p:sp>
      <p:sp>
        <p:nvSpPr>
          <p:cNvPr id="17" name="Shape 15"/>
          <p:cNvSpPr/>
          <p:nvPr/>
        </p:nvSpPr>
        <p:spPr>
          <a:xfrm>
            <a:off x="1325880" y="4489704"/>
            <a:ext cx="9692640" cy="713232"/>
          </a:xfrm>
          <a:prstGeom prst="rect">
            <a:avLst/>
          </a:prstGeom>
          <a:solidFill>
            <a:srgbClr val="2B2B2B"/>
          </a:solidFill>
          <a:ln w="12700">
            <a:solidFill>
              <a:srgbClr val="2B2B2B"/>
            </a:solidFill>
            <a:prstDash val="solid"/>
          </a:ln>
        </p:spPr>
      </p:sp>
      <p:sp>
        <p:nvSpPr>
          <p:cNvPr id="18" name="Text 16"/>
          <p:cNvSpPr txBox="1"/>
          <p:nvPr/>
        </p:nvSpPr>
        <p:spPr>
          <a:xfrm>
            <a:off x="1554480" y="4489704"/>
            <a:ext cx="1188720" cy="713232"/>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데이터</a:t>
            </a:r>
            <a:endParaRPr lang="en-US" sz="1600" dirty="0"/>
          </a:p>
        </p:txBody>
      </p:sp>
      <p:sp>
        <p:nvSpPr>
          <p:cNvPr id="19" name="Text 17"/>
          <p:cNvSpPr txBox="1"/>
          <p:nvPr/>
        </p:nvSpPr>
        <p:spPr>
          <a:xfrm>
            <a:off x="2788920" y="4489704"/>
            <a:ext cx="3200400" cy="713232"/>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ScriptableObject · CSV</a:t>
            </a:r>
            <a:endParaRPr lang="en-US" sz="1300" dirty="0"/>
          </a:p>
        </p:txBody>
      </p:sp>
      <p:sp>
        <p:nvSpPr>
          <p:cNvPr id="20" name="Text 18"/>
          <p:cNvSpPr txBox="1"/>
          <p:nvPr/>
        </p:nvSpPr>
        <p:spPr>
          <a:xfrm>
            <a:off x="6080760" y="4489704"/>
            <a:ext cx="4709160" cy="713232"/>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수치와 효과 정의. 코드 수정 없이 교체 가능</a:t>
            </a:r>
            <a:endParaRPr lang="en-US" sz="1200" dirty="0"/>
          </a:p>
        </p:txBody>
      </p:sp>
      <p:sp>
        <p:nvSpPr>
          <p:cNvPr id="21" name="Shape 19"/>
          <p:cNvSpPr/>
          <p:nvPr/>
        </p:nvSpPr>
        <p:spPr>
          <a:xfrm>
            <a:off x="960120" y="2057400"/>
            <a:ext cx="91" cy="3099816"/>
          </a:xfrm>
          <a:prstGeom prst="line">
            <a:avLst/>
          </a:prstGeom>
          <a:noFill/>
          <a:ln w="15875">
            <a:solidFill>
              <a:srgbClr val="B85042"/>
            </a:solidFill>
            <a:prstDash val="solid"/>
            <a:tailEnd type="triangle"/>
          </a:ln>
        </p:spPr>
      </p:sp>
      <p:sp>
        <p:nvSpPr>
          <p:cNvPr id="22" name="Text 20"/>
          <p:cNvSpPr txBox="1"/>
          <p:nvPr/>
        </p:nvSpPr>
        <p:spPr>
          <a:xfrm>
            <a:off x="566928" y="3172968"/>
            <a:ext cx="365760" cy="822960"/>
          </a:xfrm>
          <a:prstGeom prst="rect">
            <a:avLst/>
          </a:prstGeom>
          <a:noFill/>
          <a:ln/>
        </p:spPr>
        <p:txBody>
          <a:bodyPr wrap="square" lIns="0" tIns="0" rIns="0" bIns="0" rtlCol="0" anchor="ctr"/>
          <a:lstStyle/>
          <a:p>
            <a:pPr marL="0" indent="0" algn="ctr">
              <a:buNone/>
            </a:pPr>
            <a:r>
              <a:rPr lang="en-US" sz="1100" b="1" dirty="0">
                <a:solidFill>
                  <a:srgbClr val="B85042"/>
                </a:solidFill>
                <a:latin typeface="Calibri" pitchFamily="34" charset="0"/>
                <a:ea typeface="Calibri" pitchFamily="34" charset="-122"/>
                <a:cs typeface="Calibri" pitchFamily="34" charset="-120"/>
              </a:rPr>
              <a:t>의</a:t>
            </a:r>
            <a:endParaRPr lang="en-US" sz="1100" dirty="0"/>
          </a:p>
          <a:p>
            <a:pPr marL="0" indent="0" algn="ctr">
              <a:buNone/>
            </a:pPr>
            <a:r>
              <a:rPr lang="en-US" sz="1100" b="1" dirty="0">
                <a:solidFill>
                  <a:srgbClr val="B85042"/>
                </a:solidFill>
                <a:latin typeface="Calibri" pitchFamily="34" charset="0"/>
                <a:ea typeface="Calibri" pitchFamily="34" charset="-122"/>
                <a:cs typeface="Calibri" pitchFamily="34" charset="-120"/>
              </a:rPr>
              <a:t>존</a:t>
            </a:r>
            <a:endParaRPr lang="en-US" sz="1100" dirty="0"/>
          </a:p>
        </p:txBody>
      </p:sp>
      <p:sp>
        <p:nvSpPr>
          <p:cNvPr id="23" name="Text 21"/>
          <p:cNvSpPr txBox="1"/>
          <p:nvPr/>
        </p:nvSpPr>
        <p:spPr>
          <a:xfrm>
            <a:off x="640080" y="5440680"/>
            <a:ext cx="10908792" cy="365760"/>
          </a:xfrm>
          <a:prstGeom prst="rect">
            <a:avLst/>
          </a:prstGeom>
          <a:noFill/>
          <a:ln/>
        </p:spPr>
        <p:txBody>
          <a:bodyPr wrap="square" lIns="0" tIns="0" rIns="0" bIns="0" rtlCol="0" anchor="ctr"/>
          <a:lstStyle/>
          <a:p>
            <a:pPr marL="0" indent="0">
              <a:buNone/>
            </a:pPr>
            <a:r>
              <a:rPr lang="en-US" sz="1400" b="1" dirty="0">
                <a:solidFill>
                  <a:srgbClr val="1A1A1A"/>
                </a:solidFill>
                <a:latin typeface="Calibri" pitchFamily="34" charset="0"/>
                <a:ea typeface="Calibri" pitchFamily="34" charset="-122"/>
                <a:cs typeface="Calibri" pitchFamily="34" charset="-120"/>
              </a:rPr>
              <a:t>이 방향을 지켰기 때문에 계산 로직을 씬 없이 실행할 수 있고, 그 결과 단위 테스트 346개를 확보했습니다.</a:t>
            </a:r>
            <a:endParaRPr lang="en-US" sz="1400" dirty="0"/>
          </a:p>
        </p:txBody>
      </p:sp>
      <p:sp>
        <p:nvSpPr>
          <p:cNvPr id="24" name="Text 22"/>
          <p:cNvSpPr txBox="1"/>
          <p:nvPr/>
        </p:nvSpPr>
        <p:spPr>
          <a:xfrm>
            <a:off x="640080" y="5852160"/>
            <a:ext cx="10908792" cy="274320"/>
          </a:xfrm>
          <a:prstGeom prst="rect">
            <a:avLst/>
          </a:prstGeom>
          <a:noFill/>
          <a:ln/>
        </p:spPr>
        <p:txBody>
          <a:bodyPr wrap="square" lIns="0" tIns="0" rIns="0" bIns="0" rtlCol="0" anchor="ctr"/>
          <a:lstStyle/>
          <a:p>
            <a:pPr marL="0" indent="0" algn="l">
              <a:buNone/>
            </a:pPr>
            <a:r>
              <a:rPr lang="en-US" sz="1100" dirty="0">
                <a:solidFill>
                  <a:srgbClr val="6E6E6E"/>
                </a:solidFill>
                <a:latin typeface="Calibri" pitchFamily="34" charset="0"/>
                <a:ea typeface="Calibri" pitchFamily="34" charset="-122"/>
                <a:cs typeface="Calibri" pitchFamily="34" charset="-120"/>
              </a:rPr>
              <a:t>규칙 계층 예 — PopulationUpkeepRules · TowerUpkeepRules · WaveCycleRules · ConquestDurationRules …  (총 15개)</a:t>
            </a:r>
            <a:endParaRPr lang="en-US" sz="1100" dirty="0"/>
          </a:p>
        </p:txBody>
      </p:sp>
      <p:sp>
        <p:nvSpPr>
          <p:cNvPr id="25" name="Text 23"/>
          <p:cNvSpPr txBox="1"/>
          <p:nvPr/>
        </p:nvSpPr>
        <p:spPr>
          <a:xfrm>
            <a:off x="640080" y="6355080"/>
            <a:ext cx="5486400" cy="256032"/>
          </a:xfrm>
          <a:prstGeom prst="rect">
            <a:avLst/>
          </a:prstGeom>
          <a:noFill/>
          <a:ln/>
        </p:spPr>
        <p:txBody>
          <a:bodyPr wrap="square" lIns="0" tIns="0" rIns="0" bIns="0" rtlCol="0" anchor="ctr"/>
          <a:lstStyle/>
          <a:p>
            <a:pPr marL="0" indent="0">
              <a:buNone/>
            </a:pPr>
            <a:r>
              <a:rPr lang="en-US" sz="900" dirty="0">
                <a:solidFill>
                  <a:srgbClr val="6E6E6E"/>
                </a:solidFill>
                <a:latin typeface="Calibri" pitchFamily="34" charset="0"/>
                <a:ea typeface="Calibri" pitchFamily="34" charset="-122"/>
                <a:cs typeface="Calibri" pitchFamily="34" charset="-120"/>
              </a:rPr>
              <a:t>수성록 (Tower and Dragons) · 최종 결과 보고</a:t>
            </a:r>
            <a:endParaRPr lang="en-US" sz="900" dirty="0"/>
          </a:p>
        </p:txBody>
      </p:sp>
      <p:sp>
        <p:nvSpPr>
          <p:cNvPr id="26" name="Text 24"/>
          <p:cNvSpPr txBox="1"/>
          <p:nvPr/>
        </p:nvSpPr>
        <p:spPr>
          <a:xfrm>
            <a:off x="6062472" y="6355080"/>
            <a:ext cx="5486400" cy="256032"/>
          </a:xfrm>
          <a:prstGeom prst="rect">
            <a:avLst/>
          </a:prstGeom>
          <a:noFill/>
          <a:ln/>
        </p:spPr>
        <p:txBody>
          <a:bodyPr wrap="square" lIns="0" tIns="0" rIns="0" bIns="0" rtlCol="0" anchor="ctr"/>
          <a:lstStyle/>
          <a:p>
            <a:pPr marL="0" indent="0" algn="r">
              <a:buNone/>
            </a:pPr>
            <a:r>
              <a:rPr lang="en-US" sz="900" dirty="0">
                <a:solidFill>
                  <a:srgbClr val="6E6E6E"/>
                </a:solidFill>
                <a:latin typeface="Calibri" pitchFamily="34" charset="0"/>
                <a:ea typeface="Calibri" pitchFamily="34" charset="-122"/>
                <a:cs typeface="Calibri" pitchFamily="34" charset="-120"/>
              </a:rPr>
              <a:t>04 — 핵심 기술 구현</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47472"/>
            <a:ext cx="10908792" cy="256032"/>
          </a:xfrm>
          <a:prstGeom prst="rect">
            <a:avLst/>
          </a:prstGeom>
          <a:noFill/>
          <a:ln/>
        </p:spPr>
        <p:txBody>
          <a:bodyPr wrap="square" lIns="0" tIns="0" rIns="0" bIns="0" rtlCol="0" anchor="ctr"/>
          <a:lstStyle/>
          <a:p>
            <a:pPr marL="0" indent="0">
              <a:buNone/>
            </a:pPr>
            <a:r>
              <a:rPr lang="en-US" sz="1100" b="1" dirty="0">
                <a:solidFill>
                  <a:srgbClr val="B85042"/>
                </a:solidFill>
                <a:latin typeface="Calibri" pitchFamily="34" charset="0"/>
                <a:ea typeface="Calibri" pitchFamily="34" charset="-122"/>
                <a:cs typeface="Calibri" pitchFamily="34" charset="-120"/>
              </a:rPr>
              <a:t>04</a:t>
            </a:r>
            <a:r>
              <a:rPr lang="en-US" sz="1100" dirty="0">
                <a:solidFill>
                  <a:srgbClr val="6E6E6E"/>
                </a:solidFill>
                <a:latin typeface="Calibri" pitchFamily="34" charset="0"/>
                <a:ea typeface="Calibri" pitchFamily="34" charset="-122"/>
                <a:cs typeface="Calibri" pitchFamily="34" charset="-120"/>
              </a:rPr>
              <a:t>   핵심 기술 구현</a:t>
            </a:r>
            <a:endParaRPr lang="en-US" sz="1100" dirty="0"/>
          </a:p>
        </p:txBody>
      </p:sp>
      <p:sp>
        <p:nvSpPr>
          <p:cNvPr id="3" name="Text 1"/>
          <p:cNvSpPr txBox="1"/>
          <p:nvPr/>
        </p:nvSpPr>
        <p:spPr>
          <a:xfrm>
            <a:off x="640080" y="621792"/>
            <a:ext cx="10908792" cy="640080"/>
          </a:xfrm>
          <a:prstGeom prst="rect">
            <a:avLst/>
          </a:prstGeom>
          <a:noFill/>
          <a:ln/>
        </p:spPr>
        <p:txBody>
          <a:bodyPr wrap="square" lIns="0" tIns="0" rIns="0" bIns="0" rtlCol="0" anchor="t"/>
          <a:lstStyle/>
          <a:p>
            <a:pPr marL="0" indent="0">
              <a:buNone/>
            </a:pPr>
            <a:r>
              <a:rPr lang="en-US" sz="3000" b="1" dirty="0">
                <a:solidFill>
                  <a:srgbClr val="1A1A1A"/>
                </a:solidFill>
                <a:latin typeface="Calibri" pitchFamily="34" charset="0"/>
                <a:ea typeface="Calibri" pitchFamily="34" charset="-122"/>
                <a:cs typeface="Calibri" pitchFamily="34" charset="-120"/>
              </a:rPr>
              <a:t>결합도 분리 — 의존 방향을 뒤집는다</a:t>
            </a:r>
            <a:endParaRPr lang="en-US" sz="3000" dirty="0"/>
          </a:p>
        </p:txBody>
      </p:sp>
      <p:sp>
        <p:nvSpPr>
          <p:cNvPr id="4" name="Text 2"/>
          <p:cNvSpPr txBox="1"/>
          <p:nvPr/>
        </p:nvSpPr>
        <p:spPr>
          <a:xfrm>
            <a:off x="640080" y="1280160"/>
            <a:ext cx="10908792" cy="292608"/>
          </a:xfrm>
          <a:prstGeom prst="rect">
            <a:avLst/>
          </a:prstGeom>
          <a:noFill/>
          <a:ln/>
        </p:spPr>
        <p:txBody>
          <a:bodyPr wrap="square" lIns="0" tIns="0" rIns="0" bIns="0" rtlCol="0" anchor="ctr"/>
          <a:lstStyle/>
          <a:p>
            <a:pPr marL="0" indent="0">
              <a:buNone/>
            </a:pPr>
            <a:r>
              <a:rPr lang="en-US" sz="1300" dirty="0">
                <a:solidFill>
                  <a:srgbClr val="6E6E6E"/>
                </a:solidFill>
                <a:latin typeface="Calibri" pitchFamily="34" charset="0"/>
                <a:ea typeface="Calibri" pitchFamily="34" charset="-122"/>
                <a:cs typeface="Calibri" pitchFamily="34" charset="-120"/>
              </a:rPr>
              <a:t>타워 하나의 공격력에 연구 · 어미용 · 새끼용 · 지형이 동시에 개입하는 문제</a:t>
            </a:r>
            <a:endParaRPr lang="en-US" sz="1300" dirty="0"/>
          </a:p>
        </p:txBody>
      </p:sp>
      <p:sp>
        <p:nvSpPr>
          <p:cNvPr id="5" name="Text 3"/>
          <p:cNvSpPr txBox="1"/>
          <p:nvPr/>
        </p:nvSpPr>
        <p:spPr>
          <a:xfrm>
            <a:off x="640080" y="2057400"/>
            <a:ext cx="5120640" cy="310896"/>
          </a:xfrm>
          <a:prstGeom prst="rect">
            <a:avLst/>
          </a:prstGeom>
          <a:noFill/>
          <a:ln/>
        </p:spPr>
        <p:txBody>
          <a:bodyPr wrap="square" lIns="0" tIns="0" rIns="0" bIns="0" rtlCol="0" anchor="ctr"/>
          <a:lstStyle/>
          <a:p>
            <a:pPr marL="0" indent="0">
              <a:buNone/>
            </a:pPr>
            <a:r>
              <a:rPr lang="en-US" sz="1500" b="1" dirty="0">
                <a:solidFill>
                  <a:srgbClr val="6E6E6E"/>
                </a:solidFill>
                <a:latin typeface="Calibri" pitchFamily="34" charset="0"/>
                <a:ea typeface="Calibri" pitchFamily="34" charset="-122"/>
                <a:cs typeface="Calibri" pitchFamily="34" charset="-120"/>
              </a:rPr>
              <a:t>직접 참조했다면</a:t>
            </a:r>
            <a:endParaRPr lang="en-US" sz="1500" dirty="0"/>
          </a:p>
        </p:txBody>
      </p:sp>
      <p:sp>
        <p:nvSpPr>
          <p:cNvPr id="6" name="Shape 4"/>
          <p:cNvSpPr/>
          <p:nvPr/>
        </p:nvSpPr>
        <p:spPr>
          <a:xfrm>
            <a:off x="2057400" y="2560320"/>
            <a:ext cx="2286000" cy="685800"/>
          </a:xfrm>
          <a:prstGeom prst="rect">
            <a:avLst/>
          </a:prstGeom>
          <a:solidFill>
            <a:srgbClr val="F1F1F1"/>
          </a:solidFill>
          <a:ln w="12700">
            <a:solidFill>
              <a:srgbClr val="D8D8D8"/>
            </a:solidFill>
            <a:prstDash val="solid"/>
          </a:ln>
        </p:spPr>
      </p:sp>
      <p:sp>
        <p:nvSpPr>
          <p:cNvPr id="7" name="Text 5"/>
          <p:cNvSpPr txBox="1"/>
          <p:nvPr/>
        </p:nvSpPr>
        <p:spPr>
          <a:xfrm>
            <a:off x="2057400" y="2560320"/>
            <a:ext cx="2286000" cy="685800"/>
          </a:xfrm>
          <a:prstGeom prst="rect">
            <a:avLst/>
          </a:prstGeom>
          <a:noFill/>
          <a:ln/>
        </p:spPr>
        <p:txBody>
          <a:bodyPr wrap="square" lIns="38100" tIns="38100" rIns="38100" bIns="38100" rtlCol="0" anchor="ctr"/>
          <a:lstStyle/>
          <a:p>
            <a:pPr marL="0" indent="0" algn="ctr">
              <a:lnSpc>
                <a:spcPct val="115000"/>
              </a:lnSpc>
              <a:buNone/>
            </a:pPr>
            <a:r>
              <a:rPr lang="en-US" sz="1600" b="1" dirty="0">
                <a:solidFill>
                  <a:srgbClr val="1A1A1A"/>
                </a:solidFill>
                <a:latin typeface="Calibri" pitchFamily="34" charset="0"/>
                <a:ea typeface="Calibri" pitchFamily="34" charset="-122"/>
                <a:cs typeface="Calibri" pitchFamily="34" charset="-120"/>
              </a:rPr>
              <a:t>Tower</a:t>
            </a:r>
            <a:endParaRPr lang="en-US" sz="1600" dirty="0"/>
          </a:p>
        </p:txBody>
      </p:sp>
      <p:sp>
        <p:nvSpPr>
          <p:cNvPr id="8" name="Shape 6"/>
          <p:cNvSpPr/>
          <p:nvPr/>
        </p:nvSpPr>
        <p:spPr>
          <a:xfrm>
            <a:off x="640080" y="4434840"/>
            <a:ext cx="1170432" cy="603504"/>
          </a:xfrm>
          <a:prstGeom prst="rect">
            <a:avLst/>
          </a:prstGeom>
          <a:solidFill>
            <a:srgbClr val="FFFFFF"/>
          </a:solidFill>
          <a:ln w="12700">
            <a:solidFill>
              <a:srgbClr val="D8D8D8"/>
            </a:solidFill>
            <a:prstDash val="solid"/>
          </a:ln>
        </p:spPr>
      </p:sp>
      <p:sp>
        <p:nvSpPr>
          <p:cNvPr id="9" name="Text 7"/>
          <p:cNvSpPr txBox="1"/>
          <p:nvPr/>
        </p:nvSpPr>
        <p:spPr>
          <a:xfrm>
            <a:off x="640080" y="4434840"/>
            <a:ext cx="1170432" cy="603504"/>
          </a:xfrm>
          <a:prstGeom prst="rect">
            <a:avLst/>
          </a:prstGeom>
          <a:noFill/>
          <a:ln/>
        </p:spPr>
        <p:txBody>
          <a:bodyPr wrap="square" lIns="38100" tIns="38100" rIns="38100" bIns="38100" rtlCol="0" anchor="ctr"/>
          <a:lstStyle/>
          <a:p>
            <a:pPr marL="0" indent="0" algn="ctr">
              <a:lnSpc>
                <a:spcPct val="115000"/>
              </a:lnSpc>
              <a:buNone/>
            </a:pPr>
            <a:r>
              <a:rPr lang="en-US" sz="1300" dirty="0">
                <a:solidFill>
                  <a:srgbClr val="1A1A1A"/>
                </a:solidFill>
                <a:latin typeface="Calibri" pitchFamily="34" charset="0"/>
                <a:ea typeface="Calibri" pitchFamily="34" charset="-122"/>
                <a:cs typeface="Calibri" pitchFamily="34" charset="-120"/>
              </a:rPr>
              <a:t>연구</a:t>
            </a:r>
            <a:endParaRPr lang="en-US" sz="1300" dirty="0"/>
          </a:p>
        </p:txBody>
      </p:sp>
      <p:sp>
        <p:nvSpPr>
          <p:cNvPr id="10" name="Shape 8"/>
          <p:cNvSpPr/>
          <p:nvPr/>
        </p:nvSpPr>
        <p:spPr>
          <a:xfrm>
            <a:off x="1225296" y="3291840"/>
            <a:ext cx="91" cy="1097280"/>
          </a:xfrm>
          <a:prstGeom prst="line">
            <a:avLst/>
          </a:prstGeom>
          <a:noFill/>
          <a:ln w="15875">
            <a:solidFill>
              <a:srgbClr val="6E6E6E"/>
            </a:solidFill>
            <a:prstDash val="solid"/>
            <a:tailEnd type="triangle"/>
          </a:ln>
        </p:spPr>
      </p:sp>
      <p:sp>
        <p:nvSpPr>
          <p:cNvPr id="11" name="Shape 9"/>
          <p:cNvSpPr/>
          <p:nvPr/>
        </p:nvSpPr>
        <p:spPr>
          <a:xfrm>
            <a:off x="1938528" y="4434840"/>
            <a:ext cx="1170432" cy="603504"/>
          </a:xfrm>
          <a:prstGeom prst="rect">
            <a:avLst/>
          </a:prstGeom>
          <a:solidFill>
            <a:srgbClr val="FFFFFF"/>
          </a:solidFill>
          <a:ln w="12700">
            <a:solidFill>
              <a:srgbClr val="D8D8D8"/>
            </a:solidFill>
            <a:prstDash val="solid"/>
          </a:ln>
        </p:spPr>
      </p:sp>
      <p:sp>
        <p:nvSpPr>
          <p:cNvPr id="12" name="Text 10"/>
          <p:cNvSpPr txBox="1"/>
          <p:nvPr/>
        </p:nvSpPr>
        <p:spPr>
          <a:xfrm>
            <a:off x="1938528" y="4434840"/>
            <a:ext cx="1170432" cy="603504"/>
          </a:xfrm>
          <a:prstGeom prst="rect">
            <a:avLst/>
          </a:prstGeom>
          <a:noFill/>
          <a:ln/>
        </p:spPr>
        <p:txBody>
          <a:bodyPr wrap="square" lIns="38100" tIns="38100" rIns="38100" bIns="38100" rtlCol="0" anchor="ctr"/>
          <a:lstStyle/>
          <a:p>
            <a:pPr marL="0" indent="0" algn="ctr">
              <a:lnSpc>
                <a:spcPct val="115000"/>
              </a:lnSpc>
              <a:buNone/>
            </a:pPr>
            <a:r>
              <a:rPr lang="en-US" sz="1300" dirty="0">
                <a:solidFill>
                  <a:srgbClr val="1A1A1A"/>
                </a:solidFill>
                <a:latin typeface="Calibri" pitchFamily="34" charset="0"/>
                <a:ea typeface="Calibri" pitchFamily="34" charset="-122"/>
                <a:cs typeface="Calibri" pitchFamily="34" charset="-120"/>
              </a:rPr>
              <a:t>어미용</a:t>
            </a:r>
            <a:endParaRPr lang="en-US" sz="1300" dirty="0"/>
          </a:p>
        </p:txBody>
      </p:sp>
      <p:sp>
        <p:nvSpPr>
          <p:cNvPr id="13" name="Shape 11"/>
          <p:cNvSpPr/>
          <p:nvPr/>
        </p:nvSpPr>
        <p:spPr>
          <a:xfrm>
            <a:off x="2523744" y="3291840"/>
            <a:ext cx="91" cy="1097280"/>
          </a:xfrm>
          <a:prstGeom prst="line">
            <a:avLst/>
          </a:prstGeom>
          <a:noFill/>
          <a:ln w="15875">
            <a:solidFill>
              <a:srgbClr val="6E6E6E"/>
            </a:solidFill>
            <a:prstDash val="solid"/>
            <a:tailEnd type="triangle"/>
          </a:ln>
        </p:spPr>
      </p:sp>
      <p:sp>
        <p:nvSpPr>
          <p:cNvPr id="14" name="Shape 12"/>
          <p:cNvSpPr/>
          <p:nvPr/>
        </p:nvSpPr>
        <p:spPr>
          <a:xfrm>
            <a:off x="3236976" y="4434840"/>
            <a:ext cx="1170432" cy="603504"/>
          </a:xfrm>
          <a:prstGeom prst="rect">
            <a:avLst/>
          </a:prstGeom>
          <a:solidFill>
            <a:srgbClr val="FFFFFF"/>
          </a:solidFill>
          <a:ln w="12700">
            <a:solidFill>
              <a:srgbClr val="D8D8D8"/>
            </a:solidFill>
            <a:prstDash val="solid"/>
          </a:ln>
        </p:spPr>
      </p:sp>
      <p:sp>
        <p:nvSpPr>
          <p:cNvPr id="15" name="Text 13"/>
          <p:cNvSpPr txBox="1"/>
          <p:nvPr/>
        </p:nvSpPr>
        <p:spPr>
          <a:xfrm>
            <a:off x="3236976" y="4434840"/>
            <a:ext cx="1170432" cy="603504"/>
          </a:xfrm>
          <a:prstGeom prst="rect">
            <a:avLst/>
          </a:prstGeom>
          <a:noFill/>
          <a:ln/>
        </p:spPr>
        <p:txBody>
          <a:bodyPr wrap="square" lIns="38100" tIns="38100" rIns="38100" bIns="38100" rtlCol="0" anchor="ctr"/>
          <a:lstStyle/>
          <a:p>
            <a:pPr marL="0" indent="0" algn="ctr">
              <a:lnSpc>
                <a:spcPct val="115000"/>
              </a:lnSpc>
              <a:buNone/>
            </a:pPr>
            <a:r>
              <a:rPr lang="en-US" sz="1300" dirty="0">
                <a:solidFill>
                  <a:srgbClr val="1A1A1A"/>
                </a:solidFill>
                <a:latin typeface="Calibri" pitchFamily="34" charset="0"/>
                <a:ea typeface="Calibri" pitchFamily="34" charset="-122"/>
                <a:cs typeface="Calibri" pitchFamily="34" charset="-120"/>
              </a:rPr>
              <a:t>새끼용</a:t>
            </a:r>
            <a:endParaRPr lang="en-US" sz="1300" dirty="0"/>
          </a:p>
        </p:txBody>
      </p:sp>
      <p:sp>
        <p:nvSpPr>
          <p:cNvPr id="16" name="Shape 14"/>
          <p:cNvSpPr/>
          <p:nvPr/>
        </p:nvSpPr>
        <p:spPr>
          <a:xfrm>
            <a:off x="3822192" y="3291840"/>
            <a:ext cx="91" cy="1097280"/>
          </a:xfrm>
          <a:prstGeom prst="line">
            <a:avLst/>
          </a:prstGeom>
          <a:noFill/>
          <a:ln w="15875">
            <a:solidFill>
              <a:srgbClr val="6E6E6E"/>
            </a:solidFill>
            <a:prstDash val="solid"/>
            <a:tailEnd type="triangle"/>
          </a:ln>
        </p:spPr>
      </p:sp>
      <p:sp>
        <p:nvSpPr>
          <p:cNvPr id="17" name="Shape 15"/>
          <p:cNvSpPr/>
          <p:nvPr/>
        </p:nvSpPr>
        <p:spPr>
          <a:xfrm>
            <a:off x="4535424" y="4434840"/>
            <a:ext cx="1170432" cy="603504"/>
          </a:xfrm>
          <a:prstGeom prst="rect">
            <a:avLst/>
          </a:prstGeom>
          <a:solidFill>
            <a:srgbClr val="FFFFFF"/>
          </a:solidFill>
          <a:ln w="12700">
            <a:solidFill>
              <a:srgbClr val="D8D8D8"/>
            </a:solidFill>
            <a:prstDash val="solid"/>
          </a:ln>
        </p:spPr>
      </p:sp>
      <p:sp>
        <p:nvSpPr>
          <p:cNvPr id="18" name="Text 16"/>
          <p:cNvSpPr txBox="1"/>
          <p:nvPr/>
        </p:nvSpPr>
        <p:spPr>
          <a:xfrm>
            <a:off x="4535424" y="4434840"/>
            <a:ext cx="1170432" cy="603504"/>
          </a:xfrm>
          <a:prstGeom prst="rect">
            <a:avLst/>
          </a:prstGeom>
          <a:noFill/>
          <a:ln/>
        </p:spPr>
        <p:txBody>
          <a:bodyPr wrap="square" lIns="38100" tIns="38100" rIns="38100" bIns="38100" rtlCol="0" anchor="ctr"/>
          <a:lstStyle/>
          <a:p>
            <a:pPr marL="0" indent="0" algn="ctr">
              <a:lnSpc>
                <a:spcPct val="115000"/>
              </a:lnSpc>
              <a:buNone/>
            </a:pPr>
            <a:r>
              <a:rPr lang="en-US" sz="1300" dirty="0">
                <a:solidFill>
                  <a:srgbClr val="1A1A1A"/>
                </a:solidFill>
                <a:latin typeface="Calibri" pitchFamily="34" charset="0"/>
                <a:ea typeface="Calibri" pitchFamily="34" charset="-122"/>
                <a:cs typeface="Calibri" pitchFamily="34" charset="-120"/>
              </a:rPr>
              <a:t>지형</a:t>
            </a:r>
            <a:endParaRPr lang="en-US" sz="1300" dirty="0"/>
          </a:p>
        </p:txBody>
      </p:sp>
      <p:sp>
        <p:nvSpPr>
          <p:cNvPr id="19" name="Shape 17"/>
          <p:cNvSpPr/>
          <p:nvPr/>
        </p:nvSpPr>
        <p:spPr>
          <a:xfrm>
            <a:off x="5120640" y="3291840"/>
            <a:ext cx="91" cy="1097280"/>
          </a:xfrm>
          <a:prstGeom prst="line">
            <a:avLst/>
          </a:prstGeom>
          <a:noFill/>
          <a:ln w="15875">
            <a:solidFill>
              <a:srgbClr val="6E6E6E"/>
            </a:solidFill>
            <a:prstDash val="solid"/>
            <a:tailEnd type="triangle"/>
          </a:ln>
        </p:spPr>
      </p:sp>
      <p:sp>
        <p:nvSpPr>
          <p:cNvPr id="20" name="Text 18"/>
          <p:cNvSpPr txBox="1"/>
          <p:nvPr/>
        </p:nvSpPr>
        <p:spPr>
          <a:xfrm>
            <a:off x="640080" y="5257800"/>
            <a:ext cx="5120640" cy="731520"/>
          </a:xfrm>
          <a:prstGeom prst="rect">
            <a:avLst/>
          </a:prstGeom>
          <a:noFill/>
          <a:ln/>
        </p:spPr>
        <p:txBody>
          <a:bodyPr wrap="square" lIns="0" tIns="0" rIns="0" bIns="0" rtlCol="0" anchor="ctr"/>
          <a:lstStyle/>
          <a:p>
            <a:pPr marL="0" indent="0" algn="ctr">
              <a:lnSpc>
                <a:spcPct val="125000"/>
              </a:lnSpc>
              <a:buNone/>
            </a:pPr>
            <a:r>
              <a:rPr lang="en-US" sz="1400" dirty="0">
                <a:solidFill>
                  <a:srgbClr val="6E6E6E"/>
                </a:solidFill>
                <a:latin typeface="Calibri" pitchFamily="34" charset="0"/>
                <a:ea typeface="Calibri" pitchFamily="34" charset="-122"/>
                <a:cs typeface="Calibri" pitchFamily="34" charset="-120"/>
              </a:rPr>
              <a:t>타워가 네 시스템을 전부 알아야 한다</a:t>
            </a:r>
            <a:endParaRPr lang="en-US" sz="1400" dirty="0"/>
          </a:p>
          <a:p>
            <a:pPr marL="0" indent="0" algn="ctr">
              <a:lnSpc>
                <a:spcPct val="125000"/>
              </a:lnSpc>
              <a:buNone/>
            </a:pPr>
            <a:r>
              <a:rPr lang="en-US" sz="1400" dirty="0">
                <a:solidFill>
                  <a:srgbClr val="6E6E6E"/>
                </a:solidFill>
                <a:latin typeface="Calibri" pitchFamily="34" charset="0"/>
                <a:ea typeface="Calibri" pitchFamily="34" charset="-122"/>
                <a:cs typeface="Calibri" pitchFamily="34" charset="-120"/>
              </a:rPr>
              <a:t>if 분기가 계속 쌓인다</a:t>
            </a:r>
            <a:endParaRPr lang="en-US" sz="1400" dirty="0"/>
          </a:p>
        </p:txBody>
      </p:sp>
      <p:sp>
        <p:nvSpPr>
          <p:cNvPr id="21" name="Shape 19"/>
          <p:cNvSpPr/>
          <p:nvPr/>
        </p:nvSpPr>
        <p:spPr>
          <a:xfrm>
            <a:off x="5980176" y="2331720"/>
            <a:ext cx="91" cy="3291840"/>
          </a:xfrm>
          <a:prstGeom prst="line">
            <a:avLst/>
          </a:prstGeom>
          <a:noFill/>
          <a:ln w="12700">
            <a:solidFill>
              <a:srgbClr val="D8D8D8"/>
            </a:solidFill>
            <a:prstDash val="solid"/>
          </a:ln>
        </p:spPr>
      </p:sp>
      <p:sp>
        <p:nvSpPr>
          <p:cNvPr id="22" name="Text 20"/>
          <p:cNvSpPr txBox="1"/>
          <p:nvPr/>
        </p:nvSpPr>
        <p:spPr>
          <a:xfrm>
            <a:off x="6199632" y="2057400"/>
            <a:ext cx="5349240" cy="310896"/>
          </a:xfrm>
          <a:prstGeom prst="rect">
            <a:avLst/>
          </a:prstGeom>
          <a:noFill/>
          <a:ln/>
        </p:spPr>
        <p:txBody>
          <a:bodyPr wrap="square" lIns="0" tIns="0" rIns="0" bIns="0" rtlCol="0" anchor="ctr"/>
          <a:lstStyle/>
          <a:p>
            <a:pPr marL="0" indent="0">
              <a:buNone/>
            </a:pPr>
            <a:r>
              <a:rPr lang="en-US" sz="1500" b="1" dirty="0">
                <a:solidFill>
                  <a:srgbClr val="B85042"/>
                </a:solidFill>
                <a:latin typeface="Calibri" pitchFamily="34" charset="0"/>
                <a:ea typeface="Calibri" pitchFamily="34" charset="-122"/>
                <a:cs typeface="Calibri" pitchFamily="34" charset="-120"/>
              </a:rPr>
              <a:t>질의 인터페이스로 뒤집었다</a:t>
            </a:r>
            <a:endParaRPr lang="en-US" sz="1500" dirty="0"/>
          </a:p>
        </p:txBody>
      </p:sp>
      <p:sp>
        <p:nvSpPr>
          <p:cNvPr id="23" name="Shape 21"/>
          <p:cNvSpPr/>
          <p:nvPr/>
        </p:nvSpPr>
        <p:spPr>
          <a:xfrm>
            <a:off x="7754112" y="2560320"/>
            <a:ext cx="2286000" cy="685800"/>
          </a:xfrm>
          <a:prstGeom prst="rect">
            <a:avLst/>
          </a:prstGeom>
          <a:solidFill>
            <a:srgbClr val="F1F1F1"/>
          </a:solidFill>
          <a:ln w="12700">
            <a:solidFill>
              <a:srgbClr val="D8D8D8"/>
            </a:solidFill>
            <a:prstDash val="solid"/>
          </a:ln>
        </p:spPr>
      </p:sp>
      <p:sp>
        <p:nvSpPr>
          <p:cNvPr id="24" name="Text 22"/>
          <p:cNvSpPr txBox="1"/>
          <p:nvPr/>
        </p:nvSpPr>
        <p:spPr>
          <a:xfrm>
            <a:off x="7754112" y="2560320"/>
            <a:ext cx="2286000" cy="685800"/>
          </a:xfrm>
          <a:prstGeom prst="rect">
            <a:avLst/>
          </a:prstGeom>
          <a:noFill/>
          <a:ln/>
        </p:spPr>
        <p:txBody>
          <a:bodyPr wrap="square" lIns="38100" tIns="38100" rIns="38100" bIns="38100" rtlCol="0" anchor="ctr"/>
          <a:lstStyle/>
          <a:p>
            <a:pPr marL="0" indent="0" algn="ctr">
              <a:lnSpc>
                <a:spcPct val="115000"/>
              </a:lnSpc>
              <a:buNone/>
            </a:pPr>
            <a:r>
              <a:rPr lang="en-US" sz="1600" b="1" dirty="0">
                <a:solidFill>
                  <a:srgbClr val="1A1A1A"/>
                </a:solidFill>
                <a:latin typeface="Calibri" pitchFamily="34" charset="0"/>
                <a:ea typeface="Calibri" pitchFamily="34" charset="-122"/>
                <a:cs typeface="Calibri" pitchFamily="34" charset="-120"/>
              </a:rPr>
              <a:t>Tower</a:t>
            </a:r>
            <a:endParaRPr lang="en-US" sz="1600" dirty="0"/>
          </a:p>
        </p:txBody>
      </p:sp>
      <p:sp>
        <p:nvSpPr>
          <p:cNvPr id="25" name="Shape 23"/>
          <p:cNvSpPr/>
          <p:nvPr/>
        </p:nvSpPr>
        <p:spPr>
          <a:xfrm>
            <a:off x="8897112" y="3291840"/>
            <a:ext cx="91" cy="365760"/>
          </a:xfrm>
          <a:prstGeom prst="line">
            <a:avLst/>
          </a:prstGeom>
          <a:noFill/>
          <a:ln w="15875">
            <a:solidFill>
              <a:srgbClr val="B85042"/>
            </a:solidFill>
            <a:prstDash val="solid"/>
            <a:tailEnd type="triangle"/>
          </a:ln>
        </p:spPr>
      </p:sp>
      <p:sp>
        <p:nvSpPr>
          <p:cNvPr id="26" name="Shape 24"/>
          <p:cNvSpPr/>
          <p:nvPr/>
        </p:nvSpPr>
        <p:spPr>
          <a:xfrm>
            <a:off x="6382512" y="3685032"/>
            <a:ext cx="4983480" cy="685800"/>
          </a:xfrm>
          <a:prstGeom prst="rect">
            <a:avLst/>
          </a:prstGeom>
          <a:solidFill>
            <a:srgbClr val="F6E9E7"/>
          </a:solidFill>
          <a:ln w="12700">
            <a:solidFill>
              <a:srgbClr val="B85042"/>
            </a:solidFill>
            <a:prstDash val="solid"/>
          </a:ln>
        </p:spPr>
      </p:sp>
      <p:sp>
        <p:nvSpPr>
          <p:cNvPr id="27" name="Text 25"/>
          <p:cNvSpPr txBox="1"/>
          <p:nvPr/>
        </p:nvSpPr>
        <p:spPr>
          <a:xfrm>
            <a:off x="6382512" y="3685032"/>
            <a:ext cx="4983480" cy="685800"/>
          </a:xfrm>
          <a:prstGeom prst="rect">
            <a:avLst/>
          </a:prstGeom>
          <a:noFill/>
          <a:ln/>
        </p:spPr>
        <p:txBody>
          <a:bodyPr wrap="square" lIns="38100" tIns="38100" rIns="38100" bIns="38100" rtlCol="0" anchor="ctr"/>
          <a:lstStyle/>
          <a:p>
            <a:pPr marL="0" indent="0" algn="ctr">
              <a:lnSpc>
                <a:spcPct val="115000"/>
              </a:lnSpc>
              <a:buNone/>
            </a:pPr>
            <a:r>
              <a:rPr lang="en-US" sz="1400" b="1" dirty="0">
                <a:solidFill>
                  <a:srgbClr val="1A1A1A"/>
                </a:solidFill>
                <a:latin typeface="Calibri" pitchFamily="34" charset="0"/>
                <a:ea typeface="Calibri" pitchFamily="34" charset="-122"/>
                <a:cs typeface="Calibri" pitchFamily="34" charset="-120"/>
              </a:rPr>
              <a:t>ITowerStatMultiplierQuery</a:t>
            </a:r>
            <a:endParaRPr lang="en-US" sz="1400" dirty="0"/>
          </a:p>
        </p:txBody>
      </p:sp>
      <p:sp>
        <p:nvSpPr>
          <p:cNvPr id="28" name="Shape 26"/>
          <p:cNvSpPr/>
          <p:nvPr/>
        </p:nvSpPr>
        <p:spPr>
          <a:xfrm>
            <a:off x="6291072" y="4800600"/>
            <a:ext cx="1170432" cy="603504"/>
          </a:xfrm>
          <a:prstGeom prst="rect">
            <a:avLst/>
          </a:prstGeom>
          <a:solidFill>
            <a:srgbClr val="FFFFFF"/>
          </a:solidFill>
          <a:ln w="12700">
            <a:solidFill>
              <a:srgbClr val="D8D8D8"/>
            </a:solidFill>
            <a:prstDash val="solid"/>
          </a:ln>
        </p:spPr>
      </p:sp>
      <p:sp>
        <p:nvSpPr>
          <p:cNvPr id="29" name="Text 27"/>
          <p:cNvSpPr txBox="1"/>
          <p:nvPr/>
        </p:nvSpPr>
        <p:spPr>
          <a:xfrm>
            <a:off x="6291072" y="4800600"/>
            <a:ext cx="1170432" cy="603504"/>
          </a:xfrm>
          <a:prstGeom prst="rect">
            <a:avLst/>
          </a:prstGeom>
          <a:noFill/>
          <a:ln/>
        </p:spPr>
        <p:txBody>
          <a:bodyPr wrap="square" lIns="38100" tIns="38100" rIns="38100" bIns="38100" rtlCol="0" anchor="ctr"/>
          <a:lstStyle/>
          <a:p>
            <a:pPr marL="0" indent="0" algn="ctr">
              <a:lnSpc>
                <a:spcPct val="115000"/>
              </a:lnSpc>
              <a:buNone/>
            </a:pPr>
            <a:r>
              <a:rPr lang="en-US" sz="1300" dirty="0">
                <a:solidFill>
                  <a:srgbClr val="1A1A1A"/>
                </a:solidFill>
                <a:latin typeface="Calibri" pitchFamily="34" charset="0"/>
                <a:ea typeface="Calibri" pitchFamily="34" charset="-122"/>
                <a:cs typeface="Calibri" pitchFamily="34" charset="-120"/>
              </a:rPr>
              <a:t>연구</a:t>
            </a:r>
            <a:endParaRPr lang="en-US" sz="1300" dirty="0"/>
          </a:p>
        </p:txBody>
      </p:sp>
      <p:sp>
        <p:nvSpPr>
          <p:cNvPr id="30" name="Shape 28"/>
          <p:cNvSpPr/>
          <p:nvPr/>
        </p:nvSpPr>
        <p:spPr>
          <a:xfrm flipV="1">
            <a:off x="6876288" y="4434840"/>
            <a:ext cx="91" cy="320040"/>
          </a:xfrm>
          <a:prstGeom prst="line">
            <a:avLst/>
          </a:prstGeom>
          <a:noFill/>
          <a:ln w="15875">
            <a:solidFill>
              <a:srgbClr val="6E6E6E"/>
            </a:solidFill>
            <a:prstDash val="solid"/>
            <a:tailEnd type="triangle"/>
          </a:ln>
        </p:spPr>
      </p:sp>
      <p:sp>
        <p:nvSpPr>
          <p:cNvPr id="31" name="Shape 29"/>
          <p:cNvSpPr/>
          <p:nvPr/>
        </p:nvSpPr>
        <p:spPr>
          <a:xfrm>
            <a:off x="7589520" y="4800600"/>
            <a:ext cx="1170432" cy="603504"/>
          </a:xfrm>
          <a:prstGeom prst="rect">
            <a:avLst/>
          </a:prstGeom>
          <a:solidFill>
            <a:srgbClr val="FFFFFF"/>
          </a:solidFill>
          <a:ln w="12700">
            <a:solidFill>
              <a:srgbClr val="D8D8D8"/>
            </a:solidFill>
            <a:prstDash val="solid"/>
          </a:ln>
        </p:spPr>
      </p:sp>
      <p:sp>
        <p:nvSpPr>
          <p:cNvPr id="32" name="Text 30"/>
          <p:cNvSpPr txBox="1"/>
          <p:nvPr/>
        </p:nvSpPr>
        <p:spPr>
          <a:xfrm>
            <a:off x="7589520" y="4800600"/>
            <a:ext cx="1170432" cy="603504"/>
          </a:xfrm>
          <a:prstGeom prst="rect">
            <a:avLst/>
          </a:prstGeom>
          <a:noFill/>
          <a:ln/>
        </p:spPr>
        <p:txBody>
          <a:bodyPr wrap="square" lIns="38100" tIns="38100" rIns="38100" bIns="38100" rtlCol="0" anchor="ctr"/>
          <a:lstStyle/>
          <a:p>
            <a:pPr marL="0" indent="0" algn="ctr">
              <a:lnSpc>
                <a:spcPct val="115000"/>
              </a:lnSpc>
              <a:buNone/>
            </a:pPr>
            <a:r>
              <a:rPr lang="en-US" sz="1300" dirty="0">
                <a:solidFill>
                  <a:srgbClr val="1A1A1A"/>
                </a:solidFill>
                <a:latin typeface="Calibri" pitchFamily="34" charset="0"/>
                <a:ea typeface="Calibri" pitchFamily="34" charset="-122"/>
                <a:cs typeface="Calibri" pitchFamily="34" charset="-120"/>
              </a:rPr>
              <a:t>어미용</a:t>
            </a:r>
            <a:endParaRPr lang="en-US" sz="1300" dirty="0"/>
          </a:p>
        </p:txBody>
      </p:sp>
      <p:sp>
        <p:nvSpPr>
          <p:cNvPr id="33" name="Shape 31"/>
          <p:cNvSpPr/>
          <p:nvPr/>
        </p:nvSpPr>
        <p:spPr>
          <a:xfrm flipV="1">
            <a:off x="8174736" y="4434840"/>
            <a:ext cx="91" cy="320040"/>
          </a:xfrm>
          <a:prstGeom prst="line">
            <a:avLst/>
          </a:prstGeom>
          <a:noFill/>
          <a:ln w="15875">
            <a:solidFill>
              <a:srgbClr val="6E6E6E"/>
            </a:solidFill>
            <a:prstDash val="solid"/>
            <a:tailEnd type="triangle"/>
          </a:ln>
        </p:spPr>
      </p:sp>
      <p:sp>
        <p:nvSpPr>
          <p:cNvPr id="34" name="Shape 32"/>
          <p:cNvSpPr/>
          <p:nvPr/>
        </p:nvSpPr>
        <p:spPr>
          <a:xfrm>
            <a:off x="8887968" y="4800600"/>
            <a:ext cx="1170432" cy="603504"/>
          </a:xfrm>
          <a:prstGeom prst="rect">
            <a:avLst/>
          </a:prstGeom>
          <a:solidFill>
            <a:srgbClr val="FFFFFF"/>
          </a:solidFill>
          <a:ln w="12700">
            <a:solidFill>
              <a:srgbClr val="D8D8D8"/>
            </a:solidFill>
            <a:prstDash val="solid"/>
          </a:ln>
        </p:spPr>
      </p:sp>
      <p:sp>
        <p:nvSpPr>
          <p:cNvPr id="35" name="Text 33"/>
          <p:cNvSpPr txBox="1"/>
          <p:nvPr/>
        </p:nvSpPr>
        <p:spPr>
          <a:xfrm>
            <a:off x="8887968" y="4800600"/>
            <a:ext cx="1170432" cy="603504"/>
          </a:xfrm>
          <a:prstGeom prst="rect">
            <a:avLst/>
          </a:prstGeom>
          <a:noFill/>
          <a:ln/>
        </p:spPr>
        <p:txBody>
          <a:bodyPr wrap="square" lIns="38100" tIns="38100" rIns="38100" bIns="38100" rtlCol="0" anchor="ctr"/>
          <a:lstStyle/>
          <a:p>
            <a:pPr marL="0" indent="0" algn="ctr">
              <a:lnSpc>
                <a:spcPct val="115000"/>
              </a:lnSpc>
              <a:buNone/>
            </a:pPr>
            <a:r>
              <a:rPr lang="en-US" sz="1300" dirty="0">
                <a:solidFill>
                  <a:srgbClr val="1A1A1A"/>
                </a:solidFill>
                <a:latin typeface="Calibri" pitchFamily="34" charset="0"/>
                <a:ea typeface="Calibri" pitchFamily="34" charset="-122"/>
                <a:cs typeface="Calibri" pitchFamily="34" charset="-120"/>
              </a:rPr>
              <a:t>새끼용</a:t>
            </a:r>
            <a:endParaRPr lang="en-US" sz="1300" dirty="0"/>
          </a:p>
        </p:txBody>
      </p:sp>
      <p:sp>
        <p:nvSpPr>
          <p:cNvPr id="36" name="Shape 34"/>
          <p:cNvSpPr/>
          <p:nvPr/>
        </p:nvSpPr>
        <p:spPr>
          <a:xfrm flipV="1">
            <a:off x="9473184" y="4434840"/>
            <a:ext cx="91" cy="320040"/>
          </a:xfrm>
          <a:prstGeom prst="line">
            <a:avLst/>
          </a:prstGeom>
          <a:noFill/>
          <a:ln w="15875">
            <a:solidFill>
              <a:srgbClr val="6E6E6E"/>
            </a:solidFill>
            <a:prstDash val="solid"/>
            <a:tailEnd type="triangle"/>
          </a:ln>
        </p:spPr>
      </p:sp>
      <p:sp>
        <p:nvSpPr>
          <p:cNvPr id="37" name="Shape 35"/>
          <p:cNvSpPr/>
          <p:nvPr/>
        </p:nvSpPr>
        <p:spPr>
          <a:xfrm>
            <a:off x="10186416" y="4800600"/>
            <a:ext cx="1170432" cy="603504"/>
          </a:xfrm>
          <a:prstGeom prst="rect">
            <a:avLst/>
          </a:prstGeom>
          <a:solidFill>
            <a:srgbClr val="FFFFFF"/>
          </a:solidFill>
          <a:ln w="12700">
            <a:solidFill>
              <a:srgbClr val="D8D8D8"/>
            </a:solidFill>
            <a:prstDash val="solid"/>
          </a:ln>
        </p:spPr>
      </p:sp>
      <p:sp>
        <p:nvSpPr>
          <p:cNvPr id="38" name="Text 36"/>
          <p:cNvSpPr txBox="1"/>
          <p:nvPr/>
        </p:nvSpPr>
        <p:spPr>
          <a:xfrm>
            <a:off x="10186416" y="4800600"/>
            <a:ext cx="1170432" cy="603504"/>
          </a:xfrm>
          <a:prstGeom prst="rect">
            <a:avLst/>
          </a:prstGeom>
          <a:noFill/>
          <a:ln/>
        </p:spPr>
        <p:txBody>
          <a:bodyPr wrap="square" lIns="38100" tIns="38100" rIns="38100" bIns="38100" rtlCol="0" anchor="ctr"/>
          <a:lstStyle/>
          <a:p>
            <a:pPr marL="0" indent="0" algn="ctr">
              <a:lnSpc>
                <a:spcPct val="115000"/>
              </a:lnSpc>
              <a:buNone/>
            </a:pPr>
            <a:r>
              <a:rPr lang="en-US" sz="1300" dirty="0">
                <a:solidFill>
                  <a:srgbClr val="1A1A1A"/>
                </a:solidFill>
                <a:latin typeface="Calibri" pitchFamily="34" charset="0"/>
                <a:ea typeface="Calibri" pitchFamily="34" charset="-122"/>
                <a:cs typeface="Calibri" pitchFamily="34" charset="-120"/>
              </a:rPr>
              <a:t>지형</a:t>
            </a:r>
            <a:endParaRPr lang="en-US" sz="1300" dirty="0"/>
          </a:p>
        </p:txBody>
      </p:sp>
      <p:sp>
        <p:nvSpPr>
          <p:cNvPr id="39" name="Shape 37"/>
          <p:cNvSpPr/>
          <p:nvPr/>
        </p:nvSpPr>
        <p:spPr>
          <a:xfrm flipV="1">
            <a:off x="10771632" y="4434840"/>
            <a:ext cx="91" cy="320040"/>
          </a:xfrm>
          <a:prstGeom prst="line">
            <a:avLst/>
          </a:prstGeom>
          <a:noFill/>
          <a:ln w="15875">
            <a:solidFill>
              <a:srgbClr val="6E6E6E"/>
            </a:solidFill>
            <a:prstDash val="solid"/>
            <a:tailEnd type="triangle"/>
          </a:ln>
        </p:spPr>
      </p:sp>
      <p:sp>
        <p:nvSpPr>
          <p:cNvPr id="40" name="Text 38"/>
          <p:cNvSpPr txBox="1"/>
          <p:nvPr/>
        </p:nvSpPr>
        <p:spPr>
          <a:xfrm>
            <a:off x="6199632" y="5623560"/>
            <a:ext cx="5349240" cy="731520"/>
          </a:xfrm>
          <a:prstGeom prst="rect">
            <a:avLst/>
          </a:prstGeom>
          <a:noFill/>
          <a:ln/>
        </p:spPr>
        <p:txBody>
          <a:bodyPr wrap="square" lIns="0" tIns="0" rIns="0" bIns="0" rtlCol="0" anchor="ctr"/>
          <a:lstStyle/>
          <a:p>
            <a:pPr marL="0" indent="0" algn="ctr">
              <a:lnSpc>
                <a:spcPct val="125000"/>
              </a:lnSpc>
              <a:buNone/>
            </a:pPr>
            <a:r>
              <a:rPr lang="en-US" sz="1400" dirty="0">
                <a:solidFill>
                  <a:srgbClr val="1A1A1A"/>
                </a:solidFill>
                <a:latin typeface="Calibri" pitchFamily="34" charset="0"/>
                <a:ea typeface="Calibri" pitchFamily="34" charset="-122"/>
                <a:cs typeface="Calibri" pitchFamily="34" charset="-120"/>
              </a:rPr>
              <a:t>타워는 인터페이스 하나만 안다</a:t>
            </a:r>
            <a:endParaRPr lang="en-US" sz="1400" dirty="0"/>
          </a:p>
          <a:p>
            <a:pPr marL="0" indent="0" algn="ctr">
              <a:lnSpc>
                <a:spcPct val="125000"/>
              </a:lnSpc>
              <a:buNone/>
            </a:pPr>
            <a:r>
              <a:rPr lang="en-US" sz="1400" dirty="0">
                <a:solidFill>
                  <a:srgbClr val="1A1A1A"/>
                </a:solidFill>
                <a:latin typeface="Calibri" pitchFamily="34" charset="0"/>
                <a:ea typeface="Calibri" pitchFamily="34" charset="-122"/>
                <a:cs typeface="Calibri" pitchFamily="34" charset="-120"/>
              </a:rPr>
              <a:t>소스가 1개인지 4개인지 알 필요가 없다</a:t>
            </a:r>
            <a:endParaRPr lang="en-US" sz="1400" dirty="0"/>
          </a:p>
        </p:txBody>
      </p:sp>
      <p:sp>
        <p:nvSpPr>
          <p:cNvPr id="41" name="Text 39"/>
          <p:cNvSpPr txBox="1"/>
          <p:nvPr/>
        </p:nvSpPr>
        <p:spPr>
          <a:xfrm>
            <a:off x="640080" y="6355080"/>
            <a:ext cx="5486400" cy="256032"/>
          </a:xfrm>
          <a:prstGeom prst="rect">
            <a:avLst/>
          </a:prstGeom>
          <a:noFill/>
          <a:ln/>
        </p:spPr>
        <p:txBody>
          <a:bodyPr wrap="square" lIns="0" tIns="0" rIns="0" bIns="0" rtlCol="0" anchor="ctr"/>
          <a:lstStyle/>
          <a:p>
            <a:pPr marL="0" indent="0">
              <a:buNone/>
            </a:pPr>
            <a:r>
              <a:rPr lang="en-US" sz="900" dirty="0">
                <a:solidFill>
                  <a:srgbClr val="6E6E6E"/>
                </a:solidFill>
                <a:latin typeface="Calibri" pitchFamily="34" charset="0"/>
                <a:ea typeface="Calibri" pitchFamily="34" charset="-122"/>
                <a:cs typeface="Calibri" pitchFamily="34" charset="-120"/>
              </a:rPr>
              <a:t>수성록 (Tower and Dragons) · 최종 결과 보고</a:t>
            </a:r>
            <a:endParaRPr lang="en-US" sz="900" dirty="0"/>
          </a:p>
        </p:txBody>
      </p:sp>
      <p:sp>
        <p:nvSpPr>
          <p:cNvPr id="42" name="Text 40"/>
          <p:cNvSpPr txBox="1"/>
          <p:nvPr/>
        </p:nvSpPr>
        <p:spPr>
          <a:xfrm>
            <a:off x="6062472" y="6355080"/>
            <a:ext cx="5486400" cy="256032"/>
          </a:xfrm>
          <a:prstGeom prst="rect">
            <a:avLst/>
          </a:prstGeom>
          <a:noFill/>
          <a:ln/>
        </p:spPr>
        <p:txBody>
          <a:bodyPr wrap="square" lIns="0" tIns="0" rIns="0" bIns="0" rtlCol="0" anchor="ctr"/>
          <a:lstStyle/>
          <a:p>
            <a:pPr marL="0" indent="0" algn="r">
              <a:buNone/>
            </a:pPr>
            <a:r>
              <a:rPr lang="en-US" sz="900" dirty="0">
                <a:solidFill>
                  <a:srgbClr val="6E6E6E"/>
                </a:solidFill>
                <a:latin typeface="Calibri" pitchFamily="34" charset="0"/>
                <a:ea typeface="Calibri" pitchFamily="34" charset="-122"/>
                <a:cs typeface="Calibri" pitchFamily="34" charset="-120"/>
              </a:rPr>
              <a:t>04 — 핵심 기술 구현</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47472"/>
            <a:ext cx="10908792" cy="256032"/>
          </a:xfrm>
          <a:prstGeom prst="rect">
            <a:avLst/>
          </a:prstGeom>
          <a:noFill/>
          <a:ln/>
        </p:spPr>
        <p:txBody>
          <a:bodyPr wrap="square" lIns="0" tIns="0" rIns="0" bIns="0" rtlCol="0" anchor="ctr"/>
          <a:lstStyle/>
          <a:p>
            <a:pPr marL="0" indent="0">
              <a:buNone/>
            </a:pPr>
            <a:r>
              <a:rPr lang="en-US" sz="1100" b="1" dirty="0">
                <a:solidFill>
                  <a:srgbClr val="B85042"/>
                </a:solidFill>
                <a:latin typeface="Calibri" pitchFamily="34" charset="0"/>
                <a:ea typeface="Calibri" pitchFamily="34" charset="-122"/>
                <a:cs typeface="Calibri" pitchFamily="34" charset="-120"/>
              </a:rPr>
              <a:t>04</a:t>
            </a:r>
            <a:r>
              <a:rPr lang="en-US" sz="1100" dirty="0">
                <a:solidFill>
                  <a:srgbClr val="6E6E6E"/>
                </a:solidFill>
                <a:latin typeface="Calibri" pitchFamily="34" charset="0"/>
                <a:ea typeface="Calibri" pitchFamily="34" charset="-122"/>
                <a:cs typeface="Calibri" pitchFamily="34" charset="-120"/>
              </a:rPr>
              <a:t>   핵심 기술 구현</a:t>
            </a:r>
            <a:endParaRPr lang="en-US" sz="1100" dirty="0"/>
          </a:p>
        </p:txBody>
      </p:sp>
      <p:sp>
        <p:nvSpPr>
          <p:cNvPr id="3" name="Text 1"/>
          <p:cNvSpPr txBox="1"/>
          <p:nvPr/>
        </p:nvSpPr>
        <p:spPr>
          <a:xfrm>
            <a:off x="640080" y="621792"/>
            <a:ext cx="10908792" cy="640080"/>
          </a:xfrm>
          <a:prstGeom prst="rect">
            <a:avLst/>
          </a:prstGeom>
          <a:noFill/>
          <a:ln/>
        </p:spPr>
        <p:txBody>
          <a:bodyPr wrap="square" lIns="0" tIns="0" rIns="0" bIns="0" rtlCol="0" anchor="t"/>
          <a:lstStyle/>
          <a:p>
            <a:pPr marL="0" indent="0">
              <a:buNone/>
            </a:pPr>
            <a:r>
              <a:rPr lang="en-US" sz="3000" b="1" dirty="0">
                <a:solidFill>
                  <a:srgbClr val="1A1A1A"/>
                </a:solidFill>
                <a:latin typeface="Calibri" pitchFamily="34" charset="0"/>
                <a:ea typeface="Calibri" pitchFamily="34" charset="-122"/>
                <a:cs typeface="Calibri" pitchFamily="34" charset="-120"/>
              </a:rPr>
              <a:t>컴포지션 기반 데이터 주도 설계</a:t>
            </a:r>
            <a:endParaRPr lang="en-US" sz="3000" dirty="0"/>
          </a:p>
        </p:txBody>
      </p:sp>
      <p:sp>
        <p:nvSpPr>
          <p:cNvPr id="4" name="Text 2"/>
          <p:cNvSpPr txBox="1"/>
          <p:nvPr/>
        </p:nvSpPr>
        <p:spPr>
          <a:xfrm>
            <a:off x="640080" y="1280160"/>
            <a:ext cx="10908792" cy="292608"/>
          </a:xfrm>
          <a:prstGeom prst="rect">
            <a:avLst/>
          </a:prstGeom>
          <a:noFill/>
          <a:ln/>
        </p:spPr>
        <p:txBody>
          <a:bodyPr wrap="square" lIns="0" tIns="0" rIns="0" bIns="0" rtlCol="0" anchor="ctr"/>
          <a:lstStyle/>
          <a:p>
            <a:pPr marL="0" indent="0">
              <a:buNone/>
            </a:pPr>
            <a:r>
              <a:rPr lang="en-US" sz="1300" dirty="0">
                <a:solidFill>
                  <a:srgbClr val="6E6E6E"/>
                </a:solidFill>
                <a:latin typeface="Calibri" pitchFamily="34" charset="0"/>
                <a:ea typeface="Calibri" pitchFamily="34" charset="-122"/>
                <a:cs typeface="Calibri" pitchFamily="34" charset="-120"/>
              </a:rPr>
              <a:t>수치뿐 아니라 "행동"까지 데이터로 조립한다</a:t>
            </a:r>
            <a:endParaRPr lang="en-US" sz="1300" dirty="0"/>
          </a:p>
        </p:txBody>
      </p:sp>
      <p:sp>
        <p:nvSpPr>
          <p:cNvPr id="5" name="Text 3"/>
          <p:cNvSpPr txBox="1"/>
          <p:nvPr/>
        </p:nvSpPr>
        <p:spPr>
          <a:xfrm>
            <a:off x="640080" y="1828800"/>
            <a:ext cx="3520440" cy="310896"/>
          </a:xfrm>
          <a:prstGeom prst="rect">
            <a:avLst/>
          </a:prstGeom>
          <a:noFill/>
          <a:ln/>
        </p:spPr>
        <p:txBody>
          <a:bodyPr wrap="square" lIns="0" tIns="0" rIns="0" bIns="0" rtlCol="0" anchor="ctr"/>
          <a:lstStyle/>
          <a:p>
            <a:pPr marL="0" indent="0">
              <a:buNone/>
            </a:pPr>
            <a:r>
              <a:rPr lang="en-US" sz="1500" b="1" dirty="0">
                <a:solidFill>
                  <a:srgbClr val="B85042"/>
                </a:solidFill>
                <a:latin typeface="Calibri" pitchFamily="34" charset="0"/>
                <a:ea typeface="Calibri" pitchFamily="34" charset="-122"/>
                <a:cs typeface="Calibri" pitchFamily="34" charset="-120"/>
              </a:rPr>
              <a:t>① 컴포넌트 조합</a:t>
            </a:r>
            <a:endParaRPr lang="en-US" sz="1500" dirty="0"/>
          </a:p>
        </p:txBody>
      </p:sp>
      <p:sp>
        <p:nvSpPr>
          <p:cNvPr id="6" name="Shape 4"/>
          <p:cNvSpPr/>
          <p:nvPr/>
        </p:nvSpPr>
        <p:spPr>
          <a:xfrm>
            <a:off x="640080" y="2240280"/>
            <a:ext cx="3520440" cy="475488"/>
          </a:xfrm>
          <a:prstGeom prst="rect">
            <a:avLst/>
          </a:prstGeom>
          <a:solidFill>
            <a:srgbClr val="F1F1F1"/>
          </a:solidFill>
          <a:ln w="12700">
            <a:solidFill>
              <a:srgbClr val="D8D8D8"/>
            </a:solidFill>
            <a:prstDash val="solid"/>
          </a:ln>
        </p:spPr>
      </p:sp>
      <p:sp>
        <p:nvSpPr>
          <p:cNvPr id="7" name="Text 5"/>
          <p:cNvSpPr txBox="1"/>
          <p:nvPr/>
        </p:nvSpPr>
        <p:spPr>
          <a:xfrm>
            <a:off x="640080" y="2240280"/>
            <a:ext cx="3520440" cy="475488"/>
          </a:xfrm>
          <a:prstGeom prst="rect">
            <a:avLst/>
          </a:prstGeom>
          <a:noFill/>
          <a:ln/>
        </p:spPr>
        <p:txBody>
          <a:bodyPr wrap="square" lIns="38100" tIns="38100" rIns="38100" bIns="38100" rtlCol="0" anchor="ctr"/>
          <a:lstStyle/>
          <a:p>
            <a:pPr marL="0" indent="0" algn="ctr">
              <a:lnSpc>
                <a:spcPct val="115000"/>
              </a:lnSpc>
              <a:buNone/>
            </a:pPr>
            <a:r>
              <a:rPr lang="en-US" sz="1250" b="1" dirty="0">
                <a:solidFill>
                  <a:srgbClr val="1A1A1A"/>
                </a:solidFill>
                <a:latin typeface="Calibri" pitchFamily="34" charset="0"/>
                <a:ea typeface="Calibri" pitchFamily="34" charset="-122"/>
                <a:cs typeface="Calibri" pitchFamily="34" charset="-120"/>
              </a:rPr>
              <a:t>Tower  (공통 클래스)</a:t>
            </a:r>
            <a:endParaRPr lang="en-US" sz="1250" dirty="0"/>
          </a:p>
        </p:txBody>
      </p:sp>
      <p:sp>
        <p:nvSpPr>
          <p:cNvPr id="8" name="Shape 6"/>
          <p:cNvSpPr/>
          <p:nvPr/>
        </p:nvSpPr>
        <p:spPr>
          <a:xfrm>
            <a:off x="960120" y="2852928"/>
            <a:ext cx="3200400" cy="347472"/>
          </a:xfrm>
          <a:prstGeom prst="rect">
            <a:avLst/>
          </a:prstGeom>
          <a:solidFill>
            <a:srgbClr val="FFFFFF"/>
          </a:solidFill>
          <a:ln w="12700">
            <a:solidFill>
              <a:srgbClr val="D8D8D8"/>
            </a:solidFill>
            <a:prstDash val="solid"/>
          </a:ln>
        </p:spPr>
      </p:sp>
      <p:sp>
        <p:nvSpPr>
          <p:cNvPr id="9" name="Text 7"/>
          <p:cNvSpPr txBox="1"/>
          <p:nvPr/>
        </p:nvSpPr>
        <p:spPr>
          <a:xfrm>
            <a:off x="960120" y="2852928"/>
            <a:ext cx="3200400" cy="347472"/>
          </a:xfrm>
          <a:prstGeom prst="rect">
            <a:avLst/>
          </a:prstGeom>
          <a:noFill/>
          <a:ln/>
        </p:spPr>
        <p:txBody>
          <a:bodyPr wrap="square" lIns="38100" tIns="38100" rIns="38100" bIns="38100" rtlCol="0" anchor="ctr"/>
          <a:lstStyle/>
          <a:p>
            <a:pPr marL="0" indent="0" algn="ctr">
              <a:lnSpc>
                <a:spcPct val="115000"/>
              </a:lnSpc>
              <a:buNone/>
            </a:pPr>
            <a:r>
              <a:rPr lang="en-US" sz="1150" dirty="0">
                <a:solidFill>
                  <a:srgbClr val="1A1A1A"/>
                </a:solidFill>
                <a:latin typeface="Calibri" pitchFamily="34" charset="0"/>
                <a:ea typeface="Calibri" pitchFamily="34" charset="-122"/>
                <a:cs typeface="Calibri" pitchFamily="34" charset="-120"/>
              </a:rPr>
              <a:t>Health</a:t>
            </a:r>
            <a:endParaRPr lang="en-US" sz="1150" dirty="0"/>
          </a:p>
        </p:txBody>
      </p:sp>
      <p:sp>
        <p:nvSpPr>
          <p:cNvPr id="10" name="Shape 8"/>
          <p:cNvSpPr/>
          <p:nvPr/>
        </p:nvSpPr>
        <p:spPr>
          <a:xfrm>
            <a:off x="960120" y="3273552"/>
            <a:ext cx="3200400" cy="347472"/>
          </a:xfrm>
          <a:prstGeom prst="rect">
            <a:avLst/>
          </a:prstGeom>
          <a:solidFill>
            <a:srgbClr val="FFFFFF"/>
          </a:solidFill>
          <a:ln w="12700">
            <a:solidFill>
              <a:srgbClr val="D8D8D8"/>
            </a:solidFill>
            <a:prstDash val="solid"/>
          </a:ln>
        </p:spPr>
      </p:sp>
      <p:sp>
        <p:nvSpPr>
          <p:cNvPr id="11" name="Text 9"/>
          <p:cNvSpPr txBox="1"/>
          <p:nvPr/>
        </p:nvSpPr>
        <p:spPr>
          <a:xfrm>
            <a:off x="960120" y="3273552"/>
            <a:ext cx="3200400" cy="347472"/>
          </a:xfrm>
          <a:prstGeom prst="rect">
            <a:avLst/>
          </a:prstGeom>
          <a:noFill/>
          <a:ln/>
        </p:spPr>
        <p:txBody>
          <a:bodyPr wrap="square" lIns="38100" tIns="38100" rIns="38100" bIns="38100" rtlCol="0" anchor="ctr"/>
          <a:lstStyle/>
          <a:p>
            <a:pPr marL="0" indent="0" algn="ctr">
              <a:lnSpc>
                <a:spcPct val="115000"/>
              </a:lnSpc>
              <a:buNone/>
            </a:pPr>
            <a:r>
              <a:rPr lang="en-US" sz="1150" dirty="0">
                <a:solidFill>
                  <a:srgbClr val="1A1A1A"/>
                </a:solidFill>
                <a:latin typeface="Calibri" pitchFamily="34" charset="0"/>
                <a:ea typeface="Calibri" pitchFamily="34" charset="-122"/>
                <a:cs typeface="Calibri" pitchFamily="34" charset="-120"/>
              </a:rPr>
              <a:t>TowerPopulation</a:t>
            </a:r>
            <a:endParaRPr lang="en-US" sz="1150" dirty="0"/>
          </a:p>
        </p:txBody>
      </p:sp>
      <p:sp>
        <p:nvSpPr>
          <p:cNvPr id="12" name="Shape 10"/>
          <p:cNvSpPr/>
          <p:nvPr/>
        </p:nvSpPr>
        <p:spPr>
          <a:xfrm>
            <a:off x="960120" y="3694176"/>
            <a:ext cx="3200400" cy="347472"/>
          </a:xfrm>
          <a:prstGeom prst="rect">
            <a:avLst/>
          </a:prstGeom>
          <a:solidFill>
            <a:srgbClr val="FFFFFF"/>
          </a:solidFill>
          <a:ln w="12700">
            <a:solidFill>
              <a:srgbClr val="D8D8D8"/>
            </a:solidFill>
            <a:prstDash val="solid"/>
          </a:ln>
        </p:spPr>
      </p:sp>
      <p:sp>
        <p:nvSpPr>
          <p:cNvPr id="13" name="Text 11"/>
          <p:cNvSpPr txBox="1"/>
          <p:nvPr/>
        </p:nvSpPr>
        <p:spPr>
          <a:xfrm>
            <a:off x="960120" y="3694176"/>
            <a:ext cx="3200400" cy="347472"/>
          </a:xfrm>
          <a:prstGeom prst="rect">
            <a:avLst/>
          </a:prstGeom>
          <a:noFill/>
          <a:ln/>
        </p:spPr>
        <p:txBody>
          <a:bodyPr wrap="square" lIns="38100" tIns="38100" rIns="38100" bIns="38100" rtlCol="0" anchor="ctr"/>
          <a:lstStyle/>
          <a:p>
            <a:pPr marL="0" indent="0" algn="ctr">
              <a:lnSpc>
                <a:spcPct val="115000"/>
              </a:lnSpc>
              <a:buNone/>
            </a:pPr>
            <a:r>
              <a:rPr lang="en-US" sz="1150" dirty="0">
                <a:solidFill>
                  <a:srgbClr val="1A1A1A"/>
                </a:solidFill>
                <a:latin typeface="Calibri" pitchFamily="34" charset="0"/>
                <a:ea typeface="Calibri" pitchFamily="34" charset="-122"/>
                <a:cs typeface="Calibri" pitchFamily="34" charset="-120"/>
              </a:rPr>
              <a:t>TowerAuraSystem</a:t>
            </a:r>
            <a:endParaRPr lang="en-US" sz="1150" dirty="0"/>
          </a:p>
        </p:txBody>
      </p:sp>
      <p:sp>
        <p:nvSpPr>
          <p:cNvPr id="14" name="Shape 12"/>
          <p:cNvSpPr/>
          <p:nvPr/>
        </p:nvSpPr>
        <p:spPr>
          <a:xfrm>
            <a:off x="804672" y="2734056"/>
            <a:ext cx="91" cy="1335024"/>
          </a:xfrm>
          <a:prstGeom prst="line">
            <a:avLst/>
          </a:prstGeom>
          <a:noFill/>
          <a:ln w="15875">
            <a:solidFill>
              <a:srgbClr val="6E6E6E"/>
            </a:solidFill>
            <a:prstDash val="solid"/>
            <a:tailEnd type="triangle"/>
          </a:ln>
        </p:spPr>
      </p:sp>
      <p:sp>
        <p:nvSpPr>
          <p:cNvPr id="15" name="Shape 13"/>
          <p:cNvSpPr/>
          <p:nvPr/>
        </p:nvSpPr>
        <p:spPr>
          <a:xfrm>
            <a:off x="960120" y="4224528"/>
            <a:ext cx="3200400" cy="347472"/>
          </a:xfrm>
          <a:prstGeom prst="rect">
            <a:avLst/>
          </a:prstGeom>
          <a:solidFill>
            <a:srgbClr val="F6E9E7"/>
          </a:solidFill>
          <a:ln w="12700">
            <a:solidFill>
              <a:srgbClr val="B85042"/>
            </a:solidFill>
            <a:prstDash val="solid"/>
          </a:ln>
        </p:spPr>
      </p:sp>
      <p:sp>
        <p:nvSpPr>
          <p:cNvPr id="16" name="Text 14"/>
          <p:cNvSpPr txBox="1"/>
          <p:nvPr/>
        </p:nvSpPr>
        <p:spPr>
          <a:xfrm>
            <a:off x="960120" y="4224528"/>
            <a:ext cx="3200400" cy="347472"/>
          </a:xfrm>
          <a:prstGeom prst="rect">
            <a:avLst/>
          </a:prstGeom>
          <a:noFill/>
          <a:ln/>
        </p:spPr>
        <p:txBody>
          <a:bodyPr wrap="square" lIns="38100" tIns="38100" rIns="38100" bIns="38100" rtlCol="0" anchor="ctr"/>
          <a:lstStyle/>
          <a:p>
            <a:pPr marL="0" indent="0" algn="ctr">
              <a:lnSpc>
                <a:spcPct val="115000"/>
              </a:lnSpc>
              <a:buNone/>
            </a:pPr>
            <a:r>
              <a:rPr lang="en-US" sz="1150" dirty="0">
                <a:solidFill>
                  <a:srgbClr val="1A1A1A"/>
                </a:solidFill>
                <a:latin typeface="Calibri" pitchFamily="34" charset="0"/>
                <a:ea typeface="Calibri" pitchFamily="34" charset="-122"/>
                <a:cs typeface="Calibri" pitchFamily="34" charset="-120"/>
              </a:rPr>
              <a:t>AlwaysOnStaffing</a:t>
            </a:r>
            <a:endParaRPr lang="en-US" sz="1150" dirty="0"/>
          </a:p>
        </p:txBody>
      </p:sp>
      <p:sp>
        <p:nvSpPr>
          <p:cNvPr id="17" name="Text 15"/>
          <p:cNvSpPr txBox="1"/>
          <p:nvPr/>
        </p:nvSpPr>
        <p:spPr>
          <a:xfrm>
            <a:off x="640080" y="4709160"/>
            <a:ext cx="3520440" cy="731520"/>
          </a:xfrm>
          <a:prstGeom prst="rect">
            <a:avLst/>
          </a:prstGeom>
          <a:noFill/>
          <a:ln/>
        </p:spPr>
        <p:txBody>
          <a:bodyPr wrap="square" lIns="0" tIns="0" rIns="0" bIns="0" rtlCol="0" anchor="ctr"/>
          <a:lstStyle/>
          <a:p>
            <a:pPr marL="0" indent="0">
              <a:lnSpc>
                <a:spcPct val="120000"/>
              </a:lnSpc>
              <a:buNone/>
            </a:pPr>
            <a:r>
              <a:rPr lang="en-US" sz="1150" dirty="0">
                <a:solidFill>
                  <a:srgbClr val="1A1A1A"/>
                </a:solidFill>
                <a:latin typeface="Calibri" pitchFamily="34" charset="0"/>
                <a:ea typeface="Calibri" pitchFamily="34" charset="-122"/>
                <a:cs typeface="Calibri" pitchFamily="34" charset="-120"/>
              </a:rPr>
              <a:t>특수 타워는 TowerPopulation 대신</a:t>
            </a:r>
            <a:endParaRPr lang="en-US" sz="1150" dirty="0"/>
          </a:p>
          <a:p>
            <a:pPr marL="0" indent="0">
              <a:lnSpc>
                <a:spcPct val="120000"/>
              </a:lnSpc>
              <a:buNone/>
            </a:pPr>
            <a:r>
              <a:rPr lang="en-US" sz="1150" dirty="0">
                <a:solidFill>
                  <a:srgbClr val="1A1A1A"/>
                </a:solidFill>
                <a:latin typeface="Calibri" pitchFamily="34" charset="0"/>
                <a:ea typeface="Calibri" pitchFamily="34" charset="-122"/>
                <a:cs typeface="Calibri" pitchFamily="34" charset="-120"/>
              </a:rPr>
              <a:t>AlwaysOnStaffing을 붙이면 끝 —</a:t>
            </a:r>
            <a:endParaRPr lang="en-US" sz="1150" dirty="0"/>
          </a:p>
          <a:p>
            <a:pPr marL="0" indent="0">
              <a:lnSpc>
                <a:spcPct val="120000"/>
              </a:lnSpc>
              <a:buNone/>
            </a:pPr>
            <a:r>
              <a:rPr lang="en-US" sz="1150" dirty="0">
                <a:solidFill>
                  <a:srgbClr val="1A1A1A"/>
                </a:solidFill>
                <a:latin typeface="Calibri" pitchFamily="34" charset="0"/>
                <a:ea typeface="Calibri" pitchFamily="34" charset="-122"/>
                <a:cs typeface="Calibri" pitchFamily="34" charset="-120"/>
              </a:rPr>
              <a:t>타워 코드에 if 분기가 없다</a:t>
            </a:r>
            <a:endParaRPr lang="en-US" sz="1150" dirty="0"/>
          </a:p>
        </p:txBody>
      </p:sp>
      <p:sp>
        <p:nvSpPr>
          <p:cNvPr id="18" name="Text 16"/>
          <p:cNvSpPr txBox="1"/>
          <p:nvPr/>
        </p:nvSpPr>
        <p:spPr>
          <a:xfrm>
            <a:off x="4334256" y="1828800"/>
            <a:ext cx="3520440" cy="310896"/>
          </a:xfrm>
          <a:prstGeom prst="rect">
            <a:avLst/>
          </a:prstGeom>
          <a:noFill/>
          <a:ln/>
        </p:spPr>
        <p:txBody>
          <a:bodyPr wrap="square" lIns="0" tIns="0" rIns="0" bIns="0" rtlCol="0" anchor="ctr"/>
          <a:lstStyle/>
          <a:p>
            <a:pPr marL="0" indent="0">
              <a:buNone/>
            </a:pPr>
            <a:r>
              <a:rPr lang="en-US" sz="1500" b="1" dirty="0">
                <a:solidFill>
                  <a:srgbClr val="B85042"/>
                </a:solidFill>
                <a:latin typeface="Calibri" pitchFamily="34" charset="0"/>
                <a:ea typeface="Calibri" pitchFamily="34" charset="-122"/>
                <a:cs typeface="Calibri" pitchFamily="34" charset="-120"/>
              </a:rPr>
              <a:t>② 데이터 조합</a:t>
            </a:r>
            <a:endParaRPr lang="en-US" sz="1500" dirty="0"/>
          </a:p>
        </p:txBody>
      </p:sp>
      <p:sp>
        <p:nvSpPr>
          <p:cNvPr id="19" name="Shape 17"/>
          <p:cNvSpPr/>
          <p:nvPr/>
        </p:nvSpPr>
        <p:spPr>
          <a:xfrm>
            <a:off x="4334256" y="2240280"/>
            <a:ext cx="3520440" cy="420624"/>
          </a:xfrm>
          <a:prstGeom prst="rect">
            <a:avLst/>
          </a:prstGeom>
          <a:solidFill>
            <a:srgbClr val="F1F1F1"/>
          </a:solidFill>
          <a:ln w="12700">
            <a:solidFill>
              <a:srgbClr val="D8D8D8"/>
            </a:solidFill>
            <a:prstDash val="solid"/>
          </a:ln>
        </p:spPr>
      </p:sp>
      <p:sp>
        <p:nvSpPr>
          <p:cNvPr id="20" name="Text 18"/>
          <p:cNvSpPr txBox="1"/>
          <p:nvPr/>
        </p:nvSpPr>
        <p:spPr>
          <a:xfrm>
            <a:off x="4334256" y="2240280"/>
            <a:ext cx="3520440" cy="420624"/>
          </a:xfrm>
          <a:prstGeom prst="rect">
            <a:avLst/>
          </a:prstGeom>
          <a:noFill/>
          <a:ln/>
        </p:spPr>
        <p:txBody>
          <a:bodyPr wrap="square" lIns="38100" tIns="38100" rIns="38100" bIns="38100" rtlCol="0" anchor="ctr"/>
          <a:lstStyle/>
          <a:p>
            <a:pPr marL="0" indent="0" algn="ctr">
              <a:lnSpc>
                <a:spcPct val="115000"/>
              </a:lnSpc>
              <a:buNone/>
            </a:pPr>
            <a:r>
              <a:rPr lang="en-US" sz="1200" dirty="0">
                <a:solidFill>
                  <a:srgbClr val="1A1A1A"/>
                </a:solidFill>
                <a:latin typeface="Calibri" pitchFamily="34" charset="0"/>
                <a:ea typeface="Calibri" pitchFamily="34" charset="-122"/>
                <a:cs typeface="Calibri" pitchFamily="34" charset="-120"/>
              </a:rPr>
              <a:t>TowerData</a:t>
            </a:r>
            <a:endParaRPr lang="en-US" sz="1200" dirty="0"/>
          </a:p>
        </p:txBody>
      </p:sp>
      <p:sp>
        <p:nvSpPr>
          <p:cNvPr id="21" name="Shape 19"/>
          <p:cNvSpPr/>
          <p:nvPr/>
        </p:nvSpPr>
        <p:spPr>
          <a:xfrm>
            <a:off x="4791456" y="2679192"/>
            <a:ext cx="91" cy="164592"/>
          </a:xfrm>
          <a:prstGeom prst="line">
            <a:avLst/>
          </a:prstGeom>
          <a:noFill/>
          <a:ln w="15875">
            <a:solidFill>
              <a:srgbClr val="6E6E6E"/>
            </a:solidFill>
            <a:prstDash val="solid"/>
            <a:tailEnd type="triangle"/>
          </a:ln>
        </p:spPr>
      </p:sp>
      <p:sp>
        <p:nvSpPr>
          <p:cNvPr id="22" name="Shape 20"/>
          <p:cNvSpPr/>
          <p:nvPr/>
        </p:nvSpPr>
        <p:spPr>
          <a:xfrm>
            <a:off x="4535424" y="2862072"/>
            <a:ext cx="3319272" cy="420624"/>
          </a:xfrm>
          <a:prstGeom prst="rect">
            <a:avLst/>
          </a:prstGeom>
          <a:solidFill>
            <a:srgbClr val="FFFFFF"/>
          </a:solidFill>
          <a:ln w="12700">
            <a:solidFill>
              <a:srgbClr val="D8D8D8"/>
            </a:solidFill>
            <a:prstDash val="solid"/>
          </a:ln>
        </p:spPr>
      </p:sp>
      <p:sp>
        <p:nvSpPr>
          <p:cNvPr id="23" name="Text 21"/>
          <p:cNvSpPr txBox="1"/>
          <p:nvPr/>
        </p:nvSpPr>
        <p:spPr>
          <a:xfrm>
            <a:off x="4535424" y="2862072"/>
            <a:ext cx="3319272" cy="420624"/>
          </a:xfrm>
          <a:prstGeom prst="rect">
            <a:avLst/>
          </a:prstGeom>
          <a:noFill/>
          <a:ln/>
        </p:spPr>
        <p:txBody>
          <a:bodyPr wrap="square" lIns="38100" tIns="38100" rIns="38100" bIns="38100" rtlCol="0" anchor="ctr"/>
          <a:lstStyle/>
          <a:p>
            <a:pPr marL="0" indent="0" algn="ctr">
              <a:lnSpc>
                <a:spcPct val="115000"/>
              </a:lnSpc>
              <a:buNone/>
            </a:pPr>
            <a:r>
              <a:rPr lang="en-US" sz="1200" dirty="0">
                <a:solidFill>
                  <a:srgbClr val="1A1A1A"/>
                </a:solidFill>
                <a:latin typeface="Calibri" pitchFamily="34" charset="0"/>
                <a:ea typeface="Calibri" pitchFamily="34" charset="-122"/>
                <a:cs typeface="Calibri" pitchFamily="34" charset="-120"/>
              </a:rPr>
              <a:t>AttackSO</a:t>
            </a:r>
            <a:endParaRPr lang="en-US" sz="1200" dirty="0"/>
          </a:p>
        </p:txBody>
      </p:sp>
      <p:sp>
        <p:nvSpPr>
          <p:cNvPr id="24" name="Shape 22"/>
          <p:cNvSpPr/>
          <p:nvPr/>
        </p:nvSpPr>
        <p:spPr>
          <a:xfrm>
            <a:off x="4992624" y="3300984"/>
            <a:ext cx="91" cy="164592"/>
          </a:xfrm>
          <a:prstGeom prst="line">
            <a:avLst/>
          </a:prstGeom>
          <a:noFill/>
          <a:ln w="15875">
            <a:solidFill>
              <a:srgbClr val="6E6E6E"/>
            </a:solidFill>
            <a:prstDash val="solid"/>
            <a:tailEnd type="triangle"/>
          </a:ln>
        </p:spPr>
      </p:sp>
      <p:sp>
        <p:nvSpPr>
          <p:cNvPr id="25" name="Shape 23"/>
          <p:cNvSpPr/>
          <p:nvPr/>
        </p:nvSpPr>
        <p:spPr>
          <a:xfrm>
            <a:off x="4736592" y="3483864"/>
            <a:ext cx="3118104" cy="420624"/>
          </a:xfrm>
          <a:prstGeom prst="rect">
            <a:avLst/>
          </a:prstGeom>
          <a:solidFill>
            <a:srgbClr val="FFFFFF"/>
          </a:solidFill>
          <a:ln w="12700">
            <a:solidFill>
              <a:srgbClr val="D8D8D8"/>
            </a:solidFill>
            <a:prstDash val="solid"/>
          </a:ln>
        </p:spPr>
      </p:sp>
      <p:sp>
        <p:nvSpPr>
          <p:cNvPr id="26" name="Text 24"/>
          <p:cNvSpPr txBox="1"/>
          <p:nvPr/>
        </p:nvSpPr>
        <p:spPr>
          <a:xfrm>
            <a:off x="4736592" y="3483864"/>
            <a:ext cx="3118104" cy="420624"/>
          </a:xfrm>
          <a:prstGeom prst="rect">
            <a:avLst/>
          </a:prstGeom>
          <a:noFill/>
          <a:ln/>
        </p:spPr>
        <p:txBody>
          <a:bodyPr wrap="square" lIns="38100" tIns="38100" rIns="38100" bIns="38100" rtlCol="0" anchor="ctr"/>
          <a:lstStyle/>
          <a:p>
            <a:pPr marL="0" indent="0" algn="ctr">
              <a:lnSpc>
                <a:spcPct val="115000"/>
              </a:lnSpc>
              <a:buNone/>
            </a:pPr>
            <a:r>
              <a:rPr lang="en-US" sz="1200" dirty="0">
                <a:solidFill>
                  <a:srgbClr val="1A1A1A"/>
                </a:solidFill>
                <a:latin typeface="Calibri" pitchFamily="34" charset="0"/>
                <a:ea typeface="Calibri" pitchFamily="34" charset="-122"/>
                <a:cs typeface="Calibri" pitchFamily="34" charset="-120"/>
              </a:rPr>
              <a:t>AttackEffectSO</a:t>
            </a:r>
            <a:endParaRPr lang="en-US" sz="1200" dirty="0"/>
          </a:p>
        </p:txBody>
      </p:sp>
      <p:sp>
        <p:nvSpPr>
          <p:cNvPr id="27" name="Shape 25"/>
          <p:cNvSpPr/>
          <p:nvPr/>
        </p:nvSpPr>
        <p:spPr>
          <a:xfrm>
            <a:off x="5193792" y="3922776"/>
            <a:ext cx="91" cy="164592"/>
          </a:xfrm>
          <a:prstGeom prst="line">
            <a:avLst/>
          </a:prstGeom>
          <a:noFill/>
          <a:ln w="15875">
            <a:solidFill>
              <a:srgbClr val="6E6E6E"/>
            </a:solidFill>
            <a:prstDash val="solid"/>
            <a:tailEnd type="triangle"/>
          </a:ln>
        </p:spPr>
      </p:sp>
      <p:sp>
        <p:nvSpPr>
          <p:cNvPr id="28" name="Shape 26"/>
          <p:cNvSpPr/>
          <p:nvPr/>
        </p:nvSpPr>
        <p:spPr>
          <a:xfrm>
            <a:off x="4937760" y="4105656"/>
            <a:ext cx="2916936" cy="420624"/>
          </a:xfrm>
          <a:prstGeom prst="rect">
            <a:avLst/>
          </a:prstGeom>
          <a:solidFill>
            <a:srgbClr val="FFFFFF"/>
          </a:solidFill>
          <a:ln w="12700">
            <a:solidFill>
              <a:srgbClr val="D8D8D8"/>
            </a:solidFill>
            <a:prstDash val="solid"/>
          </a:ln>
        </p:spPr>
      </p:sp>
      <p:sp>
        <p:nvSpPr>
          <p:cNvPr id="29" name="Text 27"/>
          <p:cNvSpPr txBox="1"/>
          <p:nvPr/>
        </p:nvSpPr>
        <p:spPr>
          <a:xfrm>
            <a:off x="4937760" y="4105656"/>
            <a:ext cx="2916936" cy="420624"/>
          </a:xfrm>
          <a:prstGeom prst="rect">
            <a:avLst/>
          </a:prstGeom>
          <a:noFill/>
          <a:ln/>
        </p:spPr>
        <p:txBody>
          <a:bodyPr wrap="square" lIns="38100" tIns="38100" rIns="38100" bIns="38100" rtlCol="0" anchor="ctr"/>
          <a:lstStyle/>
          <a:p>
            <a:pPr marL="0" indent="0" algn="ctr">
              <a:lnSpc>
                <a:spcPct val="115000"/>
              </a:lnSpc>
              <a:buNone/>
            </a:pPr>
            <a:r>
              <a:rPr lang="en-US" sz="1200" dirty="0">
                <a:solidFill>
                  <a:srgbClr val="1A1A1A"/>
                </a:solidFill>
                <a:latin typeface="Calibri" pitchFamily="34" charset="0"/>
                <a:ea typeface="Calibri" pitchFamily="34" charset="-122"/>
                <a:cs typeface="Calibri" pitchFamily="34" charset="-120"/>
              </a:rPr>
              <a:t>StatusEffectSO</a:t>
            </a:r>
            <a:endParaRPr lang="en-US" sz="1200" dirty="0"/>
          </a:p>
        </p:txBody>
      </p:sp>
      <p:sp>
        <p:nvSpPr>
          <p:cNvPr id="30" name="Text 28"/>
          <p:cNvSpPr txBox="1"/>
          <p:nvPr/>
        </p:nvSpPr>
        <p:spPr>
          <a:xfrm>
            <a:off x="4334256" y="4709160"/>
            <a:ext cx="3520440" cy="731520"/>
          </a:xfrm>
          <a:prstGeom prst="rect">
            <a:avLst/>
          </a:prstGeom>
          <a:noFill/>
          <a:ln/>
        </p:spPr>
        <p:txBody>
          <a:bodyPr wrap="square" lIns="0" tIns="0" rIns="0" bIns="0" rtlCol="0" anchor="ctr"/>
          <a:lstStyle/>
          <a:p>
            <a:pPr marL="0" indent="0">
              <a:lnSpc>
                <a:spcPct val="120000"/>
              </a:lnSpc>
              <a:buNone/>
            </a:pPr>
            <a:r>
              <a:rPr lang="en-US" sz="1150" dirty="0">
                <a:solidFill>
                  <a:srgbClr val="1A1A1A"/>
                </a:solidFill>
                <a:latin typeface="Calibri" pitchFamily="34" charset="0"/>
                <a:ea typeface="Calibri" pitchFamily="34" charset="-122"/>
                <a:cs typeface="Calibri" pitchFamily="34" charset="-120"/>
              </a:rPr>
              <a:t>SO가 SO를 참조하는 트리 구조 —</a:t>
            </a:r>
            <a:endParaRPr lang="en-US" sz="1150" dirty="0"/>
          </a:p>
          <a:p>
            <a:pPr marL="0" indent="0">
              <a:lnSpc>
                <a:spcPct val="120000"/>
              </a:lnSpc>
              <a:buNone/>
            </a:pPr>
            <a:r>
              <a:rPr lang="en-US" sz="1150" dirty="0">
                <a:solidFill>
                  <a:srgbClr val="1A1A1A"/>
                </a:solidFill>
                <a:latin typeface="Calibri" pitchFamily="34" charset="0"/>
                <a:ea typeface="Calibri" pitchFamily="34" charset="-122"/>
                <a:cs typeface="Calibri" pitchFamily="34" charset="-120"/>
              </a:rPr>
              <a:t>새 타워 = 기존 SO들의 새 조합</a:t>
            </a:r>
            <a:endParaRPr lang="en-US" sz="1150" dirty="0"/>
          </a:p>
        </p:txBody>
      </p:sp>
      <p:sp>
        <p:nvSpPr>
          <p:cNvPr id="31" name="Text 29"/>
          <p:cNvSpPr txBox="1"/>
          <p:nvPr/>
        </p:nvSpPr>
        <p:spPr>
          <a:xfrm>
            <a:off x="8028432" y="1828800"/>
            <a:ext cx="3520440" cy="310896"/>
          </a:xfrm>
          <a:prstGeom prst="rect">
            <a:avLst/>
          </a:prstGeom>
          <a:noFill/>
          <a:ln/>
        </p:spPr>
        <p:txBody>
          <a:bodyPr wrap="square" lIns="0" tIns="0" rIns="0" bIns="0" rtlCol="0" anchor="ctr"/>
          <a:lstStyle/>
          <a:p>
            <a:pPr marL="0" indent="0">
              <a:buNone/>
            </a:pPr>
            <a:r>
              <a:rPr lang="en-US" sz="1500" b="1" dirty="0">
                <a:solidFill>
                  <a:srgbClr val="B85042"/>
                </a:solidFill>
                <a:latin typeface="Calibri" pitchFamily="34" charset="0"/>
                <a:ea typeface="Calibri" pitchFamily="34" charset="-122"/>
                <a:cs typeface="Calibri" pitchFamily="34" charset="-120"/>
              </a:rPr>
              <a:t>③ 행동 조합</a:t>
            </a:r>
            <a:endParaRPr lang="en-US" sz="1500" dirty="0"/>
          </a:p>
        </p:txBody>
      </p:sp>
      <p:sp>
        <p:nvSpPr>
          <p:cNvPr id="32" name="Shape 30"/>
          <p:cNvSpPr/>
          <p:nvPr/>
        </p:nvSpPr>
        <p:spPr>
          <a:xfrm>
            <a:off x="8028432" y="2240280"/>
            <a:ext cx="3520440" cy="475488"/>
          </a:xfrm>
          <a:prstGeom prst="rect">
            <a:avLst/>
          </a:prstGeom>
          <a:solidFill>
            <a:srgbClr val="F1F1F1"/>
          </a:solidFill>
          <a:ln w="12700">
            <a:solidFill>
              <a:srgbClr val="D8D8D8"/>
            </a:solidFill>
            <a:prstDash val="solid"/>
          </a:ln>
        </p:spPr>
      </p:sp>
      <p:sp>
        <p:nvSpPr>
          <p:cNvPr id="33" name="Text 31"/>
          <p:cNvSpPr txBox="1"/>
          <p:nvPr/>
        </p:nvSpPr>
        <p:spPr>
          <a:xfrm>
            <a:off x="8028432" y="2240280"/>
            <a:ext cx="3520440" cy="475488"/>
          </a:xfrm>
          <a:prstGeom prst="rect">
            <a:avLst/>
          </a:prstGeom>
          <a:noFill/>
          <a:ln/>
        </p:spPr>
        <p:txBody>
          <a:bodyPr wrap="square" lIns="38100" tIns="38100" rIns="38100" bIns="38100" rtlCol="0" anchor="ctr"/>
          <a:lstStyle/>
          <a:p>
            <a:pPr marL="0" indent="0" algn="ctr">
              <a:lnSpc>
                <a:spcPct val="115000"/>
              </a:lnSpc>
              <a:buNone/>
            </a:pPr>
            <a:r>
              <a:rPr lang="en-US" sz="1250" b="1" dirty="0">
                <a:solidFill>
                  <a:srgbClr val="1A1A1A"/>
                </a:solidFill>
                <a:latin typeface="Calibri" pitchFamily="34" charset="0"/>
                <a:ea typeface="Calibri" pitchFamily="34" charset="-122"/>
                <a:cs typeface="Calibri" pitchFamily="34" charset="-120"/>
              </a:rPr>
              <a:t>SpecialBehaviorRunner</a:t>
            </a:r>
            <a:endParaRPr lang="en-US" sz="1250" dirty="0"/>
          </a:p>
        </p:txBody>
      </p:sp>
      <p:sp>
        <p:nvSpPr>
          <p:cNvPr id="34" name="Shape 32"/>
          <p:cNvSpPr/>
          <p:nvPr/>
        </p:nvSpPr>
        <p:spPr>
          <a:xfrm>
            <a:off x="9788652" y="2734056"/>
            <a:ext cx="91" cy="192024"/>
          </a:xfrm>
          <a:prstGeom prst="line">
            <a:avLst/>
          </a:prstGeom>
          <a:noFill/>
          <a:ln w="15875">
            <a:solidFill>
              <a:srgbClr val="6E6E6E"/>
            </a:solidFill>
            <a:prstDash val="solid"/>
            <a:tailEnd type="triangle"/>
          </a:ln>
        </p:spPr>
      </p:sp>
      <p:sp>
        <p:nvSpPr>
          <p:cNvPr id="35" name="Shape 33"/>
          <p:cNvSpPr/>
          <p:nvPr/>
        </p:nvSpPr>
        <p:spPr>
          <a:xfrm>
            <a:off x="8028432" y="2971800"/>
            <a:ext cx="3520440" cy="384048"/>
          </a:xfrm>
          <a:prstGeom prst="rect">
            <a:avLst/>
          </a:prstGeom>
          <a:solidFill>
            <a:srgbClr val="FFFFFF"/>
          </a:solidFill>
          <a:ln w="12700">
            <a:solidFill>
              <a:srgbClr val="D8D8D8"/>
            </a:solidFill>
            <a:prstDash val="solid"/>
          </a:ln>
        </p:spPr>
      </p:sp>
      <p:sp>
        <p:nvSpPr>
          <p:cNvPr id="36" name="Text 34"/>
          <p:cNvSpPr txBox="1"/>
          <p:nvPr/>
        </p:nvSpPr>
        <p:spPr>
          <a:xfrm>
            <a:off x="8028432" y="2971800"/>
            <a:ext cx="3520440" cy="384048"/>
          </a:xfrm>
          <a:prstGeom prst="rect">
            <a:avLst/>
          </a:prstGeom>
          <a:noFill/>
          <a:ln/>
        </p:spPr>
        <p:txBody>
          <a:bodyPr wrap="square" lIns="38100" tIns="38100" rIns="38100" bIns="38100" rtlCol="0" anchor="ctr"/>
          <a:lstStyle/>
          <a:p>
            <a:pPr marL="0" indent="0" algn="ctr">
              <a:lnSpc>
                <a:spcPct val="115000"/>
              </a:lnSpc>
              <a:buNone/>
            </a:pPr>
            <a:r>
              <a:rPr lang="en-US" sz="1100" dirty="0">
                <a:solidFill>
                  <a:srgbClr val="1A1A1A"/>
                </a:solidFill>
                <a:latin typeface="Calibri" pitchFamily="34" charset="0"/>
                <a:ea typeface="Calibri" pitchFamily="34" charset="-122"/>
                <a:cs typeface="Calibri" pitchFamily="34" charset="-120"/>
              </a:rPr>
              <a:t>SelfDestructBehaviorSO</a:t>
            </a:r>
            <a:endParaRPr lang="en-US" sz="1100" dirty="0"/>
          </a:p>
        </p:txBody>
      </p:sp>
      <p:sp>
        <p:nvSpPr>
          <p:cNvPr id="37" name="Shape 35"/>
          <p:cNvSpPr/>
          <p:nvPr/>
        </p:nvSpPr>
        <p:spPr>
          <a:xfrm>
            <a:off x="8028432" y="3447288"/>
            <a:ext cx="3520440" cy="384048"/>
          </a:xfrm>
          <a:prstGeom prst="rect">
            <a:avLst/>
          </a:prstGeom>
          <a:solidFill>
            <a:srgbClr val="FFFFFF"/>
          </a:solidFill>
          <a:ln w="12700">
            <a:solidFill>
              <a:srgbClr val="D8D8D8"/>
            </a:solidFill>
            <a:prstDash val="solid"/>
          </a:ln>
        </p:spPr>
      </p:sp>
      <p:sp>
        <p:nvSpPr>
          <p:cNvPr id="38" name="Text 36"/>
          <p:cNvSpPr txBox="1"/>
          <p:nvPr/>
        </p:nvSpPr>
        <p:spPr>
          <a:xfrm>
            <a:off x="8028432" y="3447288"/>
            <a:ext cx="3520440" cy="384048"/>
          </a:xfrm>
          <a:prstGeom prst="rect">
            <a:avLst/>
          </a:prstGeom>
          <a:noFill/>
          <a:ln/>
        </p:spPr>
        <p:txBody>
          <a:bodyPr wrap="square" lIns="38100" tIns="38100" rIns="38100" bIns="38100" rtlCol="0" anchor="ctr"/>
          <a:lstStyle/>
          <a:p>
            <a:pPr marL="0" indent="0" algn="ctr">
              <a:lnSpc>
                <a:spcPct val="115000"/>
              </a:lnSpc>
              <a:buNone/>
            </a:pPr>
            <a:r>
              <a:rPr lang="en-US" sz="1100" dirty="0">
                <a:solidFill>
                  <a:srgbClr val="1A1A1A"/>
                </a:solidFill>
                <a:latin typeface="Calibri" pitchFamily="34" charset="0"/>
                <a:ea typeface="Calibri" pitchFamily="34" charset="-122"/>
                <a:cs typeface="Calibri" pitchFamily="34" charset="-120"/>
              </a:rPr>
              <a:t>ProtectionAuraBehaviorSO</a:t>
            </a:r>
            <a:endParaRPr lang="en-US" sz="1100" dirty="0"/>
          </a:p>
        </p:txBody>
      </p:sp>
      <p:sp>
        <p:nvSpPr>
          <p:cNvPr id="39" name="Shape 37"/>
          <p:cNvSpPr/>
          <p:nvPr/>
        </p:nvSpPr>
        <p:spPr>
          <a:xfrm>
            <a:off x="8028432" y="3922776"/>
            <a:ext cx="3520440" cy="384048"/>
          </a:xfrm>
          <a:prstGeom prst="rect">
            <a:avLst/>
          </a:prstGeom>
          <a:solidFill>
            <a:srgbClr val="FFFFFF"/>
          </a:solidFill>
          <a:ln w="12700">
            <a:solidFill>
              <a:srgbClr val="D8D8D8"/>
            </a:solidFill>
            <a:prstDash val="solid"/>
          </a:ln>
        </p:spPr>
      </p:sp>
      <p:sp>
        <p:nvSpPr>
          <p:cNvPr id="40" name="Text 38"/>
          <p:cNvSpPr txBox="1"/>
          <p:nvPr/>
        </p:nvSpPr>
        <p:spPr>
          <a:xfrm>
            <a:off x="8028432" y="3922776"/>
            <a:ext cx="3520440" cy="384048"/>
          </a:xfrm>
          <a:prstGeom prst="rect">
            <a:avLst/>
          </a:prstGeom>
          <a:noFill/>
          <a:ln/>
        </p:spPr>
        <p:txBody>
          <a:bodyPr wrap="square" lIns="38100" tIns="38100" rIns="38100" bIns="38100" rtlCol="0" anchor="ctr"/>
          <a:lstStyle/>
          <a:p>
            <a:pPr marL="0" indent="0" algn="ctr">
              <a:lnSpc>
                <a:spcPct val="115000"/>
              </a:lnSpc>
              <a:buNone/>
            </a:pPr>
            <a:r>
              <a:rPr lang="en-US" sz="1100" dirty="0">
                <a:solidFill>
                  <a:srgbClr val="1A1A1A"/>
                </a:solidFill>
                <a:latin typeface="Calibri" pitchFamily="34" charset="0"/>
                <a:ea typeface="Calibri" pitchFamily="34" charset="-122"/>
                <a:cs typeface="Calibri" pitchFamily="34" charset="-120"/>
              </a:rPr>
              <a:t>RegeneratingShieldBehaviorSO</a:t>
            </a:r>
            <a:endParaRPr lang="en-US" sz="1100" dirty="0"/>
          </a:p>
        </p:txBody>
      </p:sp>
      <p:sp>
        <p:nvSpPr>
          <p:cNvPr id="41" name="Text 39"/>
          <p:cNvSpPr txBox="1"/>
          <p:nvPr/>
        </p:nvSpPr>
        <p:spPr>
          <a:xfrm>
            <a:off x="8028432" y="4709160"/>
            <a:ext cx="3520440" cy="731520"/>
          </a:xfrm>
          <a:prstGeom prst="rect">
            <a:avLst/>
          </a:prstGeom>
          <a:noFill/>
          <a:ln/>
        </p:spPr>
        <p:txBody>
          <a:bodyPr wrap="square" lIns="0" tIns="0" rIns="0" bIns="0" rtlCol="0" anchor="ctr"/>
          <a:lstStyle/>
          <a:p>
            <a:pPr marL="0" indent="0">
              <a:lnSpc>
                <a:spcPct val="120000"/>
              </a:lnSpc>
              <a:buNone/>
            </a:pPr>
            <a:r>
              <a:rPr lang="en-US" sz="1150" dirty="0">
                <a:solidFill>
                  <a:srgbClr val="1A1A1A"/>
                </a:solidFill>
                <a:latin typeface="Calibri" pitchFamily="34" charset="0"/>
                <a:ea typeface="Calibri" pitchFamily="34" charset="-122"/>
                <a:cs typeface="Calibri" pitchFamily="34" charset="-120"/>
              </a:rPr>
              <a:t>자폭 · 보호막 · 재생 같은 특수 행동을</a:t>
            </a:r>
            <a:endParaRPr lang="en-US" sz="1150" dirty="0"/>
          </a:p>
          <a:p>
            <a:pPr marL="0" indent="0">
              <a:lnSpc>
                <a:spcPct val="120000"/>
              </a:lnSpc>
              <a:buNone/>
            </a:pPr>
            <a:r>
              <a:rPr lang="en-US" sz="1150" dirty="0">
                <a:solidFill>
                  <a:srgbClr val="1A1A1A"/>
                </a:solidFill>
                <a:latin typeface="Calibri" pitchFamily="34" charset="0"/>
                <a:ea typeface="Calibri" pitchFamily="34" charset="-122"/>
                <a:cs typeface="Calibri" pitchFamily="34" charset="-120"/>
              </a:rPr>
              <a:t>몬스터 클래스 상속 없이 데이터로 부착</a:t>
            </a:r>
            <a:endParaRPr lang="en-US" sz="1150" dirty="0"/>
          </a:p>
        </p:txBody>
      </p:sp>
      <p:sp>
        <p:nvSpPr>
          <p:cNvPr id="42" name="Text 40"/>
          <p:cNvSpPr txBox="1"/>
          <p:nvPr/>
        </p:nvSpPr>
        <p:spPr>
          <a:xfrm>
            <a:off x="640080" y="5623560"/>
            <a:ext cx="3520440" cy="365760"/>
          </a:xfrm>
          <a:prstGeom prst="rect">
            <a:avLst/>
          </a:prstGeom>
          <a:noFill/>
          <a:ln/>
        </p:spPr>
        <p:txBody>
          <a:bodyPr wrap="square" lIns="0" tIns="0" rIns="0" bIns="0" rtlCol="0" anchor="ctr"/>
          <a:lstStyle/>
          <a:p>
            <a:pPr marL="0" indent="0">
              <a:buNone/>
            </a:pPr>
            <a:r>
              <a:rPr lang="en-US" sz="1700" b="1" dirty="0">
                <a:solidFill>
                  <a:srgbClr val="B85042"/>
                </a:solidFill>
                <a:latin typeface="Calibri" pitchFamily="34" charset="0"/>
                <a:ea typeface="Calibri" pitchFamily="34" charset="-122"/>
                <a:cs typeface="Calibri" pitchFamily="34" charset="-120"/>
              </a:rPr>
              <a:t>61종  </a:t>
            </a:r>
            <a:r>
              <a:rPr lang="en-US" sz="1150" dirty="0">
                <a:solidFill>
                  <a:srgbClr val="1A1A1A"/>
                </a:solidFill>
                <a:latin typeface="Calibri" pitchFamily="34" charset="0"/>
                <a:ea typeface="Calibri" pitchFamily="34" charset="-122"/>
                <a:cs typeface="Calibri" pitchFamily="34" charset="-120"/>
              </a:rPr>
              <a:t>EffectSO · BehaviorSO 파생</a:t>
            </a:r>
            <a:endParaRPr lang="en-US" sz="1700" dirty="0"/>
          </a:p>
        </p:txBody>
      </p:sp>
      <p:sp>
        <p:nvSpPr>
          <p:cNvPr id="43" name="Text 41"/>
          <p:cNvSpPr txBox="1"/>
          <p:nvPr/>
        </p:nvSpPr>
        <p:spPr>
          <a:xfrm>
            <a:off x="4334256" y="5623560"/>
            <a:ext cx="3520440" cy="365760"/>
          </a:xfrm>
          <a:prstGeom prst="rect">
            <a:avLst/>
          </a:prstGeom>
          <a:noFill/>
          <a:ln/>
        </p:spPr>
        <p:txBody>
          <a:bodyPr wrap="square" lIns="0" tIns="0" rIns="0" bIns="0" rtlCol="0" anchor="ctr"/>
          <a:lstStyle/>
          <a:p>
            <a:pPr marL="0" indent="0">
              <a:buNone/>
            </a:pPr>
            <a:r>
              <a:rPr lang="en-US" sz="1700" b="1" dirty="0">
                <a:solidFill>
                  <a:srgbClr val="B85042"/>
                </a:solidFill>
                <a:latin typeface="Calibri" pitchFamily="34" charset="0"/>
                <a:ea typeface="Calibri" pitchFamily="34" charset="-122"/>
                <a:cs typeface="Calibri" pitchFamily="34" charset="-120"/>
              </a:rPr>
              <a:t>0줄  </a:t>
            </a:r>
            <a:r>
              <a:rPr lang="en-US" sz="1150" dirty="0">
                <a:solidFill>
                  <a:srgbClr val="1A1A1A"/>
                </a:solidFill>
                <a:latin typeface="Calibri" pitchFamily="34" charset="0"/>
                <a:ea typeface="Calibri" pitchFamily="34" charset="-122"/>
                <a:cs typeface="Calibri" pitchFamily="34" charset="-120"/>
              </a:rPr>
              <a:t>새 효과 추가 시 매니저 수정량</a:t>
            </a:r>
            <a:endParaRPr lang="en-US" sz="1700" dirty="0"/>
          </a:p>
        </p:txBody>
      </p:sp>
      <p:sp>
        <p:nvSpPr>
          <p:cNvPr id="44" name="Text 42"/>
          <p:cNvSpPr txBox="1"/>
          <p:nvPr/>
        </p:nvSpPr>
        <p:spPr>
          <a:xfrm>
            <a:off x="8028432" y="5623560"/>
            <a:ext cx="3520440" cy="365760"/>
          </a:xfrm>
          <a:prstGeom prst="rect">
            <a:avLst/>
          </a:prstGeom>
          <a:noFill/>
          <a:ln/>
        </p:spPr>
        <p:txBody>
          <a:bodyPr wrap="square" lIns="0" tIns="0" rIns="0" bIns="0" rtlCol="0" anchor="ctr"/>
          <a:lstStyle/>
          <a:p>
            <a:pPr marL="0" indent="0">
              <a:buNone/>
            </a:pPr>
            <a:r>
              <a:rPr lang="en-US" sz="1700" b="1" dirty="0">
                <a:solidFill>
                  <a:srgbClr val="B85042"/>
                </a:solidFill>
                <a:latin typeface="Calibri" pitchFamily="34" charset="0"/>
                <a:ea typeface="Calibri" pitchFamily="34" charset="-122"/>
                <a:cs typeface="Calibri" pitchFamily="34" charset="-120"/>
              </a:rPr>
              <a:t>38노드  </a:t>
            </a:r>
            <a:r>
              <a:rPr lang="en-US" sz="1150" dirty="0">
                <a:solidFill>
                  <a:srgbClr val="1A1A1A"/>
                </a:solidFill>
                <a:latin typeface="Calibri" pitchFamily="34" charset="0"/>
                <a:ea typeface="Calibri" pitchFamily="34" charset="-122"/>
                <a:cs typeface="Calibri" pitchFamily="34" charset="-120"/>
              </a:rPr>
              <a:t>연구 트리 전면 개편 — 데이터 작업만</a:t>
            </a:r>
            <a:endParaRPr lang="en-US" sz="1700" dirty="0"/>
          </a:p>
        </p:txBody>
      </p:sp>
      <p:sp>
        <p:nvSpPr>
          <p:cNvPr id="45" name="Text 43"/>
          <p:cNvSpPr txBox="1"/>
          <p:nvPr/>
        </p:nvSpPr>
        <p:spPr>
          <a:xfrm>
            <a:off x="640080" y="6355080"/>
            <a:ext cx="5486400" cy="256032"/>
          </a:xfrm>
          <a:prstGeom prst="rect">
            <a:avLst/>
          </a:prstGeom>
          <a:noFill/>
          <a:ln/>
        </p:spPr>
        <p:txBody>
          <a:bodyPr wrap="square" lIns="0" tIns="0" rIns="0" bIns="0" rtlCol="0" anchor="ctr"/>
          <a:lstStyle/>
          <a:p>
            <a:pPr marL="0" indent="0">
              <a:buNone/>
            </a:pPr>
            <a:r>
              <a:rPr lang="en-US" sz="900" dirty="0">
                <a:solidFill>
                  <a:srgbClr val="6E6E6E"/>
                </a:solidFill>
                <a:latin typeface="Calibri" pitchFamily="34" charset="0"/>
                <a:ea typeface="Calibri" pitchFamily="34" charset="-122"/>
                <a:cs typeface="Calibri" pitchFamily="34" charset="-120"/>
              </a:rPr>
              <a:t>수성록 (Tower and Dragons) · 최종 결과 보고</a:t>
            </a:r>
            <a:endParaRPr lang="en-US" sz="900" dirty="0"/>
          </a:p>
        </p:txBody>
      </p:sp>
      <p:sp>
        <p:nvSpPr>
          <p:cNvPr id="46" name="Text 44"/>
          <p:cNvSpPr txBox="1"/>
          <p:nvPr/>
        </p:nvSpPr>
        <p:spPr>
          <a:xfrm>
            <a:off x="6062472" y="6355080"/>
            <a:ext cx="5486400" cy="256032"/>
          </a:xfrm>
          <a:prstGeom prst="rect">
            <a:avLst/>
          </a:prstGeom>
          <a:noFill/>
          <a:ln/>
        </p:spPr>
        <p:txBody>
          <a:bodyPr wrap="square" lIns="0" tIns="0" rIns="0" bIns="0" rtlCol="0" anchor="ctr"/>
          <a:lstStyle/>
          <a:p>
            <a:pPr marL="0" indent="0" algn="r">
              <a:buNone/>
            </a:pPr>
            <a:r>
              <a:rPr lang="en-US" sz="900" dirty="0">
                <a:solidFill>
                  <a:srgbClr val="6E6E6E"/>
                </a:solidFill>
                <a:latin typeface="Calibri" pitchFamily="34" charset="0"/>
                <a:ea typeface="Calibri" pitchFamily="34" charset="-122"/>
                <a:cs typeface="Calibri" pitchFamily="34" charset="-120"/>
              </a:rPr>
              <a:t>04 — 핵심 기술 구현</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47472"/>
            <a:ext cx="10908792" cy="256032"/>
          </a:xfrm>
          <a:prstGeom prst="rect">
            <a:avLst/>
          </a:prstGeom>
          <a:noFill/>
          <a:ln/>
        </p:spPr>
        <p:txBody>
          <a:bodyPr wrap="square" lIns="0" tIns="0" rIns="0" bIns="0" rtlCol="0" anchor="ctr"/>
          <a:lstStyle/>
          <a:p>
            <a:pPr marL="0" indent="0">
              <a:buNone/>
            </a:pPr>
            <a:r>
              <a:rPr lang="en-US" sz="1100" b="1" dirty="0">
                <a:solidFill>
                  <a:srgbClr val="B85042"/>
                </a:solidFill>
                <a:latin typeface="Calibri" pitchFamily="34" charset="0"/>
                <a:ea typeface="Calibri" pitchFamily="34" charset="-122"/>
                <a:cs typeface="Calibri" pitchFamily="34" charset="-120"/>
              </a:rPr>
              <a:t>04</a:t>
            </a:r>
            <a:r>
              <a:rPr lang="en-US" sz="1100" dirty="0">
                <a:solidFill>
                  <a:srgbClr val="6E6E6E"/>
                </a:solidFill>
                <a:latin typeface="Calibri" pitchFamily="34" charset="0"/>
                <a:ea typeface="Calibri" pitchFamily="34" charset="-122"/>
                <a:cs typeface="Calibri" pitchFamily="34" charset="-120"/>
              </a:rPr>
              <a:t>   핵심 기술 구현</a:t>
            </a:r>
            <a:endParaRPr lang="en-US" sz="1100" dirty="0"/>
          </a:p>
        </p:txBody>
      </p:sp>
      <p:sp>
        <p:nvSpPr>
          <p:cNvPr id="3" name="Text 1"/>
          <p:cNvSpPr txBox="1"/>
          <p:nvPr/>
        </p:nvSpPr>
        <p:spPr>
          <a:xfrm>
            <a:off x="640080" y="621792"/>
            <a:ext cx="10908792" cy="640080"/>
          </a:xfrm>
          <a:prstGeom prst="rect">
            <a:avLst/>
          </a:prstGeom>
          <a:noFill/>
          <a:ln/>
        </p:spPr>
        <p:txBody>
          <a:bodyPr wrap="square" lIns="0" tIns="0" rIns="0" bIns="0" rtlCol="0" anchor="t"/>
          <a:lstStyle/>
          <a:p>
            <a:pPr marL="0" indent="0">
              <a:buNone/>
            </a:pPr>
            <a:r>
              <a:rPr lang="en-US" sz="3000" b="1" dirty="0">
                <a:solidFill>
                  <a:srgbClr val="1A1A1A"/>
                </a:solidFill>
                <a:latin typeface="Calibri" pitchFamily="34" charset="0"/>
                <a:ea typeface="Calibri" pitchFamily="34" charset="-122"/>
                <a:cs typeface="Calibri" pitchFamily="34" charset="-120"/>
              </a:rPr>
              <a:t>적용한 디자인 패턴</a:t>
            </a:r>
            <a:endParaRPr lang="en-US" sz="3000" dirty="0"/>
          </a:p>
        </p:txBody>
      </p:sp>
      <p:sp>
        <p:nvSpPr>
          <p:cNvPr id="4" name="Text 2"/>
          <p:cNvSpPr txBox="1"/>
          <p:nvPr/>
        </p:nvSpPr>
        <p:spPr>
          <a:xfrm>
            <a:off x="640080" y="1280160"/>
            <a:ext cx="10908792" cy="292608"/>
          </a:xfrm>
          <a:prstGeom prst="rect">
            <a:avLst/>
          </a:prstGeom>
          <a:noFill/>
          <a:ln/>
        </p:spPr>
        <p:txBody>
          <a:bodyPr wrap="square" lIns="0" tIns="0" rIns="0" bIns="0" rtlCol="0" anchor="ctr"/>
          <a:lstStyle/>
          <a:p>
            <a:pPr marL="0" indent="0">
              <a:buNone/>
            </a:pPr>
            <a:r>
              <a:rPr lang="en-US" sz="1300" dirty="0">
                <a:solidFill>
                  <a:srgbClr val="6E6E6E"/>
                </a:solidFill>
                <a:latin typeface="Calibri" pitchFamily="34" charset="0"/>
                <a:ea typeface="Calibri" pitchFamily="34" charset="-122"/>
                <a:cs typeface="Calibri" pitchFamily="34" charset="-120"/>
              </a:rPr>
              <a:t>패턴을 쓴 것이 아니라, 겪은 문제를 패턴으로 풀었습니다</a:t>
            </a:r>
            <a:endParaRPr lang="en-US" sz="13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0080" y="2011680"/>
          <a:ext cx="10908792" cy="3950208"/>
        </p:xfrm>
        <a:graphic>
          <a:graphicData uri="http://schemas.openxmlformats.org/drawingml/2006/table">
            <a:tbl>
              <a:tblPr/>
              <a:tblGrid>
                <a:gridCol w="3291840">
                  <a:extLst>
                    <a:ext uri="{9D8B030D-6E8A-4147-A177-3AD203B41FA5}">
                      <a16:colId xmlns:a16="http://schemas.microsoft.com/office/drawing/2014/main" val="20000"/>
                    </a:ext>
                  </a:extLst>
                </a:gridCol>
                <a:gridCol w="7616952">
                  <a:extLst>
                    <a:ext uri="{9D8B030D-6E8A-4147-A177-3AD203B41FA5}">
                      <a16:colId xmlns:a16="http://schemas.microsoft.com/office/drawing/2014/main" val="20001"/>
                    </a:ext>
                  </a:extLst>
                </a:gridCol>
              </a:tblGrid>
              <a:tr h="438912">
                <a:tc>
                  <a:txBody>
                    <a:bodyPr/>
                    <a:lstStyle/>
                    <a:p>
                      <a:pPr marL="0" indent="0">
                        <a:buNone/>
                      </a:pPr>
                      <a:r>
                        <a:rPr lang="en-US" sz="1500" b="1" dirty="0">
                          <a:solidFill>
                            <a:srgbClr val="FFFFFF"/>
                          </a:solidFill>
                          <a:latin typeface="Calibri" pitchFamily="34" charset="0"/>
                          <a:ea typeface="Calibri" pitchFamily="34" charset="-122"/>
                          <a:cs typeface="Calibri" pitchFamily="34" charset="-120"/>
                        </a:rPr>
                        <a:t>패턴</a:t>
                      </a:r>
                      <a:endParaRPr lang="en-US" sz="15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solidFill>
                      <a:srgbClr val="2B2B2B"/>
                    </a:solidFill>
                  </a:tcPr>
                </a:tc>
                <a:tc>
                  <a:txBody>
                    <a:bodyPr/>
                    <a:lstStyle/>
                    <a:p>
                      <a:pPr marL="0" indent="0">
                        <a:buNone/>
                      </a:pPr>
                      <a:r>
                        <a:rPr lang="en-US" sz="1500" b="1" dirty="0">
                          <a:solidFill>
                            <a:srgbClr val="FFFFFF"/>
                          </a:solidFill>
                          <a:latin typeface="Calibri" pitchFamily="34" charset="0"/>
                          <a:ea typeface="Calibri" pitchFamily="34" charset="-122"/>
                          <a:cs typeface="Calibri" pitchFamily="34" charset="-120"/>
                        </a:rPr>
                        <a:t>해결한 문제</a:t>
                      </a:r>
                      <a:endParaRPr lang="en-US" sz="15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solidFill>
                      <a:srgbClr val="2B2B2B"/>
                    </a:solidFill>
                  </a:tcPr>
                </a:tc>
                <a:extLst>
                  <a:ext uri="{0D108BD9-81ED-4DB2-BD59-A6C34878D82A}">
                    <a16:rowId xmlns:a16="http://schemas.microsoft.com/office/drawing/2014/main" val="10000"/>
                  </a:ext>
                </a:extLst>
              </a:tr>
              <a:tr h="438912">
                <a:tc>
                  <a:txBody>
                    <a:bodyPr/>
                    <a:lstStyle/>
                    <a:p>
                      <a:pPr marL="0" indent="0">
                        <a:buNone/>
                      </a:pPr>
                      <a:r>
                        <a:rPr lang="en-US" sz="1500" dirty="0">
                          <a:solidFill>
                            <a:srgbClr val="1A1A1A"/>
                          </a:solidFill>
                          <a:latin typeface="Calibri" pitchFamily="34" charset="0"/>
                          <a:ea typeface="Calibri" pitchFamily="34" charset="-122"/>
                          <a:cs typeface="Calibri" pitchFamily="34" charset="-120"/>
                        </a:rPr>
                        <a:t>Strategy</a:t>
                      </a:r>
                      <a:endParaRPr lang="en-US" sz="15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500" dirty="0">
                          <a:solidFill>
                            <a:srgbClr val="1A1A1A"/>
                          </a:solidFill>
                          <a:latin typeface="Calibri" pitchFamily="34" charset="0"/>
                          <a:ea typeface="Calibri" pitchFamily="34" charset="-122"/>
                          <a:cs typeface="Calibri" pitchFamily="34" charset="-120"/>
                        </a:rPr>
                        <a:t>효과 종류마다 매니저에 switch 분기가 쌓임</a:t>
                      </a:r>
                      <a:endParaRPr lang="en-US" sz="15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extLst>
                  <a:ext uri="{0D108BD9-81ED-4DB2-BD59-A6C34878D82A}">
                    <a16:rowId xmlns:a16="http://schemas.microsoft.com/office/drawing/2014/main" val="10001"/>
                  </a:ext>
                </a:extLst>
              </a:tr>
              <a:tr h="438912">
                <a:tc>
                  <a:txBody>
                    <a:bodyPr/>
                    <a:lstStyle/>
                    <a:p>
                      <a:pPr marL="0" indent="0">
                        <a:buNone/>
                      </a:pPr>
                      <a:r>
                        <a:rPr lang="en-US" sz="1500" dirty="0">
                          <a:solidFill>
                            <a:srgbClr val="1A1A1A"/>
                          </a:solidFill>
                          <a:latin typeface="Calibri" pitchFamily="34" charset="0"/>
                          <a:ea typeface="Calibri" pitchFamily="34" charset="-122"/>
                          <a:cs typeface="Calibri" pitchFamily="34" charset="-120"/>
                        </a:rPr>
                        <a:t>Composite</a:t>
                      </a:r>
                      <a:endParaRPr lang="en-US" sz="15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500" dirty="0">
                          <a:solidFill>
                            <a:srgbClr val="1A1A1A"/>
                          </a:solidFill>
                          <a:latin typeface="Calibri" pitchFamily="34" charset="0"/>
                          <a:ea typeface="Calibri" pitchFamily="34" charset="-122"/>
                          <a:cs typeface="Calibri" pitchFamily="34" charset="-120"/>
                        </a:rPr>
                        <a:t>한 스탯에 네 시스템이 동시 개입</a:t>
                      </a:r>
                      <a:endParaRPr lang="en-US" sz="15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extLst>
                  <a:ext uri="{0D108BD9-81ED-4DB2-BD59-A6C34878D82A}">
                    <a16:rowId xmlns:a16="http://schemas.microsoft.com/office/drawing/2014/main" val="10002"/>
                  </a:ext>
                </a:extLst>
              </a:tr>
              <a:tr h="438912">
                <a:tc>
                  <a:txBody>
                    <a:bodyPr/>
                    <a:lstStyle/>
                    <a:p>
                      <a:pPr marL="0" indent="0">
                        <a:buNone/>
                      </a:pPr>
                      <a:r>
                        <a:rPr lang="en-US" sz="1500" dirty="0">
                          <a:solidFill>
                            <a:srgbClr val="1A1A1A"/>
                          </a:solidFill>
                          <a:latin typeface="Calibri" pitchFamily="34" charset="0"/>
                          <a:ea typeface="Calibri" pitchFamily="34" charset="-122"/>
                          <a:cs typeface="Calibri" pitchFamily="34" charset="-120"/>
                        </a:rPr>
                        <a:t>Template Method</a:t>
                      </a:r>
                      <a:endParaRPr lang="en-US" sz="15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500" dirty="0">
                          <a:solidFill>
                            <a:srgbClr val="1A1A1A"/>
                          </a:solidFill>
                          <a:latin typeface="Calibri" pitchFamily="34" charset="0"/>
                          <a:ea typeface="Calibri" pitchFamily="34" charset="-122"/>
                          <a:cs typeface="Calibri" pitchFamily="34" charset="-120"/>
                        </a:rPr>
                        <a:t>용 · 연구 트리가 순회 로직을 중복 구현</a:t>
                      </a:r>
                      <a:endParaRPr lang="en-US" sz="15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extLst>
                  <a:ext uri="{0D108BD9-81ED-4DB2-BD59-A6C34878D82A}">
                    <a16:rowId xmlns:a16="http://schemas.microsoft.com/office/drawing/2014/main" val="10003"/>
                  </a:ext>
                </a:extLst>
              </a:tr>
              <a:tr h="438912">
                <a:tc>
                  <a:txBody>
                    <a:bodyPr/>
                    <a:lstStyle/>
                    <a:p>
                      <a:pPr marL="0" indent="0">
                        <a:buNone/>
                      </a:pPr>
                      <a:r>
                        <a:rPr lang="en-US" sz="1500" dirty="0">
                          <a:solidFill>
                            <a:srgbClr val="1A1A1A"/>
                          </a:solidFill>
                          <a:latin typeface="Calibri" pitchFamily="34" charset="0"/>
                          <a:ea typeface="Calibri" pitchFamily="34" charset="-122"/>
                          <a:cs typeface="Calibri" pitchFamily="34" charset="-120"/>
                        </a:rPr>
                        <a:t>Null Object</a:t>
                      </a:r>
                      <a:endParaRPr lang="en-US" sz="15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500" dirty="0">
                          <a:solidFill>
                            <a:srgbClr val="1A1A1A"/>
                          </a:solidFill>
                          <a:latin typeface="Calibri" pitchFamily="34" charset="0"/>
                          <a:ea typeface="Calibri" pitchFamily="34" charset="-122"/>
                          <a:cs typeface="Calibri" pitchFamily="34" charset="-120"/>
                        </a:rPr>
                        <a:t>예외 케이스마다 if 분기가 증식</a:t>
                      </a:r>
                      <a:endParaRPr lang="en-US" sz="15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extLst>
                  <a:ext uri="{0D108BD9-81ED-4DB2-BD59-A6C34878D82A}">
                    <a16:rowId xmlns:a16="http://schemas.microsoft.com/office/drawing/2014/main" val="10004"/>
                  </a:ext>
                </a:extLst>
              </a:tr>
              <a:tr h="438912">
                <a:tc>
                  <a:txBody>
                    <a:bodyPr/>
                    <a:lstStyle/>
                    <a:p>
                      <a:pPr marL="0" indent="0">
                        <a:buNone/>
                      </a:pPr>
                      <a:r>
                        <a:rPr lang="en-US" sz="1500" dirty="0">
                          <a:solidFill>
                            <a:srgbClr val="1A1A1A"/>
                          </a:solidFill>
                          <a:latin typeface="Calibri" pitchFamily="34" charset="0"/>
                          <a:ea typeface="Calibri" pitchFamily="34" charset="-122"/>
                          <a:cs typeface="Calibri" pitchFamily="34" charset="-120"/>
                        </a:rPr>
                        <a:t>Object Pool</a:t>
                      </a:r>
                      <a:endParaRPr lang="en-US" sz="15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500" dirty="0">
                          <a:solidFill>
                            <a:srgbClr val="1A1A1A"/>
                          </a:solidFill>
                          <a:latin typeface="Calibri" pitchFamily="34" charset="0"/>
                          <a:ea typeface="Calibri" pitchFamily="34" charset="-122"/>
                          <a:cs typeface="Calibri" pitchFamily="34" charset="-120"/>
                        </a:rPr>
                        <a:t>연출 오브젝트의 반복 생성 · 파괴 비용</a:t>
                      </a:r>
                      <a:endParaRPr lang="en-US" sz="15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extLst>
                  <a:ext uri="{0D108BD9-81ED-4DB2-BD59-A6C34878D82A}">
                    <a16:rowId xmlns:a16="http://schemas.microsoft.com/office/drawing/2014/main" val="10005"/>
                  </a:ext>
                </a:extLst>
              </a:tr>
              <a:tr h="438912">
                <a:tc>
                  <a:txBody>
                    <a:bodyPr/>
                    <a:lstStyle/>
                    <a:p>
                      <a:pPr marL="0" indent="0">
                        <a:buNone/>
                      </a:pPr>
                      <a:r>
                        <a:rPr lang="en-US" sz="1500" dirty="0">
                          <a:solidFill>
                            <a:srgbClr val="1A1A1A"/>
                          </a:solidFill>
                          <a:latin typeface="Calibri" pitchFamily="34" charset="0"/>
                          <a:ea typeface="Calibri" pitchFamily="34" charset="-122"/>
                          <a:cs typeface="Calibri" pitchFamily="34" charset="-120"/>
                        </a:rPr>
                        <a:t>Observer</a:t>
                      </a:r>
                      <a:endParaRPr lang="en-US" sz="15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500" dirty="0">
                          <a:solidFill>
                            <a:srgbClr val="1A1A1A"/>
                          </a:solidFill>
                          <a:latin typeface="Calibri" pitchFamily="34" charset="0"/>
                          <a:ea typeface="Calibri" pitchFamily="34" charset="-122"/>
                          <a:cs typeface="Calibri" pitchFamily="34" charset="-120"/>
                        </a:rPr>
                        <a:t>시스템 간 직접 참조</a:t>
                      </a:r>
                      <a:endParaRPr lang="en-US" sz="15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extLst>
                  <a:ext uri="{0D108BD9-81ED-4DB2-BD59-A6C34878D82A}">
                    <a16:rowId xmlns:a16="http://schemas.microsoft.com/office/drawing/2014/main" val="10006"/>
                  </a:ext>
                </a:extLst>
              </a:tr>
              <a:tr h="438912">
                <a:tc>
                  <a:txBody>
                    <a:bodyPr/>
                    <a:lstStyle/>
                    <a:p>
                      <a:pPr marL="0" indent="0">
                        <a:buNone/>
                      </a:pPr>
                      <a:r>
                        <a:rPr lang="en-US" sz="1500" dirty="0">
                          <a:solidFill>
                            <a:srgbClr val="1A1A1A"/>
                          </a:solidFill>
                          <a:latin typeface="Calibri" pitchFamily="34" charset="0"/>
                          <a:ea typeface="Calibri" pitchFamily="34" charset="-122"/>
                          <a:cs typeface="Calibri" pitchFamily="34" charset="-120"/>
                        </a:rPr>
                        <a:t>State</a:t>
                      </a:r>
                      <a:endParaRPr lang="en-US" sz="15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500" dirty="0">
                          <a:solidFill>
                            <a:srgbClr val="1A1A1A"/>
                          </a:solidFill>
                          <a:latin typeface="Calibri" pitchFamily="34" charset="0"/>
                          <a:ea typeface="Calibri" pitchFamily="34" charset="-122"/>
                          <a:cs typeface="Calibri" pitchFamily="34" charset="-120"/>
                        </a:rPr>
                        <a:t>낮 / 밤 전이 규칙이 여러 곳에 흩어짐</a:t>
                      </a:r>
                      <a:endParaRPr lang="en-US" sz="15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extLst>
                  <a:ext uri="{0D108BD9-81ED-4DB2-BD59-A6C34878D82A}">
                    <a16:rowId xmlns:a16="http://schemas.microsoft.com/office/drawing/2014/main" val="10007"/>
                  </a:ext>
                </a:extLst>
              </a:tr>
              <a:tr h="438912">
                <a:tc>
                  <a:txBody>
                    <a:bodyPr/>
                    <a:lstStyle/>
                    <a:p>
                      <a:pPr marL="0" indent="0">
                        <a:buNone/>
                      </a:pPr>
                      <a:r>
                        <a:rPr lang="en-US" sz="1500" dirty="0">
                          <a:solidFill>
                            <a:srgbClr val="1A1A1A"/>
                          </a:solidFill>
                          <a:latin typeface="Calibri" pitchFamily="34" charset="0"/>
                          <a:ea typeface="Calibri" pitchFamily="34" charset="-122"/>
                          <a:cs typeface="Calibri" pitchFamily="34" charset="-120"/>
                        </a:rPr>
                        <a:t>DTO</a:t>
                      </a:r>
                      <a:endParaRPr lang="en-US" sz="15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500" dirty="0">
                          <a:solidFill>
                            <a:srgbClr val="1A1A1A"/>
                          </a:solidFill>
                          <a:latin typeface="Calibri" pitchFamily="34" charset="0"/>
                          <a:ea typeface="Calibri" pitchFamily="34" charset="-122"/>
                          <a:cs typeface="Calibri" pitchFamily="34" charset="-120"/>
                        </a:rPr>
                        <a:t>런타임 객체와 저장 포맷의 결합</a:t>
                      </a:r>
                      <a:endParaRPr lang="en-US" sz="150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6" name="Text 3"/>
          <p:cNvSpPr txBox="1"/>
          <p:nvPr/>
        </p:nvSpPr>
        <p:spPr>
          <a:xfrm>
            <a:off x="640080" y="6355080"/>
            <a:ext cx="5486400" cy="256032"/>
          </a:xfrm>
          <a:prstGeom prst="rect">
            <a:avLst/>
          </a:prstGeom>
          <a:noFill/>
          <a:ln/>
        </p:spPr>
        <p:txBody>
          <a:bodyPr wrap="square" lIns="0" tIns="0" rIns="0" bIns="0" rtlCol="0" anchor="ctr"/>
          <a:lstStyle/>
          <a:p>
            <a:pPr marL="0" indent="0">
              <a:buNone/>
            </a:pPr>
            <a:r>
              <a:rPr lang="en-US" sz="900" dirty="0">
                <a:solidFill>
                  <a:srgbClr val="6E6E6E"/>
                </a:solidFill>
                <a:latin typeface="Calibri" pitchFamily="34" charset="0"/>
                <a:ea typeface="Calibri" pitchFamily="34" charset="-122"/>
                <a:cs typeface="Calibri" pitchFamily="34" charset="-120"/>
              </a:rPr>
              <a:t>수성록 (Tower and Dragons) · 최종 결과 보고</a:t>
            </a:r>
            <a:endParaRPr lang="en-US" sz="900" dirty="0"/>
          </a:p>
        </p:txBody>
      </p:sp>
      <p:sp>
        <p:nvSpPr>
          <p:cNvPr id="7" name="Text 4"/>
          <p:cNvSpPr txBox="1"/>
          <p:nvPr/>
        </p:nvSpPr>
        <p:spPr>
          <a:xfrm>
            <a:off x="6062472" y="6355080"/>
            <a:ext cx="5486400" cy="256032"/>
          </a:xfrm>
          <a:prstGeom prst="rect">
            <a:avLst/>
          </a:prstGeom>
          <a:noFill/>
          <a:ln/>
        </p:spPr>
        <p:txBody>
          <a:bodyPr wrap="square" lIns="0" tIns="0" rIns="0" bIns="0" rtlCol="0" anchor="ctr"/>
          <a:lstStyle/>
          <a:p>
            <a:pPr marL="0" indent="0" algn="r">
              <a:buNone/>
            </a:pPr>
            <a:r>
              <a:rPr lang="en-US" sz="900" dirty="0">
                <a:solidFill>
                  <a:srgbClr val="6E6E6E"/>
                </a:solidFill>
                <a:latin typeface="Calibri" pitchFamily="34" charset="0"/>
                <a:ea typeface="Calibri" pitchFamily="34" charset="-122"/>
                <a:cs typeface="Calibri" pitchFamily="34" charset="-120"/>
              </a:rPr>
              <a:t>04 — 핵심 기술 구현</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47472"/>
            <a:ext cx="10908792" cy="256032"/>
          </a:xfrm>
          <a:prstGeom prst="rect">
            <a:avLst/>
          </a:prstGeom>
          <a:noFill/>
          <a:ln/>
        </p:spPr>
        <p:txBody>
          <a:bodyPr wrap="square" lIns="0" tIns="0" rIns="0" bIns="0" rtlCol="0" anchor="ctr"/>
          <a:lstStyle/>
          <a:p>
            <a:pPr marL="0" indent="0">
              <a:buNone/>
            </a:pPr>
            <a:r>
              <a:rPr lang="en-US" sz="1100" b="1" dirty="0">
                <a:solidFill>
                  <a:srgbClr val="B85042"/>
                </a:solidFill>
                <a:latin typeface="Calibri" pitchFamily="34" charset="0"/>
                <a:ea typeface="Calibri" pitchFamily="34" charset="-122"/>
                <a:cs typeface="Calibri" pitchFamily="34" charset="-120"/>
              </a:rPr>
              <a:t>04</a:t>
            </a:r>
            <a:r>
              <a:rPr lang="en-US" sz="1100" dirty="0">
                <a:solidFill>
                  <a:srgbClr val="6E6E6E"/>
                </a:solidFill>
                <a:latin typeface="Calibri" pitchFamily="34" charset="0"/>
                <a:ea typeface="Calibri" pitchFamily="34" charset="-122"/>
                <a:cs typeface="Calibri" pitchFamily="34" charset="-120"/>
              </a:rPr>
              <a:t>   핵심 기술 구현</a:t>
            </a:r>
            <a:endParaRPr lang="en-US" sz="1100" dirty="0"/>
          </a:p>
        </p:txBody>
      </p:sp>
      <p:sp>
        <p:nvSpPr>
          <p:cNvPr id="3" name="Text 1"/>
          <p:cNvSpPr txBox="1"/>
          <p:nvPr/>
        </p:nvSpPr>
        <p:spPr>
          <a:xfrm>
            <a:off x="640080" y="621792"/>
            <a:ext cx="10908792" cy="640080"/>
          </a:xfrm>
          <a:prstGeom prst="rect">
            <a:avLst/>
          </a:prstGeom>
          <a:noFill/>
          <a:ln/>
        </p:spPr>
        <p:txBody>
          <a:bodyPr wrap="square" lIns="0" tIns="0" rIns="0" bIns="0" rtlCol="0" anchor="t"/>
          <a:lstStyle/>
          <a:p>
            <a:pPr marL="0" indent="0">
              <a:buNone/>
            </a:pPr>
            <a:r>
              <a:rPr lang="en-US" sz="3000" b="1" dirty="0">
                <a:solidFill>
                  <a:srgbClr val="1A1A1A"/>
                </a:solidFill>
                <a:latin typeface="Calibri" pitchFamily="34" charset="0"/>
                <a:ea typeface="Calibri" pitchFamily="34" charset="-122"/>
                <a:cs typeface="Calibri" pitchFamily="34" charset="-120"/>
              </a:rPr>
              <a:t>런타임 성능과 리소스 최적화</a:t>
            </a:r>
            <a:endParaRPr lang="en-US" sz="3000" dirty="0"/>
          </a:p>
        </p:txBody>
      </p:sp>
      <p:sp>
        <p:nvSpPr>
          <p:cNvPr id="4" name="Text 2"/>
          <p:cNvSpPr txBox="1"/>
          <p:nvPr/>
        </p:nvSpPr>
        <p:spPr>
          <a:xfrm>
            <a:off x="640080" y="1280160"/>
            <a:ext cx="10908792" cy="292608"/>
          </a:xfrm>
          <a:prstGeom prst="rect">
            <a:avLst/>
          </a:prstGeom>
          <a:noFill/>
          <a:ln/>
        </p:spPr>
        <p:txBody>
          <a:bodyPr wrap="square" lIns="0" tIns="0" rIns="0" bIns="0" rtlCol="0" anchor="ctr"/>
          <a:lstStyle/>
          <a:p>
            <a:pPr marL="0" indent="0">
              <a:buNone/>
            </a:pPr>
            <a:r>
              <a:rPr lang="en-US" sz="1300" dirty="0">
                <a:solidFill>
                  <a:srgbClr val="6E6E6E"/>
                </a:solidFill>
                <a:latin typeface="Calibri" pitchFamily="34" charset="0"/>
                <a:ea typeface="Calibri" pitchFamily="34" charset="-122"/>
                <a:cs typeface="Calibri" pitchFamily="34" charset="-120"/>
              </a:rPr>
              <a:t>성능 문제를 나중에 잡은 것이 아니라, 생기지 않게 설계했습니다</a:t>
            </a:r>
            <a:endParaRPr lang="en-US" sz="1300" dirty="0"/>
          </a:p>
        </p:txBody>
      </p:sp>
      <p:sp>
        <p:nvSpPr>
          <p:cNvPr id="5" name="Text 3"/>
          <p:cNvSpPr txBox="1"/>
          <p:nvPr/>
        </p:nvSpPr>
        <p:spPr>
          <a:xfrm>
            <a:off x="640080" y="2011680"/>
            <a:ext cx="2377440" cy="502920"/>
          </a:xfrm>
          <a:prstGeom prst="rect">
            <a:avLst/>
          </a:prstGeom>
          <a:noFill/>
          <a:ln/>
        </p:spPr>
        <p:txBody>
          <a:bodyPr wrap="square" lIns="0" tIns="0" rIns="0" bIns="0" rtlCol="0" anchor="ctr"/>
          <a:lstStyle/>
          <a:p>
            <a:pPr marL="0" indent="0">
              <a:buNone/>
            </a:pPr>
            <a:r>
              <a:rPr lang="en-US" sz="2600" b="1" dirty="0">
                <a:solidFill>
                  <a:srgbClr val="B85042"/>
                </a:solidFill>
                <a:latin typeface="Calibri" pitchFamily="34" charset="0"/>
                <a:ea typeface="Calibri" pitchFamily="34" charset="-122"/>
                <a:cs typeface="Calibri" pitchFamily="34" charset="-120"/>
              </a:rPr>
              <a:t>메모리</a:t>
            </a:r>
            <a:endParaRPr lang="en-US" sz="2600" dirty="0"/>
          </a:p>
        </p:txBody>
      </p:sp>
      <p:sp>
        <p:nvSpPr>
          <p:cNvPr id="6" name="Text 4"/>
          <p:cNvSpPr txBox="1"/>
          <p:nvPr/>
        </p:nvSpPr>
        <p:spPr>
          <a:xfrm>
            <a:off x="640080" y="2514600"/>
            <a:ext cx="2377440" cy="320040"/>
          </a:xfrm>
          <a:prstGeom prst="rect">
            <a:avLst/>
          </a:prstGeom>
          <a:noFill/>
          <a:ln/>
        </p:spPr>
        <p:txBody>
          <a:bodyPr wrap="square" lIns="0" tIns="0" rIns="0" bIns="0" rtlCol="0" anchor="ctr"/>
          <a:lstStyle/>
          <a:p>
            <a:pPr marL="0" indent="0">
              <a:buNone/>
            </a:pPr>
            <a:r>
              <a:rPr lang="en-US" sz="1200" dirty="0">
                <a:solidFill>
                  <a:srgbClr val="6E6E6E"/>
                </a:solidFill>
                <a:latin typeface="Calibri" pitchFamily="34" charset="0"/>
                <a:ea typeface="Calibri" pitchFamily="34" charset="-122"/>
                <a:cs typeface="Calibri" pitchFamily="34" charset="-120"/>
              </a:rPr>
              <a:t>생성과 파괴를 없앤다</a:t>
            </a:r>
            <a:endParaRPr lang="en-US" sz="1200" dirty="0"/>
          </a:p>
        </p:txBody>
      </p:sp>
      <p:sp>
        <p:nvSpPr>
          <p:cNvPr id="7" name="Text 5"/>
          <p:cNvSpPr txBox="1"/>
          <p:nvPr/>
        </p:nvSpPr>
        <p:spPr>
          <a:xfrm>
            <a:off x="3429000" y="2029968"/>
            <a:ext cx="8119872" cy="1005840"/>
          </a:xfrm>
          <a:prstGeom prst="rect">
            <a:avLst/>
          </a:prstGeom>
          <a:noFill/>
          <a:ln/>
        </p:spPr>
        <p:txBody>
          <a:bodyPr wrap="square" lIns="0" tIns="0" rIns="0" bIns="0" rtlCol="0" anchor="t"/>
          <a:lstStyle/>
          <a:p>
            <a:pPr marL="0" indent="0">
              <a:lnSpc>
                <a:spcPct val="130000"/>
              </a:lnSpc>
              <a:buNone/>
            </a:pPr>
            <a:r>
              <a:rPr lang="en-US" sz="1500" dirty="0">
                <a:solidFill>
                  <a:srgbClr val="1A1A1A"/>
                </a:solidFill>
                <a:latin typeface="Calibri" pitchFamily="34" charset="0"/>
                <a:ea typeface="Calibri" pitchFamily="34" charset="-122"/>
                <a:cs typeface="Calibri" pitchFamily="34" charset="-120"/>
              </a:rPr>
              <a:t>오브젝트 풀링을 수명 특성에 따라 두 종류로 분리</a:t>
            </a:r>
            <a:endParaRPr lang="en-US" sz="1500" dirty="0"/>
          </a:p>
          <a:p>
            <a:pPr marL="0" indent="0">
              <a:lnSpc>
                <a:spcPct val="130000"/>
              </a:lnSpc>
              <a:buNone/>
            </a:pPr>
            <a:r>
              <a:rPr lang="en-US" sz="1500" dirty="0">
                <a:solidFill>
                  <a:srgbClr val="1A1A1A"/>
                </a:solidFill>
                <a:latin typeface="Calibri" pitchFamily="34" charset="0"/>
                <a:ea typeface="Calibri" pitchFamily="34" charset="-122"/>
                <a:cs typeface="Calibri" pitchFamily="34" charset="-120"/>
              </a:rPr>
              <a:t>인덱스형(렌더러) · 획득 반납형(캐릭터 연출)</a:t>
            </a:r>
            <a:endParaRPr lang="en-US" sz="1500" dirty="0"/>
          </a:p>
        </p:txBody>
      </p:sp>
      <p:sp>
        <p:nvSpPr>
          <p:cNvPr id="8" name="Shape 6"/>
          <p:cNvSpPr/>
          <p:nvPr/>
        </p:nvSpPr>
        <p:spPr>
          <a:xfrm>
            <a:off x="640080" y="3182112"/>
            <a:ext cx="10908792" cy="91"/>
          </a:xfrm>
          <a:prstGeom prst="line">
            <a:avLst/>
          </a:prstGeom>
          <a:noFill/>
          <a:ln w="12700">
            <a:solidFill>
              <a:srgbClr val="D8D8D8"/>
            </a:solidFill>
            <a:prstDash val="solid"/>
          </a:ln>
        </p:spPr>
      </p:sp>
      <p:sp>
        <p:nvSpPr>
          <p:cNvPr id="9" name="Text 7"/>
          <p:cNvSpPr txBox="1"/>
          <p:nvPr/>
        </p:nvSpPr>
        <p:spPr>
          <a:xfrm>
            <a:off x="640080" y="3383280"/>
            <a:ext cx="2377440" cy="502920"/>
          </a:xfrm>
          <a:prstGeom prst="rect">
            <a:avLst/>
          </a:prstGeom>
          <a:noFill/>
          <a:ln/>
        </p:spPr>
        <p:txBody>
          <a:bodyPr wrap="square" lIns="0" tIns="0" rIns="0" bIns="0" rtlCol="0" anchor="ctr"/>
          <a:lstStyle/>
          <a:p>
            <a:pPr marL="0" indent="0">
              <a:buNone/>
            </a:pPr>
            <a:r>
              <a:rPr lang="en-US" sz="2600" b="1" dirty="0">
                <a:solidFill>
                  <a:srgbClr val="B85042"/>
                </a:solidFill>
                <a:latin typeface="Calibri" pitchFamily="34" charset="0"/>
                <a:ea typeface="Calibri" pitchFamily="34" charset="-122"/>
                <a:cs typeface="Calibri" pitchFamily="34" charset="-120"/>
              </a:rPr>
              <a:t>낭비 제거</a:t>
            </a:r>
            <a:endParaRPr lang="en-US" sz="2600" dirty="0"/>
          </a:p>
        </p:txBody>
      </p:sp>
      <p:sp>
        <p:nvSpPr>
          <p:cNvPr id="10" name="Text 8"/>
          <p:cNvSpPr txBox="1"/>
          <p:nvPr/>
        </p:nvSpPr>
        <p:spPr>
          <a:xfrm>
            <a:off x="640080" y="3886200"/>
            <a:ext cx="2377440" cy="320040"/>
          </a:xfrm>
          <a:prstGeom prst="rect">
            <a:avLst/>
          </a:prstGeom>
          <a:noFill/>
          <a:ln/>
        </p:spPr>
        <p:txBody>
          <a:bodyPr wrap="square" lIns="0" tIns="0" rIns="0" bIns="0" rtlCol="0" anchor="ctr"/>
          <a:lstStyle/>
          <a:p>
            <a:pPr marL="0" indent="0">
              <a:buNone/>
            </a:pPr>
            <a:r>
              <a:rPr lang="en-US" sz="1200" dirty="0">
                <a:solidFill>
                  <a:srgbClr val="6E6E6E"/>
                </a:solidFill>
                <a:latin typeface="Calibri" pitchFamily="34" charset="0"/>
                <a:ea typeface="Calibri" pitchFamily="34" charset="-122"/>
                <a:cs typeface="Calibri" pitchFamily="34" charset="-120"/>
              </a:rPr>
              <a:t>피할 수 없는 작업을 최소화한다</a:t>
            </a:r>
            <a:endParaRPr lang="en-US" sz="1200" dirty="0"/>
          </a:p>
        </p:txBody>
      </p:sp>
      <p:sp>
        <p:nvSpPr>
          <p:cNvPr id="11" name="Text 9"/>
          <p:cNvSpPr txBox="1"/>
          <p:nvPr/>
        </p:nvSpPr>
        <p:spPr>
          <a:xfrm>
            <a:off x="3429000" y="3401568"/>
            <a:ext cx="8119872" cy="1005840"/>
          </a:xfrm>
          <a:prstGeom prst="rect">
            <a:avLst/>
          </a:prstGeom>
          <a:noFill/>
          <a:ln/>
        </p:spPr>
        <p:txBody>
          <a:bodyPr wrap="square" lIns="0" tIns="0" rIns="0" bIns="0" rtlCol="0" anchor="t"/>
          <a:lstStyle/>
          <a:p>
            <a:pPr marL="0" indent="0">
              <a:lnSpc>
                <a:spcPct val="130000"/>
              </a:lnSpc>
              <a:buNone/>
            </a:pPr>
            <a:r>
              <a:rPr lang="en-US" sz="1500" dirty="0">
                <a:solidFill>
                  <a:srgbClr val="1A1A1A"/>
                </a:solidFill>
                <a:latin typeface="Calibri" pitchFamily="34" charset="0"/>
                <a:ea typeface="Calibri" pitchFamily="34" charset="-122"/>
                <a:cs typeface="Calibri" pitchFamily="34" charset="-120"/>
              </a:rPr>
              <a:t>값이 바뀔 때만 렌더러를 갱신하고, 고정된 오브젝트는 매 프레임 검사에서 제외</a:t>
            </a:r>
            <a:endParaRPr lang="en-US" sz="1500" dirty="0"/>
          </a:p>
          <a:p>
            <a:pPr marL="0" indent="0">
              <a:lnSpc>
                <a:spcPct val="130000"/>
              </a:lnSpc>
              <a:buNone/>
            </a:pPr>
            <a:r>
              <a:rPr lang="en-US" sz="1500" dirty="0">
                <a:solidFill>
                  <a:srgbClr val="1A1A1A"/>
                </a:solidFill>
                <a:latin typeface="Calibri" pitchFamily="34" charset="0"/>
                <a:ea typeface="Calibri" pitchFamily="34" charset="-122"/>
                <a:cs typeface="Calibri" pitchFamily="34" charset="-120"/>
              </a:rPr>
              <a:t>비동기는 UniTask로 통일해 대기 객체 할당 제거</a:t>
            </a:r>
            <a:endParaRPr lang="en-US" sz="1500" dirty="0"/>
          </a:p>
        </p:txBody>
      </p:sp>
      <p:sp>
        <p:nvSpPr>
          <p:cNvPr id="12" name="Shape 10"/>
          <p:cNvSpPr/>
          <p:nvPr/>
        </p:nvSpPr>
        <p:spPr>
          <a:xfrm>
            <a:off x="640080" y="4553712"/>
            <a:ext cx="10908792" cy="91"/>
          </a:xfrm>
          <a:prstGeom prst="line">
            <a:avLst/>
          </a:prstGeom>
          <a:noFill/>
          <a:ln w="12700">
            <a:solidFill>
              <a:srgbClr val="D8D8D8"/>
            </a:solidFill>
            <a:prstDash val="solid"/>
          </a:ln>
        </p:spPr>
      </p:sp>
      <p:sp>
        <p:nvSpPr>
          <p:cNvPr id="13" name="Text 11"/>
          <p:cNvSpPr txBox="1"/>
          <p:nvPr/>
        </p:nvSpPr>
        <p:spPr>
          <a:xfrm>
            <a:off x="640080" y="4754880"/>
            <a:ext cx="2377440" cy="502920"/>
          </a:xfrm>
          <a:prstGeom prst="rect">
            <a:avLst/>
          </a:prstGeom>
          <a:noFill/>
          <a:ln/>
        </p:spPr>
        <p:txBody>
          <a:bodyPr wrap="square" lIns="0" tIns="0" rIns="0" bIns="0" rtlCol="0" anchor="ctr"/>
          <a:lstStyle/>
          <a:p>
            <a:pPr marL="0" indent="0">
              <a:buNone/>
            </a:pPr>
            <a:r>
              <a:rPr lang="en-US" sz="2600" b="1" dirty="0">
                <a:solidFill>
                  <a:srgbClr val="B85042"/>
                </a:solidFill>
                <a:latin typeface="Calibri" pitchFamily="34" charset="0"/>
                <a:ea typeface="Calibri" pitchFamily="34" charset="-122"/>
                <a:cs typeface="Calibri" pitchFamily="34" charset="-120"/>
              </a:rPr>
              <a:t>구조</a:t>
            </a:r>
            <a:endParaRPr lang="en-US" sz="2600" dirty="0"/>
          </a:p>
        </p:txBody>
      </p:sp>
      <p:sp>
        <p:nvSpPr>
          <p:cNvPr id="14" name="Text 12"/>
          <p:cNvSpPr txBox="1"/>
          <p:nvPr/>
        </p:nvSpPr>
        <p:spPr>
          <a:xfrm>
            <a:off x="640080" y="5257800"/>
            <a:ext cx="2377440" cy="320040"/>
          </a:xfrm>
          <a:prstGeom prst="rect">
            <a:avLst/>
          </a:prstGeom>
          <a:noFill/>
          <a:ln/>
        </p:spPr>
        <p:txBody>
          <a:bodyPr wrap="square" lIns="0" tIns="0" rIns="0" bIns="0" rtlCol="0" anchor="ctr"/>
          <a:lstStyle/>
          <a:p>
            <a:pPr marL="0" indent="0">
              <a:buNone/>
            </a:pPr>
            <a:r>
              <a:rPr lang="en-US" sz="1200" dirty="0">
                <a:solidFill>
                  <a:srgbClr val="6E6E6E"/>
                </a:solidFill>
                <a:latin typeface="Calibri" pitchFamily="34" charset="0"/>
                <a:ea typeface="Calibri" pitchFamily="34" charset="-122"/>
                <a:cs typeface="Calibri" pitchFamily="34" charset="-120"/>
              </a:rPr>
              <a:t>매 프레임 확인을 배제한다</a:t>
            </a:r>
            <a:endParaRPr lang="en-US" sz="1200" dirty="0"/>
          </a:p>
        </p:txBody>
      </p:sp>
      <p:sp>
        <p:nvSpPr>
          <p:cNvPr id="15" name="Text 13"/>
          <p:cNvSpPr txBox="1"/>
          <p:nvPr/>
        </p:nvSpPr>
        <p:spPr>
          <a:xfrm>
            <a:off x="3429000" y="4773168"/>
            <a:ext cx="8119872" cy="1005840"/>
          </a:xfrm>
          <a:prstGeom prst="rect">
            <a:avLst/>
          </a:prstGeom>
          <a:noFill/>
          <a:ln/>
        </p:spPr>
        <p:txBody>
          <a:bodyPr wrap="square" lIns="0" tIns="0" rIns="0" bIns="0" rtlCol="0" anchor="t"/>
          <a:lstStyle/>
          <a:p>
            <a:pPr marL="0" indent="0">
              <a:lnSpc>
                <a:spcPct val="130000"/>
              </a:lnSpc>
              <a:buNone/>
            </a:pPr>
            <a:r>
              <a:rPr lang="en-US" sz="1500" dirty="0">
                <a:solidFill>
                  <a:srgbClr val="1A1A1A"/>
                </a:solidFill>
                <a:latin typeface="Calibri" pitchFamily="34" charset="0"/>
                <a:ea typeface="Calibri" pitchFamily="34" charset="-122"/>
                <a:cs typeface="Calibri" pitchFamily="34" charset="-120"/>
              </a:rPr>
              <a:t>폴링 대신 이벤트 구독 — Update() 사용 58개 / 전체 675개 파일</a:t>
            </a:r>
            <a:endParaRPr lang="en-US" sz="1500" dirty="0"/>
          </a:p>
        </p:txBody>
      </p:sp>
      <p:sp>
        <p:nvSpPr>
          <p:cNvPr id="16" name="Text 14"/>
          <p:cNvSpPr txBox="1"/>
          <p:nvPr/>
        </p:nvSpPr>
        <p:spPr>
          <a:xfrm>
            <a:off x="640080" y="5943600"/>
            <a:ext cx="10908792" cy="274320"/>
          </a:xfrm>
          <a:prstGeom prst="rect">
            <a:avLst/>
          </a:prstGeom>
          <a:noFill/>
          <a:ln/>
        </p:spPr>
        <p:txBody>
          <a:bodyPr wrap="square" lIns="0" tIns="0" rIns="0" bIns="0" rtlCol="0" anchor="ctr"/>
          <a:lstStyle/>
          <a:p>
            <a:pPr marL="0" indent="0" algn="l">
              <a:buNone/>
            </a:pPr>
            <a:r>
              <a:rPr lang="en-US" sz="1100" dirty="0">
                <a:solidFill>
                  <a:srgbClr val="6E6E6E"/>
                </a:solidFill>
                <a:latin typeface="Calibri" pitchFamily="34" charset="0"/>
                <a:ea typeface="Calibri" pitchFamily="34" charset="-122"/>
                <a:cs typeface="Calibri" pitchFamily="34" charset="-120"/>
              </a:rPr>
              <a:t>※ 구조 항목의 비율에는 낮 운영이 이산 이벤트로 표현되는 장르 특성도 함께 작용했습니다.</a:t>
            </a:r>
            <a:endParaRPr lang="en-US" sz="1100" dirty="0"/>
          </a:p>
        </p:txBody>
      </p:sp>
      <p:sp>
        <p:nvSpPr>
          <p:cNvPr id="17" name="Text 15"/>
          <p:cNvSpPr txBox="1"/>
          <p:nvPr/>
        </p:nvSpPr>
        <p:spPr>
          <a:xfrm>
            <a:off x="640080" y="6355080"/>
            <a:ext cx="5486400" cy="256032"/>
          </a:xfrm>
          <a:prstGeom prst="rect">
            <a:avLst/>
          </a:prstGeom>
          <a:noFill/>
          <a:ln/>
        </p:spPr>
        <p:txBody>
          <a:bodyPr wrap="square" lIns="0" tIns="0" rIns="0" bIns="0" rtlCol="0" anchor="ctr"/>
          <a:lstStyle/>
          <a:p>
            <a:pPr marL="0" indent="0">
              <a:buNone/>
            </a:pPr>
            <a:r>
              <a:rPr lang="en-US" sz="900" dirty="0">
                <a:solidFill>
                  <a:srgbClr val="6E6E6E"/>
                </a:solidFill>
                <a:latin typeface="Calibri" pitchFamily="34" charset="0"/>
                <a:ea typeface="Calibri" pitchFamily="34" charset="-122"/>
                <a:cs typeface="Calibri" pitchFamily="34" charset="-120"/>
              </a:rPr>
              <a:t>수성록 (Tower and Dragons) · 최종 결과 보고</a:t>
            </a:r>
            <a:endParaRPr lang="en-US" sz="900" dirty="0"/>
          </a:p>
        </p:txBody>
      </p:sp>
      <p:sp>
        <p:nvSpPr>
          <p:cNvPr id="18" name="Text 16"/>
          <p:cNvSpPr txBox="1"/>
          <p:nvPr/>
        </p:nvSpPr>
        <p:spPr>
          <a:xfrm>
            <a:off x="6062472" y="6355080"/>
            <a:ext cx="5486400" cy="256032"/>
          </a:xfrm>
          <a:prstGeom prst="rect">
            <a:avLst/>
          </a:prstGeom>
          <a:noFill/>
          <a:ln/>
        </p:spPr>
        <p:txBody>
          <a:bodyPr wrap="square" lIns="0" tIns="0" rIns="0" bIns="0" rtlCol="0" anchor="ctr"/>
          <a:lstStyle/>
          <a:p>
            <a:pPr marL="0" indent="0" algn="r">
              <a:buNone/>
            </a:pPr>
            <a:r>
              <a:rPr lang="en-US" sz="900" dirty="0">
                <a:solidFill>
                  <a:srgbClr val="6E6E6E"/>
                </a:solidFill>
                <a:latin typeface="Calibri" pitchFamily="34" charset="0"/>
                <a:ea typeface="Calibri" pitchFamily="34" charset="-122"/>
                <a:cs typeface="Calibri" pitchFamily="34" charset="-120"/>
              </a:rPr>
              <a:t>04 — 핵심 기술 구현</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47472"/>
            <a:ext cx="10908792" cy="256032"/>
          </a:xfrm>
          <a:prstGeom prst="rect">
            <a:avLst/>
          </a:prstGeom>
          <a:noFill/>
          <a:ln/>
        </p:spPr>
        <p:txBody>
          <a:bodyPr wrap="square" lIns="0" tIns="0" rIns="0" bIns="0" rtlCol="0" anchor="ctr"/>
          <a:lstStyle/>
          <a:p>
            <a:pPr marL="0" indent="0">
              <a:buNone/>
            </a:pPr>
            <a:r>
              <a:rPr lang="en-US" sz="1100" b="1" dirty="0">
                <a:solidFill>
                  <a:srgbClr val="B85042"/>
                </a:solidFill>
                <a:latin typeface="Calibri" pitchFamily="34" charset="0"/>
                <a:ea typeface="Calibri" pitchFamily="34" charset="-122"/>
                <a:cs typeface="Calibri" pitchFamily="34" charset="-120"/>
              </a:rPr>
              <a:t>04</a:t>
            </a:r>
            <a:r>
              <a:rPr lang="en-US" sz="1100" dirty="0">
                <a:solidFill>
                  <a:srgbClr val="6E6E6E"/>
                </a:solidFill>
                <a:latin typeface="Calibri" pitchFamily="34" charset="0"/>
                <a:ea typeface="Calibri" pitchFamily="34" charset="-122"/>
                <a:cs typeface="Calibri" pitchFamily="34" charset="-120"/>
              </a:rPr>
              <a:t>   핵심 기술 구현</a:t>
            </a:r>
            <a:endParaRPr lang="en-US" sz="1100" dirty="0"/>
          </a:p>
        </p:txBody>
      </p:sp>
      <p:sp>
        <p:nvSpPr>
          <p:cNvPr id="3" name="Text 1"/>
          <p:cNvSpPr txBox="1"/>
          <p:nvPr/>
        </p:nvSpPr>
        <p:spPr>
          <a:xfrm>
            <a:off x="640080" y="621792"/>
            <a:ext cx="10908792" cy="640080"/>
          </a:xfrm>
          <a:prstGeom prst="rect">
            <a:avLst/>
          </a:prstGeom>
          <a:noFill/>
          <a:ln/>
        </p:spPr>
        <p:txBody>
          <a:bodyPr wrap="square" lIns="0" tIns="0" rIns="0" bIns="0" rtlCol="0" anchor="t"/>
          <a:lstStyle/>
          <a:p>
            <a:pPr marL="0" indent="0">
              <a:buNone/>
            </a:pPr>
            <a:r>
              <a:rPr lang="en-US" sz="3000" b="1" dirty="0">
                <a:solidFill>
                  <a:srgbClr val="1A1A1A"/>
                </a:solidFill>
                <a:latin typeface="Calibri" pitchFamily="34" charset="0"/>
                <a:ea typeface="Calibri" pitchFamily="34" charset="-122"/>
                <a:cs typeface="Calibri" pitchFamily="34" charset="-120"/>
              </a:rPr>
              <a:t>성능 트러블슈팅 — 오라 타워 문제</a:t>
            </a:r>
            <a:endParaRPr lang="en-US" sz="3000" dirty="0"/>
          </a:p>
        </p:txBody>
      </p:sp>
      <p:sp>
        <p:nvSpPr>
          <p:cNvPr id="4" name="Text 2"/>
          <p:cNvSpPr txBox="1"/>
          <p:nvPr/>
        </p:nvSpPr>
        <p:spPr>
          <a:xfrm>
            <a:off x="640080" y="1783080"/>
            <a:ext cx="1371600" cy="457200"/>
          </a:xfrm>
          <a:prstGeom prst="rect">
            <a:avLst/>
          </a:prstGeom>
          <a:noFill/>
          <a:ln/>
        </p:spPr>
        <p:txBody>
          <a:bodyPr wrap="square" lIns="0" tIns="0" rIns="0" bIns="0" rtlCol="0" anchor="ctr"/>
          <a:lstStyle/>
          <a:p>
            <a:pPr marL="0" indent="0">
              <a:buNone/>
            </a:pPr>
            <a:r>
              <a:rPr lang="en-US" sz="2200" b="1" dirty="0">
                <a:solidFill>
                  <a:srgbClr val="B85042"/>
                </a:solidFill>
                <a:latin typeface="Calibri" pitchFamily="34" charset="0"/>
                <a:ea typeface="Calibri" pitchFamily="34" charset="-122"/>
                <a:cs typeface="Calibri" pitchFamily="34" charset="-120"/>
              </a:rPr>
              <a:t>증상</a:t>
            </a:r>
            <a:endParaRPr lang="en-US" sz="2200" dirty="0"/>
          </a:p>
        </p:txBody>
      </p:sp>
      <p:sp>
        <p:nvSpPr>
          <p:cNvPr id="5" name="Text 3"/>
          <p:cNvSpPr txBox="1"/>
          <p:nvPr/>
        </p:nvSpPr>
        <p:spPr>
          <a:xfrm>
            <a:off x="2331720" y="1764792"/>
            <a:ext cx="9217152" cy="777240"/>
          </a:xfrm>
          <a:prstGeom prst="rect">
            <a:avLst/>
          </a:prstGeom>
          <a:noFill/>
          <a:ln/>
        </p:spPr>
        <p:txBody>
          <a:bodyPr wrap="square" lIns="0" tIns="0" rIns="0" bIns="0" rtlCol="0" anchor="t"/>
          <a:lstStyle/>
          <a:p>
            <a:pPr marL="0" indent="0">
              <a:lnSpc>
                <a:spcPct val="130000"/>
              </a:lnSpc>
              <a:buNone/>
            </a:pPr>
            <a:r>
              <a:rPr lang="en-US" sz="1600" dirty="0">
                <a:solidFill>
                  <a:srgbClr val="1A1A1A"/>
                </a:solidFill>
                <a:latin typeface="Calibri" pitchFamily="34" charset="0"/>
                <a:ea typeface="Calibri" pitchFamily="34" charset="-122"/>
                <a:cs typeface="Calibri" pitchFamily="34" charset="-120"/>
              </a:rPr>
              <a:t>오라 타워를 추가할수록 프레임이 급격히 떨어졌다</a:t>
            </a:r>
            <a:endParaRPr lang="en-US" sz="1600" dirty="0"/>
          </a:p>
        </p:txBody>
      </p:sp>
      <p:sp>
        <p:nvSpPr>
          <p:cNvPr id="6" name="Shape 4"/>
          <p:cNvSpPr/>
          <p:nvPr/>
        </p:nvSpPr>
        <p:spPr>
          <a:xfrm>
            <a:off x="640080" y="2624328"/>
            <a:ext cx="10908792" cy="91"/>
          </a:xfrm>
          <a:prstGeom prst="line">
            <a:avLst/>
          </a:prstGeom>
          <a:noFill/>
          <a:ln w="12700">
            <a:solidFill>
              <a:srgbClr val="D8D8D8"/>
            </a:solidFill>
            <a:prstDash val="solid"/>
          </a:ln>
        </p:spPr>
      </p:sp>
      <p:sp>
        <p:nvSpPr>
          <p:cNvPr id="7" name="Text 5"/>
          <p:cNvSpPr txBox="1"/>
          <p:nvPr/>
        </p:nvSpPr>
        <p:spPr>
          <a:xfrm>
            <a:off x="640080" y="2743200"/>
            <a:ext cx="1371600" cy="457200"/>
          </a:xfrm>
          <a:prstGeom prst="rect">
            <a:avLst/>
          </a:prstGeom>
          <a:noFill/>
          <a:ln/>
        </p:spPr>
        <p:txBody>
          <a:bodyPr wrap="square" lIns="0" tIns="0" rIns="0" bIns="0" rtlCol="0" anchor="ctr"/>
          <a:lstStyle/>
          <a:p>
            <a:pPr marL="0" indent="0">
              <a:buNone/>
            </a:pPr>
            <a:r>
              <a:rPr lang="en-US" sz="2200" b="1" dirty="0">
                <a:solidFill>
                  <a:srgbClr val="B85042"/>
                </a:solidFill>
                <a:latin typeface="Calibri" pitchFamily="34" charset="0"/>
                <a:ea typeface="Calibri" pitchFamily="34" charset="-122"/>
                <a:cs typeface="Calibri" pitchFamily="34" charset="-120"/>
              </a:rPr>
              <a:t>원인</a:t>
            </a:r>
            <a:endParaRPr lang="en-US" sz="2200" dirty="0"/>
          </a:p>
        </p:txBody>
      </p:sp>
      <p:sp>
        <p:nvSpPr>
          <p:cNvPr id="8" name="Text 6"/>
          <p:cNvSpPr txBox="1"/>
          <p:nvPr/>
        </p:nvSpPr>
        <p:spPr>
          <a:xfrm>
            <a:off x="2331720" y="2724912"/>
            <a:ext cx="9217152" cy="777240"/>
          </a:xfrm>
          <a:prstGeom prst="rect">
            <a:avLst/>
          </a:prstGeom>
          <a:noFill/>
          <a:ln/>
        </p:spPr>
        <p:txBody>
          <a:bodyPr wrap="square" lIns="0" tIns="0" rIns="0" bIns="0" rtlCol="0" anchor="t"/>
          <a:lstStyle/>
          <a:p>
            <a:pPr marL="0" indent="0">
              <a:lnSpc>
                <a:spcPct val="130000"/>
              </a:lnSpc>
              <a:buNone/>
            </a:pPr>
            <a:r>
              <a:rPr lang="en-US" sz="1600" dirty="0">
                <a:solidFill>
                  <a:srgbClr val="1A1A1A"/>
                </a:solidFill>
                <a:latin typeface="Calibri" pitchFamily="34" charset="0"/>
                <a:ea typeface="Calibri" pitchFamily="34" charset="-122"/>
                <a:cs typeface="Calibri" pitchFamily="34" charset="-120"/>
              </a:rPr>
              <a:t>오라의 활성 판정과 오라의 결과가 서로를 참조 —</a:t>
            </a:r>
            <a:endParaRPr lang="en-US" sz="1600" dirty="0"/>
          </a:p>
          <a:p>
            <a:pPr marL="0" indent="0">
              <a:lnSpc>
                <a:spcPct val="130000"/>
              </a:lnSpc>
              <a:buNone/>
            </a:pPr>
            <a:r>
              <a:rPr lang="en-US" sz="1600" dirty="0">
                <a:solidFill>
                  <a:srgbClr val="1A1A1A"/>
                </a:solidFill>
                <a:latin typeface="Calibri" pitchFamily="34" charset="0"/>
                <a:ea typeface="Calibri" pitchFamily="34" charset="-122"/>
                <a:cs typeface="Calibri" pitchFamily="34" charset="-120"/>
              </a:rPr>
              <a:t>호출이 오라 타워 수의 팩토리얼로 폭발</a:t>
            </a:r>
            <a:endParaRPr lang="en-US" sz="1600" dirty="0"/>
          </a:p>
        </p:txBody>
      </p:sp>
      <p:sp>
        <p:nvSpPr>
          <p:cNvPr id="9" name="Shape 7"/>
          <p:cNvSpPr/>
          <p:nvPr/>
        </p:nvSpPr>
        <p:spPr>
          <a:xfrm>
            <a:off x="640080" y="3584448"/>
            <a:ext cx="10908792" cy="91"/>
          </a:xfrm>
          <a:prstGeom prst="line">
            <a:avLst/>
          </a:prstGeom>
          <a:noFill/>
          <a:ln w="12700">
            <a:solidFill>
              <a:srgbClr val="D8D8D8"/>
            </a:solidFill>
            <a:prstDash val="solid"/>
          </a:ln>
        </p:spPr>
      </p:sp>
      <p:sp>
        <p:nvSpPr>
          <p:cNvPr id="10" name="Text 8"/>
          <p:cNvSpPr txBox="1"/>
          <p:nvPr/>
        </p:nvSpPr>
        <p:spPr>
          <a:xfrm>
            <a:off x="640080" y="3703320"/>
            <a:ext cx="1371600" cy="457200"/>
          </a:xfrm>
          <a:prstGeom prst="rect">
            <a:avLst/>
          </a:prstGeom>
          <a:noFill/>
          <a:ln/>
        </p:spPr>
        <p:txBody>
          <a:bodyPr wrap="square" lIns="0" tIns="0" rIns="0" bIns="0" rtlCol="0" anchor="ctr"/>
          <a:lstStyle/>
          <a:p>
            <a:pPr marL="0" indent="0">
              <a:buNone/>
            </a:pPr>
            <a:r>
              <a:rPr lang="en-US" sz="2200" b="1" dirty="0">
                <a:solidFill>
                  <a:srgbClr val="B85042"/>
                </a:solidFill>
                <a:latin typeface="Calibri" pitchFamily="34" charset="0"/>
                <a:ea typeface="Calibri" pitchFamily="34" charset="-122"/>
                <a:cs typeface="Calibri" pitchFamily="34" charset="-120"/>
              </a:rPr>
              <a:t>해결</a:t>
            </a:r>
            <a:endParaRPr lang="en-US" sz="2200" dirty="0"/>
          </a:p>
        </p:txBody>
      </p:sp>
      <p:sp>
        <p:nvSpPr>
          <p:cNvPr id="11" name="Text 9"/>
          <p:cNvSpPr txBox="1"/>
          <p:nvPr/>
        </p:nvSpPr>
        <p:spPr>
          <a:xfrm>
            <a:off x="2331720" y="3685032"/>
            <a:ext cx="9217152" cy="777240"/>
          </a:xfrm>
          <a:prstGeom prst="rect">
            <a:avLst/>
          </a:prstGeom>
          <a:noFill/>
          <a:ln/>
        </p:spPr>
        <p:txBody>
          <a:bodyPr wrap="square" lIns="0" tIns="0" rIns="0" bIns="0" rtlCol="0" anchor="t"/>
          <a:lstStyle/>
          <a:p>
            <a:pPr marL="0" indent="0">
              <a:lnSpc>
                <a:spcPct val="130000"/>
              </a:lnSpc>
              <a:buNone/>
            </a:pPr>
            <a:r>
              <a:rPr lang="en-US" sz="1600" dirty="0">
                <a:solidFill>
                  <a:srgbClr val="1A1A1A"/>
                </a:solidFill>
                <a:latin typeface="Calibri" pitchFamily="34" charset="0"/>
                <a:ea typeface="Calibri" pitchFamily="34" charset="-122"/>
                <a:cs typeface="Calibri" pitchFamily="34" charset="-120"/>
              </a:rPr>
              <a:t>재귀를 걷어내고 고정점 반복으로 —</a:t>
            </a:r>
            <a:endParaRPr lang="en-US" sz="1600" dirty="0"/>
          </a:p>
          <a:p>
            <a:pPr marL="0" indent="0">
              <a:lnSpc>
                <a:spcPct val="130000"/>
              </a:lnSpc>
              <a:buNone/>
            </a:pPr>
            <a:r>
              <a:rPr lang="en-US" sz="1600" dirty="0">
                <a:solidFill>
                  <a:srgbClr val="1A1A1A"/>
                </a:solidFill>
                <a:latin typeface="Calibri" pitchFamily="34" charset="0"/>
                <a:ea typeface="Calibri" pitchFamily="34" charset="-122"/>
                <a:cs typeface="Calibri" pitchFamily="34" charset="-120"/>
              </a:rPr>
              <a:t>프레임당 1회 전체 수렴 계산 후, 조회는 표를 읽기만</a:t>
            </a:r>
            <a:endParaRPr lang="en-US" sz="1600" dirty="0"/>
          </a:p>
        </p:txBody>
      </p:sp>
      <p:sp>
        <p:nvSpPr>
          <p:cNvPr id="12" name="Shape 10"/>
          <p:cNvSpPr/>
          <p:nvPr/>
        </p:nvSpPr>
        <p:spPr>
          <a:xfrm>
            <a:off x="640080" y="4544568"/>
            <a:ext cx="10908792" cy="91"/>
          </a:xfrm>
          <a:prstGeom prst="line">
            <a:avLst/>
          </a:prstGeom>
          <a:noFill/>
          <a:ln w="12700">
            <a:solidFill>
              <a:srgbClr val="D8D8D8"/>
            </a:solidFill>
            <a:prstDash val="solid"/>
          </a:ln>
        </p:spPr>
      </p:sp>
      <p:sp>
        <p:nvSpPr>
          <p:cNvPr id="13" name="Text 11"/>
          <p:cNvSpPr txBox="1"/>
          <p:nvPr/>
        </p:nvSpPr>
        <p:spPr>
          <a:xfrm>
            <a:off x="640080" y="4663440"/>
            <a:ext cx="1371600" cy="457200"/>
          </a:xfrm>
          <a:prstGeom prst="rect">
            <a:avLst/>
          </a:prstGeom>
          <a:noFill/>
          <a:ln/>
        </p:spPr>
        <p:txBody>
          <a:bodyPr wrap="square" lIns="0" tIns="0" rIns="0" bIns="0" rtlCol="0" anchor="ctr"/>
          <a:lstStyle/>
          <a:p>
            <a:pPr marL="0" indent="0">
              <a:buNone/>
            </a:pPr>
            <a:r>
              <a:rPr lang="en-US" sz="2200" b="1" dirty="0">
                <a:solidFill>
                  <a:srgbClr val="B85042"/>
                </a:solidFill>
                <a:latin typeface="Calibri" pitchFamily="34" charset="0"/>
                <a:ea typeface="Calibri" pitchFamily="34" charset="-122"/>
                <a:cs typeface="Calibri" pitchFamily="34" charset="-120"/>
              </a:rPr>
              <a:t>결과</a:t>
            </a:r>
            <a:endParaRPr lang="en-US" sz="2200" dirty="0"/>
          </a:p>
        </p:txBody>
      </p:sp>
      <p:sp>
        <p:nvSpPr>
          <p:cNvPr id="14" name="Text 12"/>
          <p:cNvSpPr txBox="1"/>
          <p:nvPr/>
        </p:nvSpPr>
        <p:spPr>
          <a:xfrm>
            <a:off x="2331720" y="4645152"/>
            <a:ext cx="9217152" cy="777240"/>
          </a:xfrm>
          <a:prstGeom prst="rect">
            <a:avLst/>
          </a:prstGeom>
          <a:noFill/>
          <a:ln/>
        </p:spPr>
        <p:txBody>
          <a:bodyPr wrap="square" lIns="0" tIns="0" rIns="0" bIns="0" rtlCol="0" anchor="t"/>
          <a:lstStyle/>
          <a:p>
            <a:pPr marL="0" indent="0">
              <a:lnSpc>
                <a:spcPct val="130000"/>
              </a:lnSpc>
              <a:buNone/>
            </a:pPr>
            <a:r>
              <a:rPr lang="en-US" sz="1600" dirty="0">
                <a:solidFill>
                  <a:srgbClr val="1A1A1A"/>
                </a:solidFill>
                <a:latin typeface="Calibri" pitchFamily="34" charset="0"/>
                <a:ea typeface="Calibri" pitchFamily="34" charset="-122"/>
                <a:cs typeface="Calibri" pitchFamily="34" charset="-120"/>
              </a:rPr>
              <a:t>재귀가 구조적으로 불가능해지고,</a:t>
            </a:r>
            <a:endParaRPr lang="en-US" sz="1600" dirty="0"/>
          </a:p>
          <a:p>
            <a:pPr marL="0" indent="0">
              <a:lnSpc>
                <a:spcPct val="130000"/>
              </a:lnSpc>
              <a:buNone/>
            </a:pPr>
            <a:r>
              <a:rPr lang="en-US" sz="1600" dirty="0">
                <a:solidFill>
                  <a:srgbClr val="1A1A1A"/>
                </a:solidFill>
                <a:latin typeface="Calibri" pitchFamily="34" charset="0"/>
                <a:ea typeface="Calibri" pitchFamily="34" charset="-122"/>
                <a:cs typeface="Calibri" pitchFamily="34" charset="-120"/>
              </a:rPr>
              <a:t>순회 순서에 따라 갈리던 근사값까지 제거</a:t>
            </a:r>
            <a:endParaRPr lang="en-US" sz="1600" dirty="0"/>
          </a:p>
        </p:txBody>
      </p:sp>
      <p:sp>
        <p:nvSpPr>
          <p:cNvPr id="15" name="Shape 13"/>
          <p:cNvSpPr/>
          <p:nvPr/>
        </p:nvSpPr>
        <p:spPr>
          <a:xfrm>
            <a:off x="640080" y="5532120"/>
            <a:ext cx="10908792" cy="685800"/>
          </a:xfrm>
          <a:prstGeom prst="rect">
            <a:avLst/>
          </a:prstGeom>
          <a:solidFill>
            <a:srgbClr val="F6E9E7"/>
          </a:solidFill>
          <a:ln w="12700">
            <a:solidFill>
              <a:srgbClr val="F6E9E7"/>
            </a:solidFill>
            <a:prstDash val="solid"/>
          </a:ln>
        </p:spPr>
      </p:sp>
      <p:sp>
        <p:nvSpPr>
          <p:cNvPr id="16" name="Text 14"/>
          <p:cNvSpPr txBox="1"/>
          <p:nvPr/>
        </p:nvSpPr>
        <p:spPr>
          <a:xfrm>
            <a:off x="960120" y="5532120"/>
            <a:ext cx="10268712" cy="685800"/>
          </a:xfrm>
          <a:prstGeom prst="rect">
            <a:avLst/>
          </a:prstGeom>
          <a:noFill/>
          <a:ln/>
        </p:spPr>
        <p:txBody>
          <a:bodyPr wrap="square" lIns="0" tIns="0" rIns="0" bIns="0" rtlCol="0" anchor="ctr"/>
          <a:lstStyle/>
          <a:p>
            <a:pPr marL="0" indent="0">
              <a:buNone/>
            </a:pPr>
            <a:r>
              <a:rPr lang="en-US" sz="2600" b="1" dirty="0">
                <a:solidFill>
                  <a:srgbClr val="B85042"/>
                </a:solidFill>
                <a:latin typeface="Calibri" pitchFamily="34" charset="0"/>
                <a:ea typeface="Calibri" pitchFamily="34" charset="-122"/>
                <a:cs typeface="Calibri" pitchFamily="34" charset="-120"/>
              </a:rPr>
              <a:t>162ms</a:t>
            </a:r>
            <a:r>
              <a:rPr lang="en-US" sz="1300" dirty="0">
                <a:solidFill>
                  <a:srgbClr val="1A1A1A"/>
                </a:solidFill>
                <a:latin typeface="Calibri" pitchFamily="34" charset="0"/>
                <a:ea typeface="Calibri" pitchFamily="34" charset="-122"/>
                <a:cs typeface="Calibri" pitchFamily="34" charset="-120"/>
              </a:rPr>
              <a:t>     프레임당 소요 — 오라 타워 5 · 타워 10 배치. 60fps 예산 16.7ms의 약 10배</a:t>
            </a:r>
            <a:endParaRPr lang="en-US" sz="2600" dirty="0"/>
          </a:p>
        </p:txBody>
      </p:sp>
      <p:sp>
        <p:nvSpPr>
          <p:cNvPr id="17" name="Text 15"/>
          <p:cNvSpPr txBox="1"/>
          <p:nvPr/>
        </p:nvSpPr>
        <p:spPr>
          <a:xfrm>
            <a:off x="640080" y="6355080"/>
            <a:ext cx="5486400" cy="256032"/>
          </a:xfrm>
          <a:prstGeom prst="rect">
            <a:avLst/>
          </a:prstGeom>
          <a:noFill/>
          <a:ln/>
        </p:spPr>
        <p:txBody>
          <a:bodyPr wrap="square" lIns="0" tIns="0" rIns="0" bIns="0" rtlCol="0" anchor="ctr"/>
          <a:lstStyle/>
          <a:p>
            <a:pPr marL="0" indent="0">
              <a:buNone/>
            </a:pPr>
            <a:r>
              <a:rPr lang="en-US" sz="900" dirty="0">
                <a:solidFill>
                  <a:srgbClr val="6E6E6E"/>
                </a:solidFill>
                <a:latin typeface="Calibri" pitchFamily="34" charset="0"/>
                <a:ea typeface="Calibri" pitchFamily="34" charset="-122"/>
                <a:cs typeface="Calibri" pitchFamily="34" charset="-120"/>
              </a:rPr>
              <a:t>수성록 (Tower and Dragons) · 최종 결과 보고</a:t>
            </a:r>
            <a:endParaRPr lang="en-US" sz="900" dirty="0"/>
          </a:p>
        </p:txBody>
      </p:sp>
      <p:sp>
        <p:nvSpPr>
          <p:cNvPr id="18" name="Text 16"/>
          <p:cNvSpPr txBox="1"/>
          <p:nvPr/>
        </p:nvSpPr>
        <p:spPr>
          <a:xfrm>
            <a:off x="6062472" y="6355080"/>
            <a:ext cx="5486400" cy="256032"/>
          </a:xfrm>
          <a:prstGeom prst="rect">
            <a:avLst/>
          </a:prstGeom>
          <a:noFill/>
          <a:ln/>
        </p:spPr>
        <p:txBody>
          <a:bodyPr wrap="square" lIns="0" tIns="0" rIns="0" bIns="0" rtlCol="0" anchor="ctr"/>
          <a:lstStyle/>
          <a:p>
            <a:pPr marL="0" indent="0" algn="r">
              <a:buNone/>
            </a:pPr>
            <a:r>
              <a:rPr lang="en-US" sz="900" dirty="0">
                <a:solidFill>
                  <a:srgbClr val="6E6E6E"/>
                </a:solidFill>
                <a:latin typeface="Calibri" pitchFamily="34" charset="0"/>
                <a:ea typeface="Calibri" pitchFamily="34" charset="-122"/>
                <a:cs typeface="Calibri" pitchFamily="34" charset="-120"/>
              </a:rPr>
              <a:t>04 — 핵심 기술 구현</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47472"/>
            <a:ext cx="10908792" cy="256032"/>
          </a:xfrm>
          <a:prstGeom prst="rect">
            <a:avLst/>
          </a:prstGeom>
          <a:noFill/>
          <a:ln/>
        </p:spPr>
        <p:txBody>
          <a:bodyPr wrap="square" lIns="0" tIns="0" rIns="0" bIns="0" rtlCol="0" anchor="ctr"/>
          <a:lstStyle/>
          <a:p>
            <a:pPr marL="0" indent="0">
              <a:buNone/>
            </a:pPr>
            <a:r>
              <a:rPr lang="en-US" sz="1100" b="1" dirty="0">
                <a:solidFill>
                  <a:srgbClr val="B85042"/>
                </a:solidFill>
                <a:latin typeface="Calibri" pitchFamily="34" charset="0"/>
                <a:ea typeface="Calibri" pitchFamily="34" charset="-122"/>
                <a:cs typeface="Calibri" pitchFamily="34" charset="-120"/>
              </a:rPr>
              <a:t>04</a:t>
            </a:r>
            <a:r>
              <a:rPr lang="en-US" sz="1100" dirty="0">
                <a:solidFill>
                  <a:srgbClr val="6E6E6E"/>
                </a:solidFill>
                <a:latin typeface="Calibri" pitchFamily="34" charset="0"/>
                <a:ea typeface="Calibri" pitchFamily="34" charset="-122"/>
                <a:cs typeface="Calibri" pitchFamily="34" charset="-120"/>
              </a:rPr>
              <a:t>   핵심 기술 구현</a:t>
            </a:r>
            <a:endParaRPr lang="en-US" sz="1100" dirty="0"/>
          </a:p>
        </p:txBody>
      </p:sp>
      <p:sp>
        <p:nvSpPr>
          <p:cNvPr id="3" name="Text 1"/>
          <p:cNvSpPr txBox="1"/>
          <p:nvPr/>
        </p:nvSpPr>
        <p:spPr>
          <a:xfrm>
            <a:off x="640080" y="621792"/>
            <a:ext cx="10908792" cy="640080"/>
          </a:xfrm>
          <a:prstGeom prst="rect">
            <a:avLst/>
          </a:prstGeom>
          <a:noFill/>
          <a:ln/>
        </p:spPr>
        <p:txBody>
          <a:bodyPr wrap="square" lIns="0" tIns="0" rIns="0" bIns="0" rtlCol="0" anchor="t"/>
          <a:lstStyle/>
          <a:p>
            <a:pPr marL="0" indent="0">
              <a:buNone/>
            </a:pPr>
            <a:r>
              <a:rPr lang="en-US" sz="3000" b="1" dirty="0">
                <a:solidFill>
                  <a:srgbClr val="1A1A1A"/>
                </a:solidFill>
                <a:latin typeface="Calibri" pitchFamily="34" charset="0"/>
                <a:ea typeface="Calibri" pitchFamily="34" charset="-122"/>
                <a:cs typeface="Calibri" pitchFamily="34" charset="-120"/>
              </a:rPr>
              <a:t>에디터 툴 파이프라인</a:t>
            </a:r>
            <a:endParaRPr lang="en-US" sz="3000" dirty="0"/>
          </a:p>
        </p:txBody>
      </p:sp>
      <p:sp>
        <p:nvSpPr>
          <p:cNvPr id="4" name="Text 2"/>
          <p:cNvSpPr txBox="1"/>
          <p:nvPr/>
        </p:nvSpPr>
        <p:spPr>
          <a:xfrm>
            <a:off x="640080" y="1280160"/>
            <a:ext cx="10908792" cy="292608"/>
          </a:xfrm>
          <a:prstGeom prst="rect">
            <a:avLst/>
          </a:prstGeom>
          <a:noFill/>
          <a:ln/>
        </p:spPr>
        <p:txBody>
          <a:bodyPr wrap="square" lIns="0" tIns="0" rIns="0" bIns="0" rtlCol="0" anchor="ctr"/>
          <a:lstStyle/>
          <a:p>
            <a:pPr marL="0" indent="0">
              <a:buNone/>
            </a:pPr>
            <a:r>
              <a:rPr lang="en-US" sz="1300" dirty="0">
                <a:solidFill>
                  <a:srgbClr val="6E6E6E"/>
                </a:solidFill>
                <a:latin typeface="Calibri" pitchFamily="34" charset="0"/>
                <a:ea typeface="Calibri" pitchFamily="34" charset="-122"/>
                <a:cs typeface="Calibri" pitchFamily="34" charset="-120"/>
              </a:rPr>
              <a:t>손으로 할 수 없는 규모의 작업을 도구로 만들었습니다</a:t>
            </a:r>
            <a:endParaRPr lang="en-US" sz="1300" dirty="0"/>
          </a:p>
        </p:txBody>
      </p:sp>
      <p:sp>
        <p:nvSpPr>
          <p:cNvPr id="5" name="Shape 3"/>
          <p:cNvSpPr/>
          <p:nvPr/>
        </p:nvSpPr>
        <p:spPr>
          <a:xfrm>
            <a:off x="640080" y="1783080"/>
            <a:ext cx="1956816" cy="566928"/>
          </a:xfrm>
          <a:prstGeom prst="rect">
            <a:avLst/>
          </a:prstGeom>
          <a:solidFill>
            <a:srgbClr val="FFFFFF"/>
          </a:solidFill>
          <a:ln w="12700">
            <a:solidFill>
              <a:srgbClr val="D8D8D8"/>
            </a:solidFill>
            <a:prstDash val="solid"/>
          </a:ln>
        </p:spPr>
      </p:sp>
      <p:sp>
        <p:nvSpPr>
          <p:cNvPr id="6" name="Text 4"/>
          <p:cNvSpPr txBox="1"/>
          <p:nvPr/>
        </p:nvSpPr>
        <p:spPr>
          <a:xfrm>
            <a:off x="640080" y="1819656"/>
            <a:ext cx="1956816" cy="274320"/>
          </a:xfrm>
          <a:prstGeom prst="rect">
            <a:avLst/>
          </a:prstGeom>
          <a:noFill/>
          <a:ln/>
        </p:spPr>
        <p:txBody>
          <a:bodyPr wrap="square" lIns="0" tIns="0" rIns="0" bIns="0" rtlCol="0" anchor="ctr"/>
          <a:lstStyle/>
          <a:p>
            <a:pPr marL="0" indent="0" algn="ctr">
              <a:buNone/>
            </a:pPr>
            <a:r>
              <a:rPr lang="en-US" sz="1250" b="1" dirty="0">
                <a:solidFill>
                  <a:srgbClr val="1A1A1A"/>
                </a:solidFill>
                <a:latin typeface="Calibri" pitchFamily="34" charset="0"/>
                <a:ea typeface="Calibri" pitchFamily="34" charset="-122"/>
                <a:cs typeface="Calibri" pitchFamily="34" charset="-120"/>
              </a:rPr>
              <a:t>정의</a:t>
            </a:r>
            <a:endParaRPr lang="en-US" sz="1250" dirty="0"/>
          </a:p>
        </p:txBody>
      </p:sp>
      <p:sp>
        <p:nvSpPr>
          <p:cNvPr id="7" name="Text 5"/>
          <p:cNvSpPr txBox="1"/>
          <p:nvPr/>
        </p:nvSpPr>
        <p:spPr>
          <a:xfrm>
            <a:off x="640080" y="2066544"/>
            <a:ext cx="1956816" cy="237744"/>
          </a:xfrm>
          <a:prstGeom prst="rect">
            <a:avLst/>
          </a:prstGeom>
          <a:noFill/>
          <a:ln/>
        </p:spPr>
        <p:txBody>
          <a:bodyPr wrap="square" lIns="0" tIns="0" rIns="0" bIns="0" rtlCol="0" anchor="ctr"/>
          <a:lstStyle/>
          <a:p>
            <a:pPr marL="0" indent="0" algn="ctr">
              <a:buNone/>
            </a:pPr>
            <a:r>
              <a:rPr lang="en-US" sz="1000" dirty="0">
                <a:solidFill>
                  <a:srgbClr val="6E6E6E"/>
                </a:solidFill>
                <a:latin typeface="Calibri" pitchFamily="34" charset="0"/>
                <a:ea typeface="Calibri" pitchFamily="34" charset="-122"/>
                <a:cs typeface="Calibri" pitchFamily="34" charset="-120"/>
              </a:rPr>
              <a:t>코드 · 구글 시트</a:t>
            </a:r>
            <a:endParaRPr lang="en-US" sz="1000" dirty="0"/>
          </a:p>
        </p:txBody>
      </p:sp>
      <p:sp>
        <p:nvSpPr>
          <p:cNvPr id="8" name="Shape 6"/>
          <p:cNvSpPr/>
          <p:nvPr/>
        </p:nvSpPr>
        <p:spPr>
          <a:xfrm>
            <a:off x="2642616" y="2066544"/>
            <a:ext cx="201168" cy="91"/>
          </a:xfrm>
          <a:prstGeom prst="line">
            <a:avLst/>
          </a:prstGeom>
          <a:noFill/>
          <a:ln w="15875">
            <a:solidFill>
              <a:srgbClr val="6E6E6E"/>
            </a:solidFill>
            <a:prstDash val="solid"/>
            <a:tailEnd type="triangle"/>
          </a:ln>
        </p:spPr>
      </p:sp>
      <p:sp>
        <p:nvSpPr>
          <p:cNvPr id="9" name="Shape 7"/>
          <p:cNvSpPr/>
          <p:nvPr/>
        </p:nvSpPr>
        <p:spPr>
          <a:xfrm>
            <a:off x="2889504" y="1783080"/>
            <a:ext cx="1956816" cy="566928"/>
          </a:xfrm>
          <a:prstGeom prst="rect">
            <a:avLst/>
          </a:prstGeom>
          <a:solidFill>
            <a:srgbClr val="F6E9E7"/>
          </a:solidFill>
          <a:ln w="12700">
            <a:solidFill>
              <a:srgbClr val="B85042"/>
            </a:solidFill>
            <a:prstDash val="solid"/>
          </a:ln>
        </p:spPr>
      </p:sp>
      <p:sp>
        <p:nvSpPr>
          <p:cNvPr id="10" name="Text 8"/>
          <p:cNvSpPr txBox="1"/>
          <p:nvPr/>
        </p:nvSpPr>
        <p:spPr>
          <a:xfrm>
            <a:off x="2889504" y="1819656"/>
            <a:ext cx="1956816" cy="274320"/>
          </a:xfrm>
          <a:prstGeom prst="rect">
            <a:avLst/>
          </a:prstGeom>
          <a:noFill/>
          <a:ln/>
        </p:spPr>
        <p:txBody>
          <a:bodyPr wrap="square" lIns="0" tIns="0" rIns="0" bIns="0" rtlCol="0" anchor="ctr"/>
          <a:lstStyle/>
          <a:p>
            <a:pPr marL="0" indent="0" algn="ctr">
              <a:buNone/>
            </a:pPr>
            <a:r>
              <a:rPr lang="en-US" sz="1250" b="1" dirty="0">
                <a:solidFill>
                  <a:srgbClr val="B85042"/>
                </a:solidFill>
                <a:latin typeface="Calibri" pitchFamily="34" charset="0"/>
                <a:ea typeface="Calibri" pitchFamily="34" charset="-122"/>
                <a:cs typeface="Calibri" pitchFamily="34" charset="-120"/>
              </a:rPr>
              <a:t>자체 도구</a:t>
            </a:r>
            <a:endParaRPr lang="en-US" sz="1250" dirty="0"/>
          </a:p>
        </p:txBody>
      </p:sp>
      <p:sp>
        <p:nvSpPr>
          <p:cNvPr id="11" name="Text 9"/>
          <p:cNvSpPr txBox="1"/>
          <p:nvPr/>
        </p:nvSpPr>
        <p:spPr>
          <a:xfrm>
            <a:off x="2889504" y="2066544"/>
            <a:ext cx="1956816" cy="237744"/>
          </a:xfrm>
          <a:prstGeom prst="rect">
            <a:avLst/>
          </a:prstGeom>
          <a:noFill/>
          <a:ln/>
        </p:spPr>
        <p:txBody>
          <a:bodyPr wrap="square" lIns="0" tIns="0" rIns="0" bIns="0" rtlCol="0" anchor="ctr"/>
          <a:lstStyle/>
          <a:p>
            <a:pPr marL="0" indent="0" algn="ctr">
              <a:buNone/>
            </a:pPr>
            <a:r>
              <a:rPr lang="en-US" sz="1000" dirty="0">
                <a:solidFill>
                  <a:srgbClr val="6E6E6E"/>
                </a:solidFill>
                <a:latin typeface="Calibri" pitchFamily="34" charset="0"/>
                <a:ea typeface="Calibri" pitchFamily="34" charset="-122"/>
                <a:cs typeface="Calibri" pitchFamily="34" charset="-120"/>
              </a:rPr>
              <a:t>에디터 창 · 생성기</a:t>
            </a:r>
            <a:endParaRPr lang="en-US" sz="1000" dirty="0"/>
          </a:p>
        </p:txBody>
      </p:sp>
      <p:sp>
        <p:nvSpPr>
          <p:cNvPr id="12" name="Shape 10"/>
          <p:cNvSpPr/>
          <p:nvPr/>
        </p:nvSpPr>
        <p:spPr>
          <a:xfrm>
            <a:off x="4892040" y="2066544"/>
            <a:ext cx="201168" cy="91"/>
          </a:xfrm>
          <a:prstGeom prst="line">
            <a:avLst/>
          </a:prstGeom>
          <a:noFill/>
          <a:ln w="15875">
            <a:solidFill>
              <a:srgbClr val="6E6E6E"/>
            </a:solidFill>
            <a:prstDash val="solid"/>
            <a:tailEnd type="triangle"/>
          </a:ln>
        </p:spPr>
      </p:sp>
      <p:sp>
        <p:nvSpPr>
          <p:cNvPr id="13" name="Shape 11"/>
          <p:cNvSpPr/>
          <p:nvPr/>
        </p:nvSpPr>
        <p:spPr>
          <a:xfrm>
            <a:off x="5138928" y="1783080"/>
            <a:ext cx="1956816" cy="566928"/>
          </a:xfrm>
          <a:prstGeom prst="rect">
            <a:avLst/>
          </a:prstGeom>
          <a:solidFill>
            <a:srgbClr val="FFFFFF"/>
          </a:solidFill>
          <a:ln w="12700">
            <a:solidFill>
              <a:srgbClr val="D8D8D8"/>
            </a:solidFill>
            <a:prstDash val="solid"/>
          </a:ln>
        </p:spPr>
      </p:sp>
      <p:sp>
        <p:nvSpPr>
          <p:cNvPr id="14" name="Text 12"/>
          <p:cNvSpPr txBox="1"/>
          <p:nvPr/>
        </p:nvSpPr>
        <p:spPr>
          <a:xfrm>
            <a:off x="5138928" y="1819656"/>
            <a:ext cx="1956816" cy="274320"/>
          </a:xfrm>
          <a:prstGeom prst="rect">
            <a:avLst/>
          </a:prstGeom>
          <a:noFill/>
          <a:ln/>
        </p:spPr>
        <p:txBody>
          <a:bodyPr wrap="square" lIns="0" tIns="0" rIns="0" bIns="0" rtlCol="0" anchor="ctr"/>
          <a:lstStyle/>
          <a:p>
            <a:pPr marL="0" indent="0" algn="ctr">
              <a:buNone/>
            </a:pPr>
            <a:r>
              <a:rPr lang="en-US" sz="1250" b="1" dirty="0">
                <a:solidFill>
                  <a:srgbClr val="1A1A1A"/>
                </a:solidFill>
                <a:latin typeface="Calibri" pitchFamily="34" charset="0"/>
                <a:ea typeface="Calibri" pitchFamily="34" charset="-122"/>
                <a:cs typeface="Calibri" pitchFamily="34" charset="-120"/>
              </a:rPr>
              <a:t>에셋</a:t>
            </a:r>
            <a:endParaRPr lang="en-US" sz="1250" dirty="0"/>
          </a:p>
        </p:txBody>
      </p:sp>
      <p:sp>
        <p:nvSpPr>
          <p:cNvPr id="15" name="Text 13"/>
          <p:cNvSpPr txBox="1"/>
          <p:nvPr/>
        </p:nvSpPr>
        <p:spPr>
          <a:xfrm>
            <a:off x="5138928" y="2066544"/>
            <a:ext cx="1956816" cy="237744"/>
          </a:xfrm>
          <a:prstGeom prst="rect">
            <a:avLst/>
          </a:prstGeom>
          <a:noFill/>
          <a:ln/>
        </p:spPr>
        <p:txBody>
          <a:bodyPr wrap="square" lIns="0" tIns="0" rIns="0" bIns="0" rtlCol="0" anchor="ctr"/>
          <a:lstStyle/>
          <a:p>
            <a:pPr marL="0" indent="0" algn="ctr">
              <a:buNone/>
            </a:pPr>
            <a:r>
              <a:rPr lang="en-US" sz="1000" dirty="0">
                <a:solidFill>
                  <a:srgbClr val="6E6E6E"/>
                </a:solidFill>
                <a:latin typeface="Calibri" pitchFamily="34" charset="0"/>
                <a:ea typeface="Calibri" pitchFamily="34" charset="-122"/>
                <a:cs typeface="Calibri" pitchFamily="34" charset="-120"/>
              </a:rPr>
              <a:t>SO · CSV · 씬</a:t>
            </a:r>
            <a:endParaRPr lang="en-US" sz="1000" dirty="0"/>
          </a:p>
        </p:txBody>
      </p:sp>
      <p:sp>
        <p:nvSpPr>
          <p:cNvPr id="16" name="Shape 14"/>
          <p:cNvSpPr/>
          <p:nvPr/>
        </p:nvSpPr>
        <p:spPr>
          <a:xfrm>
            <a:off x="7141464" y="2066544"/>
            <a:ext cx="201168" cy="91"/>
          </a:xfrm>
          <a:prstGeom prst="line">
            <a:avLst/>
          </a:prstGeom>
          <a:noFill/>
          <a:ln w="15875">
            <a:solidFill>
              <a:srgbClr val="6E6E6E"/>
            </a:solidFill>
            <a:prstDash val="solid"/>
            <a:tailEnd type="triangle"/>
          </a:ln>
        </p:spPr>
      </p:sp>
      <p:sp>
        <p:nvSpPr>
          <p:cNvPr id="17" name="Shape 15"/>
          <p:cNvSpPr/>
          <p:nvPr/>
        </p:nvSpPr>
        <p:spPr>
          <a:xfrm>
            <a:off x="7388352" y="1783080"/>
            <a:ext cx="1956816" cy="566928"/>
          </a:xfrm>
          <a:prstGeom prst="rect">
            <a:avLst/>
          </a:prstGeom>
          <a:solidFill>
            <a:srgbClr val="F6E9E7"/>
          </a:solidFill>
          <a:ln w="12700">
            <a:solidFill>
              <a:srgbClr val="B85042"/>
            </a:solidFill>
            <a:prstDash val="solid"/>
          </a:ln>
        </p:spPr>
      </p:sp>
      <p:sp>
        <p:nvSpPr>
          <p:cNvPr id="18" name="Text 16"/>
          <p:cNvSpPr txBox="1"/>
          <p:nvPr/>
        </p:nvSpPr>
        <p:spPr>
          <a:xfrm>
            <a:off x="7388352" y="1819656"/>
            <a:ext cx="1956816" cy="274320"/>
          </a:xfrm>
          <a:prstGeom prst="rect">
            <a:avLst/>
          </a:prstGeom>
          <a:noFill/>
          <a:ln/>
        </p:spPr>
        <p:txBody>
          <a:bodyPr wrap="square" lIns="0" tIns="0" rIns="0" bIns="0" rtlCol="0" anchor="ctr"/>
          <a:lstStyle/>
          <a:p>
            <a:pPr marL="0" indent="0" algn="ctr">
              <a:buNone/>
            </a:pPr>
            <a:r>
              <a:rPr lang="en-US" sz="1250" b="1" dirty="0">
                <a:solidFill>
                  <a:srgbClr val="B85042"/>
                </a:solidFill>
                <a:latin typeface="Calibri" pitchFamily="34" charset="0"/>
                <a:ea typeface="Calibri" pitchFamily="34" charset="-122"/>
                <a:cs typeface="Calibri" pitchFamily="34" charset="-120"/>
              </a:rPr>
              <a:t>검증</a:t>
            </a:r>
            <a:endParaRPr lang="en-US" sz="1250" dirty="0"/>
          </a:p>
        </p:txBody>
      </p:sp>
      <p:sp>
        <p:nvSpPr>
          <p:cNvPr id="19" name="Text 17"/>
          <p:cNvSpPr txBox="1"/>
          <p:nvPr/>
        </p:nvSpPr>
        <p:spPr>
          <a:xfrm>
            <a:off x="7388352" y="2066544"/>
            <a:ext cx="1956816" cy="237744"/>
          </a:xfrm>
          <a:prstGeom prst="rect">
            <a:avLst/>
          </a:prstGeom>
          <a:noFill/>
          <a:ln/>
        </p:spPr>
        <p:txBody>
          <a:bodyPr wrap="square" lIns="0" tIns="0" rIns="0" bIns="0" rtlCol="0" anchor="ctr"/>
          <a:lstStyle/>
          <a:p>
            <a:pPr marL="0" indent="0" algn="ctr">
              <a:buNone/>
            </a:pPr>
            <a:r>
              <a:rPr lang="en-US" sz="1000" dirty="0">
                <a:solidFill>
                  <a:srgbClr val="6E6E6E"/>
                </a:solidFill>
                <a:latin typeface="Calibri" pitchFamily="34" charset="0"/>
                <a:ea typeface="Calibri" pitchFamily="34" charset="-122"/>
                <a:cs typeface="Calibri" pitchFamily="34" charset="-120"/>
              </a:rPr>
              <a:t>와이어링 정적 검사</a:t>
            </a:r>
            <a:endParaRPr lang="en-US" sz="1000" dirty="0"/>
          </a:p>
        </p:txBody>
      </p:sp>
      <p:sp>
        <p:nvSpPr>
          <p:cNvPr id="20" name="Shape 18"/>
          <p:cNvSpPr/>
          <p:nvPr/>
        </p:nvSpPr>
        <p:spPr>
          <a:xfrm>
            <a:off x="9390888" y="2066544"/>
            <a:ext cx="201168" cy="91"/>
          </a:xfrm>
          <a:prstGeom prst="line">
            <a:avLst/>
          </a:prstGeom>
          <a:noFill/>
          <a:ln w="15875">
            <a:solidFill>
              <a:srgbClr val="6E6E6E"/>
            </a:solidFill>
            <a:prstDash val="solid"/>
            <a:tailEnd type="triangle"/>
          </a:ln>
        </p:spPr>
      </p:sp>
      <p:sp>
        <p:nvSpPr>
          <p:cNvPr id="21" name="Shape 19"/>
          <p:cNvSpPr/>
          <p:nvPr/>
        </p:nvSpPr>
        <p:spPr>
          <a:xfrm>
            <a:off x="9637776" y="1783080"/>
            <a:ext cx="1956816" cy="566928"/>
          </a:xfrm>
          <a:prstGeom prst="rect">
            <a:avLst/>
          </a:prstGeom>
          <a:solidFill>
            <a:srgbClr val="FFFFFF"/>
          </a:solidFill>
          <a:ln w="12700">
            <a:solidFill>
              <a:srgbClr val="D8D8D8"/>
            </a:solidFill>
            <a:prstDash val="solid"/>
          </a:ln>
        </p:spPr>
      </p:sp>
      <p:sp>
        <p:nvSpPr>
          <p:cNvPr id="22" name="Text 20"/>
          <p:cNvSpPr txBox="1"/>
          <p:nvPr/>
        </p:nvSpPr>
        <p:spPr>
          <a:xfrm>
            <a:off x="9637776" y="1819656"/>
            <a:ext cx="1956816" cy="274320"/>
          </a:xfrm>
          <a:prstGeom prst="rect">
            <a:avLst/>
          </a:prstGeom>
          <a:noFill/>
          <a:ln/>
        </p:spPr>
        <p:txBody>
          <a:bodyPr wrap="square" lIns="0" tIns="0" rIns="0" bIns="0" rtlCol="0" anchor="ctr"/>
          <a:lstStyle/>
          <a:p>
            <a:pPr marL="0" indent="0" algn="ctr">
              <a:buNone/>
            </a:pPr>
            <a:r>
              <a:rPr lang="en-US" sz="1250" b="1" dirty="0">
                <a:solidFill>
                  <a:srgbClr val="1A1A1A"/>
                </a:solidFill>
                <a:latin typeface="Calibri" pitchFamily="34" charset="0"/>
                <a:ea typeface="Calibri" pitchFamily="34" charset="-122"/>
                <a:cs typeface="Calibri" pitchFamily="34" charset="-120"/>
              </a:rPr>
              <a:t>게임</a:t>
            </a:r>
            <a:endParaRPr lang="en-US" sz="1250" dirty="0"/>
          </a:p>
        </p:txBody>
      </p:sp>
      <p:sp>
        <p:nvSpPr>
          <p:cNvPr id="23" name="Text 21"/>
          <p:cNvSpPr txBox="1"/>
          <p:nvPr/>
        </p:nvSpPr>
        <p:spPr>
          <a:xfrm>
            <a:off x="9637776" y="2066544"/>
            <a:ext cx="1956816" cy="237744"/>
          </a:xfrm>
          <a:prstGeom prst="rect">
            <a:avLst/>
          </a:prstGeom>
          <a:noFill/>
          <a:ln/>
        </p:spPr>
        <p:txBody>
          <a:bodyPr wrap="square" lIns="0" tIns="0" rIns="0" bIns="0" rtlCol="0" anchor="ctr"/>
          <a:lstStyle/>
          <a:p>
            <a:pPr marL="0" indent="0" algn="ctr">
              <a:buNone/>
            </a:pPr>
            <a:r>
              <a:rPr lang="en-US" sz="1000" dirty="0">
                <a:solidFill>
                  <a:srgbClr val="6E6E6E"/>
                </a:solidFill>
                <a:latin typeface="Calibri" pitchFamily="34" charset="0"/>
                <a:ea typeface="Calibri" pitchFamily="34" charset="-122"/>
                <a:cs typeface="Calibri" pitchFamily="34" charset="-120"/>
              </a:rPr>
              <a:t>런타임</a:t>
            </a:r>
            <a:endParaRPr lang="en-US" sz="1000" dirty="0"/>
          </a:p>
        </p:txBody>
      </p:sp>
      <p:sp>
        <p:nvSpPr>
          <p:cNvPr id="24" name="Text 22"/>
          <p:cNvSpPr txBox="1"/>
          <p:nvPr/>
        </p:nvSpPr>
        <p:spPr>
          <a:xfrm>
            <a:off x="640080" y="2468880"/>
            <a:ext cx="10908792" cy="274320"/>
          </a:xfrm>
          <a:prstGeom prst="rect">
            <a:avLst/>
          </a:prstGeom>
          <a:noFill/>
          <a:ln/>
        </p:spPr>
        <p:txBody>
          <a:bodyPr wrap="square" lIns="0" tIns="0" rIns="0" bIns="0" rtlCol="0" anchor="ctr"/>
          <a:lstStyle/>
          <a:p>
            <a:pPr marL="0" indent="0" algn="l">
              <a:buNone/>
            </a:pPr>
            <a:r>
              <a:rPr lang="en-US" sz="1100" dirty="0">
                <a:solidFill>
                  <a:srgbClr val="6E6E6E"/>
                </a:solidFill>
                <a:latin typeface="Calibri" pitchFamily="34" charset="0"/>
                <a:ea typeface="Calibri" pitchFamily="34" charset="-122"/>
                <a:cs typeface="Calibri" pitchFamily="34" charset="-120"/>
              </a:rPr>
              <a:t>붉게 표시된 두 단계가 팀이 직접 만든 구간입니다.</a:t>
            </a:r>
            <a:endParaRPr lang="en-US" sz="11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2788920"/>
          <a:ext cx="10908792" cy="2560320"/>
        </p:xfrm>
        <a:graphic>
          <a:graphicData uri="http://schemas.openxmlformats.org/drawingml/2006/table">
            <a:tbl>
              <a:tblPr/>
              <a:tblGrid>
                <a:gridCol w="1600200">
                  <a:extLst>
                    <a:ext uri="{9D8B030D-6E8A-4147-A177-3AD203B41FA5}">
                      <a16:colId xmlns:a16="http://schemas.microsoft.com/office/drawing/2014/main" val="20000"/>
                    </a:ext>
                  </a:extLst>
                </a:gridCol>
                <a:gridCol w="3520440">
                  <a:extLst>
                    <a:ext uri="{9D8B030D-6E8A-4147-A177-3AD203B41FA5}">
                      <a16:colId xmlns:a16="http://schemas.microsoft.com/office/drawing/2014/main" val="20001"/>
                    </a:ext>
                  </a:extLst>
                </a:gridCol>
                <a:gridCol w="5788152">
                  <a:extLst>
                    <a:ext uri="{9D8B030D-6E8A-4147-A177-3AD203B41FA5}">
                      <a16:colId xmlns:a16="http://schemas.microsoft.com/office/drawing/2014/main" val="20002"/>
                    </a:ext>
                  </a:extLst>
                </a:gridCol>
              </a:tblGrid>
              <a:tr h="365760">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분류</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solidFill>
                      <a:srgbClr val="2B2B2B"/>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도구</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solidFill>
                      <a:srgbClr val="2B2B2B"/>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하는 일</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solidFill>
                      <a:srgbClr val="2B2B2B"/>
                    </a:solidFill>
                  </a:tcPr>
                </a:tc>
                <a:extLst>
                  <a:ext uri="{0D108BD9-81ED-4DB2-BD59-A6C34878D82A}">
                    <a16:rowId xmlns:a16="http://schemas.microsoft.com/office/drawing/2014/main" val="10000"/>
                  </a:ext>
                </a:extLst>
              </a:tr>
              <a:tr h="365760">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에셋 생성</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용 스킬트리 · 연구 트리 생성기</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70노드 · 38노드 SO를 코드로 생성. 재실행해도 GUID를 유지하는 멱등 설계</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레벨 디자인</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청크 레이아웃 창 · 브러시 · 지형 타일맵</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맵 청크와 지형을 브러시로 칠하는 전용 에디터 창</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로컬라이제이션</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번역 동기화 창 · CSV 다운로더</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구글 시트를 읽어 언어별 CSV로 자동 분리 저장</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품질 검사</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와이어링 체커 · 가이드 앵커 검증</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플레이하지 않고 빌드 씬을 순회해 미연결 · 끊어진 참조를 정적 검사</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배선 자동화</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사운드 카탈로그 · 건물 카탈로그 도구</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타워 효과음과 건물 프리팹 등록을 일괄 배선</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밸런싱</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자원 산출 편집 창 · 밸런스 시뮬레이터</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tc>
                  <a:txBody>
                    <a:bodyPr/>
                    <a:lstStyle/>
                    <a:p>
                      <a:pPr marL="0" indent="0">
                        <a:buNone/>
                      </a:pPr>
                      <a:r>
                        <a:rPr lang="en-US" sz="1150" dirty="0">
                          <a:solidFill>
                            <a:srgbClr val="1A1A1A"/>
                          </a:solidFill>
                          <a:latin typeface="Calibri" pitchFamily="34" charset="0"/>
                          <a:ea typeface="Calibri" pitchFamily="34" charset="-122"/>
                          <a:cs typeface="Calibri" pitchFamily="34" charset="-120"/>
                        </a:rPr>
                        <a:t>에셋 수치를 긁어 단일 HTML 시뮬레이터로 빌드 (회귀 테스트 5종)</a:t>
                      </a:r>
                      <a:endParaRPr lang="en-US" sz="1150" dirty="0">
                        <a:latin typeface="Calibri" charset="0"/>
                        <a:ea typeface="Calibri" charset="0"/>
                        <a:cs typeface="Calibri" charset="0"/>
                      </a:endParaRPr>
                    </a:p>
                  </a:txBody>
                  <a:tcPr marL="101600" marR="101600" marT="50800" marB="50800" anchor="ctr">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26" name="Text 23"/>
          <p:cNvSpPr txBox="1"/>
          <p:nvPr/>
        </p:nvSpPr>
        <p:spPr>
          <a:xfrm>
            <a:off x="640080" y="5577840"/>
            <a:ext cx="3566160" cy="365760"/>
          </a:xfrm>
          <a:prstGeom prst="rect">
            <a:avLst/>
          </a:prstGeom>
          <a:noFill/>
          <a:ln/>
        </p:spPr>
        <p:txBody>
          <a:bodyPr wrap="square" lIns="0" tIns="0" rIns="0" bIns="0" rtlCol="0" anchor="ctr"/>
          <a:lstStyle/>
          <a:p>
            <a:pPr marL="0" indent="0">
              <a:buNone/>
            </a:pPr>
            <a:r>
              <a:rPr lang="en-US" sz="1700" b="1" dirty="0">
                <a:solidFill>
                  <a:srgbClr val="B85042"/>
                </a:solidFill>
                <a:latin typeface="Calibri" pitchFamily="34" charset="0"/>
                <a:ea typeface="Calibri" pitchFamily="34" charset="-122"/>
                <a:cs typeface="Calibri" pitchFamily="34" charset="-120"/>
              </a:rPr>
              <a:t>22개  </a:t>
            </a:r>
            <a:r>
              <a:rPr lang="en-US" sz="1150" dirty="0">
                <a:solidFill>
                  <a:srgbClr val="1A1A1A"/>
                </a:solidFill>
                <a:latin typeface="Calibri" pitchFamily="34" charset="0"/>
                <a:ea typeface="Calibri" pitchFamily="34" charset="-122"/>
                <a:cs typeface="Calibri" pitchFamily="34" charset="-120"/>
              </a:rPr>
              <a:t>자체 제작 에디터 툴</a:t>
            </a:r>
            <a:endParaRPr lang="en-US" sz="1700" dirty="0"/>
          </a:p>
        </p:txBody>
      </p:sp>
      <p:sp>
        <p:nvSpPr>
          <p:cNvPr id="27" name="Text 24"/>
          <p:cNvSpPr txBox="1"/>
          <p:nvPr/>
        </p:nvSpPr>
        <p:spPr>
          <a:xfrm>
            <a:off x="4279392" y="5577840"/>
            <a:ext cx="3566160" cy="365760"/>
          </a:xfrm>
          <a:prstGeom prst="rect">
            <a:avLst/>
          </a:prstGeom>
          <a:noFill/>
          <a:ln/>
        </p:spPr>
        <p:txBody>
          <a:bodyPr wrap="square" lIns="0" tIns="0" rIns="0" bIns="0" rtlCol="0" anchor="ctr"/>
          <a:lstStyle/>
          <a:p>
            <a:pPr marL="0" indent="0">
              <a:buNone/>
            </a:pPr>
            <a:r>
              <a:rPr lang="en-US" sz="1700" b="1" dirty="0">
                <a:solidFill>
                  <a:srgbClr val="B85042"/>
                </a:solidFill>
                <a:latin typeface="Calibri" pitchFamily="34" charset="0"/>
                <a:ea typeface="Calibri" pitchFamily="34" charset="-122"/>
                <a:cs typeface="Calibri" pitchFamily="34" charset="-120"/>
              </a:rPr>
              <a:t>14개  </a:t>
            </a:r>
            <a:r>
              <a:rPr lang="en-US" sz="1150" dirty="0">
                <a:solidFill>
                  <a:srgbClr val="1A1A1A"/>
                </a:solidFill>
                <a:latin typeface="Calibri" pitchFamily="34" charset="0"/>
                <a:ea typeface="Calibri" pitchFamily="34" charset="-122"/>
                <a:cs typeface="Calibri" pitchFamily="34" charset="-120"/>
              </a:rPr>
              <a:t>디버그 · 치트 도구</a:t>
            </a:r>
            <a:endParaRPr lang="en-US" sz="1700" dirty="0"/>
          </a:p>
        </p:txBody>
      </p:sp>
      <p:sp>
        <p:nvSpPr>
          <p:cNvPr id="28" name="Text 25"/>
          <p:cNvSpPr txBox="1"/>
          <p:nvPr/>
        </p:nvSpPr>
        <p:spPr>
          <a:xfrm>
            <a:off x="7918704" y="5577840"/>
            <a:ext cx="3566160" cy="365760"/>
          </a:xfrm>
          <a:prstGeom prst="rect">
            <a:avLst/>
          </a:prstGeom>
          <a:noFill/>
          <a:ln/>
        </p:spPr>
        <p:txBody>
          <a:bodyPr wrap="square" lIns="0" tIns="0" rIns="0" bIns="0" rtlCol="0" anchor="ctr"/>
          <a:lstStyle/>
          <a:p>
            <a:pPr marL="0" indent="0">
              <a:buNone/>
            </a:pPr>
            <a:r>
              <a:rPr lang="en-US" sz="1700" b="1" dirty="0">
                <a:solidFill>
                  <a:srgbClr val="B85042"/>
                </a:solidFill>
                <a:latin typeface="Calibri" pitchFamily="34" charset="0"/>
                <a:ea typeface="Calibri" pitchFamily="34" charset="-122"/>
                <a:cs typeface="Calibri" pitchFamily="34" charset="-120"/>
              </a:rPr>
              <a:t>70노드  </a:t>
            </a:r>
            <a:r>
              <a:rPr lang="en-US" sz="1150" dirty="0">
                <a:solidFill>
                  <a:srgbClr val="1A1A1A"/>
                </a:solidFill>
                <a:latin typeface="Calibri" pitchFamily="34" charset="0"/>
                <a:ea typeface="Calibri" pitchFamily="34" charset="-122"/>
                <a:cs typeface="Calibri" pitchFamily="34" charset="-120"/>
              </a:rPr>
              <a:t>손으로 쓸 수 없어 코드로 생성한 스킬트리</a:t>
            </a:r>
            <a:endParaRPr lang="en-US" sz="1700" dirty="0"/>
          </a:p>
        </p:txBody>
      </p:sp>
      <p:sp>
        <p:nvSpPr>
          <p:cNvPr id="29" name="Text 26"/>
          <p:cNvSpPr txBox="1"/>
          <p:nvPr/>
        </p:nvSpPr>
        <p:spPr>
          <a:xfrm>
            <a:off x="640080" y="6355080"/>
            <a:ext cx="5486400" cy="256032"/>
          </a:xfrm>
          <a:prstGeom prst="rect">
            <a:avLst/>
          </a:prstGeom>
          <a:noFill/>
          <a:ln/>
        </p:spPr>
        <p:txBody>
          <a:bodyPr wrap="square" lIns="0" tIns="0" rIns="0" bIns="0" rtlCol="0" anchor="ctr"/>
          <a:lstStyle/>
          <a:p>
            <a:pPr marL="0" indent="0">
              <a:buNone/>
            </a:pPr>
            <a:r>
              <a:rPr lang="en-US" sz="900" dirty="0">
                <a:solidFill>
                  <a:srgbClr val="6E6E6E"/>
                </a:solidFill>
                <a:latin typeface="Calibri" pitchFamily="34" charset="0"/>
                <a:ea typeface="Calibri" pitchFamily="34" charset="-122"/>
                <a:cs typeface="Calibri" pitchFamily="34" charset="-120"/>
              </a:rPr>
              <a:t>수성록 (Tower and Dragons) · 최종 결과 보고</a:t>
            </a:r>
            <a:endParaRPr lang="en-US" sz="900" dirty="0"/>
          </a:p>
        </p:txBody>
      </p:sp>
      <p:sp>
        <p:nvSpPr>
          <p:cNvPr id="30" name="Text 27"/>
          <p:cNvSpPr txBox="1"/>
          <p:nvPr/>
        </p:nvSpPr>
        <p:spPr>
          <a:xfrm>
            <a:off x="6062472" y="6355080"/>
            <a:ext cx="5486400" cy="256032"/>
          </a:xfrm>
          <a:prstGeom prst="rect">
            <a:avLst/>
          </a:prstGeom>
          <a:noFill/>
          <a:ln/>
        </p:spPr>
        <p:txBody>
          <a:bodyPr wrap="square" lIns="0" tIns="0" rIns="0" bIns="0" rtlCol="0" anchor="ctr"/>
          <a:lstStyle/>
          <a:p>
            <a:pPr marL="0" indent="0" algn="r">
              <a:buNone/>
            </a:pPr>
            <a:r>
              <a:rPr lang="en-US" sz="900" dirty="0">
                <a:solidFill>
                  <a:srgbClr val="6E6E6E"/>
                </a:solidFill>
                <a:latin typeface="Calibri" pitchFamily="34" charset="0"/>
                <a:ea typeface="Calibri" pitchFamily="34" charset="-122"/>
                <a:cs typeface="Calibri" pitchFamily="34" charset="-120"/>
              </a:rPr>
              <a:t>04 — 핵심 기술 구현</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47472"/>
            <a:ext cx="10908792" cy="256032"/>
          </a:xfrm>
          <a:prstGeom prst="rect">
            <a:avLst/>
          </a:prstGeom>
          <a:noFill/>
          <a:ln/>
        </p:spPr>
        <p:txBody>
          <a:bodyPr wrap="square" lIns="0" tIns="0" rIns="0" bIns="0" rtlCol="0" anchor="ctr"/>
          <a:lstStyle/>
          <a:p>
            <a:pPr marL="0" indent="0">
              <a:buNone/>
            </a:pPr>
            <a:r>
              <a:rPr lang="en-US" sz="1100" b="1" dirty="0">
                <a:solidFill>
                  <a:srgbClr val="B85042"/>
                </a:solidFill>
                <a:latin typeface="Calibri" pitchFamily="34" charset="0"/>
                <a:ea typeface="Calibri" pitchFamily="34" charset="-122"/>
                <a:cs typeface="Calibri" pitchFamily="34" charset="-120"/>
              </a:rPr>
              <a:t>04</a:t>
            </a:r>
            <a:r>
              <a:rPr lang="en-US" sz="1100" dirty="0">
                <a:solidFill>
                  <a:srgbClr val="6E6E6E"/>
                </a:solidFill>
                <a:latin typeface="Calibri" pitchFamily="34" charset="0"/>
                <a:ea typeface="Calibri" pitchFamily="34" charset="-122"/>
                <a:cs typeface="Calibri" pitchFamily="34" charset="-120"/>
              </a:rPr>
              <a:t>   수행 경과</a:t>
            </a:r>
            <a:endParaRPr lang="en-US" sz="1100" dirty="0"/>
          </a:p>
        </p:txBody>
      </p:sp>
      <p:sp>
        <p:nvSpPr>
          <p:cNvPr id="3" name="Text 1"/>
          <p:cNvSpPr txBox="1"/>
          <p:nvPr/>
        </p:nvSpPr>
        <p:spPr>
          <a:xfrm>
            <a:off x="640080" y="621792"/>
            <a:ext cx="10908792" cy="640080"/>
          </a:xfrm>
          <a:prstGeom prst="rect">
            <a:avLst/>
          </a:prstGeom>
          <a:noFill/>
          <a:ln/>
        </p:spPr>
        <p:txBody>
          <a:bodyPr wrap="square" lIns="0" tIns="0" rIns="0" bIns="0" rtlCol="0" anchor="t"/>
          <a:lstStyle/>
          <a:p>
            <a:pPr marL="0" indent="0">
              <a:buNone/>
            </a:pPr>
            <a:r>
              <a:rPr lang="en-US" sz="3000" b="1" dirty="0">
                <a:solidFill>
                  <a:srgbClr val="1A1A1A"/>
                </a:solidFill>
                <a:latin typeface="Calibri" pitchFamily="34" charset="0"/>
                <a:ea typeface="Calibri" pitchFamily="34" charset="-122"/>
                <a:cs typeface="Calibri" pitchFamily="34" charset="-120"/>
              </a:rPr>
              <a:t>완성도 보강</a:t>
            </a:r>
            <a:endParaRPr lang="en-US" sz="3000" dirty="0"/>
          </a:p>
        </p:txBody>
      </p:sp>
      <p:sp>
        <p:nvSpPr>
          <p:cNvPr id="4" name="Text 2"/>
          <p:cNvSpPr txBox="1"/>
          <p:nvPr/>
        </p:nvSpPr>
        <p:spPr>
          <a:xfrm>
            <a:off x="640080" y="1280160"/>
            <a:ext cx="10908792" cy="292608"/>
          </a:xfrm>
          <a:prstGeom prst="rect">
            <a:avLst/>
          </a:prstGeom>
          <a:noFill/>
          <a:ln/>
        </p:spPr>
        <p:txBody>
          <a:bodyPr wrap="square" lIns="0" tIns="0" rIns="0" bIns="0" rtlCol="0" anchor="ctr"/>
          <a:lstStyle/>
          <a:p>
            <a:pPr marL="0" indent="0">
              <a:buNone/>
            </a:pPr>
            <a:r>
              <a:rPr lang="en-US" sz="1300" dirty="0">
                <a:solidFill>
                  <a:srgbClr val="6E6E6E"/>
                </a:solidFill>
                <a:latin typeface="Calibri" pitchFamily="34" charset="0"/>
                <a:ea typeface="Calibri" pitchFamily="34" charset="-122"/>
                <a:cs typeface="Calibri" pitchFamily="34" charset="-120"/>
              </a:rPr>
              <a:t>알파 이후에는 새 기능보다 완성도에 집중했습니다</a:t>
            </a:r>
            <a:endParaRPr lang="en-US" sz="1300" dirty="0"/>
          </a:p>
        </p:txBody>
      </p:sp>
      <p:sp>
        <p:nvSpPr>
          <p:cNvPr id="5" name="Text 3"/>
          <p:cNvSpPr txBox="1"/>
          <p:nvPr/>
        </p:nvSpPr>
        <p:spPr>
          <a:xfrm>
            <a:off x="640080" y="2057400"/>
            <a:ext cx="2377440" cy="502920"/>
          </a:xfrm>
          <a:prstGeom prst="rect">
            <a:avLst/>
          </a:prstGeom>
          <a:noFill/>
          <a:ln/>
        </p:spPr>
        <p:txBody>
          <a:bodyPr wrap="square" lIns="0" tIns="0" rIns="0" bIns="0" rtlCol="0" anchor="ctr"/>
          <a:lstStyle/>
          <a:p>
            <a:pPr marL="0" indent="0">
              <a:buNone/>
            </a:pPr>
            <a:r>
              <a:rPr lang="en-US" sz="2600" b="1" dirty="0">
                <a:solidFill>
                  <a:srgbClr val="B85042"/>
                </a:solidFill>
                <a:latin typeface="Calibri" pitchFamily="34" charset="0"/>
                <a:ea typeface="Calibri" pitchFamily="34" charset="-122"/>
                <a:cs typeface="Calibri" pitchFamily="34" charset="-120"/>
              </a:rPr>
              <a:t>온보딩</a:t>
            </a:r>
            <a:endParaRPr lang="en-US" sz="2600" dirty="0"/>
          </a:p>
        </p:txBody>
      </p:sp>
      <p:sp>
        <p:nvSpPr>
          <p:cNvPr id="6" name="Text 4"/>
          <p:cNvSpPr txBox="1"/>
          <p:nvPr/>
        </p:nvSpPr>
        <p:spPr>
          <a:xfrm>
            <a:off x="640080" y="2560320"/>
            <a:ext cx="2377440" cy="502920"/>
          </a:xfrm>
          <a:prstGeom prst="rect">
            <a:avLst/>
          </a:prstGeom>
          <a:noFill/>
          <a:ln/>
        </p:spPr>
        <p:txBody>
          <a:bodyPr wrap="square" lIns="0" tIns="0" rIns="0" bIns="0" rtlCol="0" anchor="ctr"/>
          <a:lstStyle/>
          <a:p>
            <a:pPr marL="0" indent="0">
              <a:lnSpc>
                <a:spcPct val="115000"/>
              </a:lnSpc>
              <a:buNone/>
            </a:pPr>
            <a:r>
              <a:rPr lang="en-US" sz="1200" dirty="0">
                <a:solidFill>
                  <a:srgbClr val="6E6E6E"/>
                </a:solidFill>
                <a:latin typeface="Calibri" pitchFamily="34" charset="0"/>
                <a:ea typeface="Calibri" pitchFamily="34" charset="-122"/>
                <a:cs typeface="Calibri" pitchFamily="34" charset="-120"/>
              </a:rPr>
              <a:t>처음 하는 사람이</a:t>
            </a:r>
            <a:endParaRPr lang="en-US" sz="1200" dirty="0"/>
          </a:p>
          <a:p>
            <a:pPr marL="0" indent="0">
              <a:lnSpc>
                <a:spcPct val="115000"/>
              </a:lnSpc>
              <a:buNone/>
            </a:pPr>
            <a:r>
              <a:rPr lang="en-US" sz="1200" dirty="0">
                <a:solidFill>
                  <a:srgbClr val="6E6E6E"/>
                </a:solidFill>
                <a:latin typeface="Calibri" pitchFamily="34" charset="0"/>
                <a:ea typeface="Calibri" pitchFamily="34" charset="-122"/>
                <a:cs typeface="Calibri" pitchFamily="34" charset="-120"/>
              </a:rPr>
              <a:t>무엇을 할지 알게</a:t>
            </a:r>
            <a:endParaRPr lang="en-US" sz="1200" dirty="0"/>
          </a:p>
        </p:txBody>
      </p:sp>
      <p:sp>
        <p:nvSpPr>
          <p:cNvPr id="7" name="Text 5"/>
          <p:cNvSpPr txBox="1"/>
          <p:nvPr/>
        </p:nvSpPr>
        <p:spPr>
          <a:xfrm>
            <a:off x="3429000" y="2093976"/>
            <a:ext cx="8119872" cy="914400"/>
          </a:xfrm>
          <a:prstGeom prst="rect">
            <a:avLst/>
          </a:prstGeom>
          <a:noFill/>
          <a:ln/>
        </p:spPr>
        <p:txBody>
          <a:bodyPr wrap="square" lIns="0" tIns="0" rIns="0" bIns="0" rtlCol="0" anchor="t"/>
          <a:lstStyle/>
          <a:p>
            <a:pPr marL="0" indent="0">
              <a:lnSpc>
                <a:spcPct val="130000"/>
              </a:lnSpc>
              <a:buNone/>
            </a:pPr>
            <a:r>
              <a:rPr lang="en-US" sz="1500" dirty="0">
                <a:solidFill>
                  <a:srgbClr val="1A1A1A"/>
                </a:solidFill>
                <a:latin typeface="Calibri" pitchFamily="34" charset="0"/>
                <a:ea typeface="Calibri" pitchFamily="34" charset="-122"/>
                <a:cs typeface="Calibri" pitchFamily="34" charset="-120"/>
              </a:rPr>
              <a:t>튜토리얼 전용 씬 12챕터 · 본게임 가이드 퀘스트 28종 · 도움말 도감 16종</a:t>
            </a:r>
            <a:endParaRPr lang="en-US" sz="1500" dirty="0"/>
          </a:p>
        </p:txBody>
      </p:sp>
      <p:sp>
        <p:nvSpPr>
          <p:cNvPr id="8" name="Shape 6"/>
          <p:cNvSpPr/>
          <p:nvPr/>
        </p:nvSpPr>
        <p:spPr>
          <a:xfrm>
            <a:off x="640080" y="3227832"/>
            <a:ext cx="10908792" cy="91"/>
          </a:xfrm>
          <a:prstGeom prst="line">
            <a:avLst/>
          </a:prstGeom>
          <a:noFill/>
          <a:ln w="12700">
            <a:solidFill>
              <a:srgbClr val="D8D8D8"/>
            </a:solidFill>
            <a:prstDash val="solid"/>
          </a:ln>
        </p:spPr>
      </p:sp>
      <p:sp>
        <p:nvSpPr>
          <p:cNvPr id="9" name="Text 7"/>
          <p:cNvSpPr txBox="1"/>
          <p:nvPr/>
        </p:nvSpPr>
        <p:spPr>
          <a:xfrm>
            <a:off x="640080" y="3429000"/>
            <a:ext cx="2377440" cy="502920"/>
          </a:xfrm>
          <a:prstGeom prst="rect">
            <a:avLst/>
          </a:prstGeom>
          <a:noFill/>
          <a:ln/>
        </p:spPr>
        <p:txBody>
          <a:bodyPr wrap="square" lIns="0" tIns="0" rIns="0" bIns="0" rtlCol="0" anchor="ctr"/>
          <a:lstStyle/>
          <a:p>
            <a:pPr marL="0" indent="0">
              <a:buNone/>
            </a:pPr>
            <a:r>
              <a:rPr lang="en-US" sz="2600" b="1" dirty="0">
                <a:solidFill>
                  <a:srgbClr val="B85042"/>
                </a:solidFill>
                <a:latin typeface="Calibri" pitchFamily="34" charset="0"/>
                <a:ea typeface="Calibri" pitchFamily="34" charset="-122"/>
                <a:cs typeface="Calibri" pitchFamily="34" charset="-120"/>
              </a:rPr>
              <a:t>밸런싱</a:t>
            </a:r>
            <a:endParaRPr lang="en-US" sz="2600" dirty="0"/>
          </a:p>
        </p:txBody>
      </p:sp>
      <p:sp>
        <p:nvSpPr>
          <p:cNvPr id="10" name="Text 8"/>
          <p:cNvSpPr txBox="1"/>
          <p:nvPr/>
        </p:nvSpPr>
        <p:spPr>
          <a:xfrm>
            <a:off x="640080" y="3931920"/>
            <a:ext cx="2377440" cy="502920"/>
          </a:xfrm>
          <a:prstGeom prst="rect">
            <a:avLst/>
          </a:prstGeom>
          <a:noFill/>
          <a:ln/>
        </p:spPr>
        <p:txBody>
          <a:bodyPr wrap="square" lIns="0" tIns="0" rIns="0" bIns="0" rtlCol="0" anchor="ctr"/>
          <a:lstStyle/>
          <a:p>
            <a:pPr marL="0" indent="0">
              <a:lnSpc>
                <a:spcPct val="115000"/>
              </a:lnSpc>
              <a:buNone/>
            </a:pPr>
            <a:r>
              <a:rPr lang="en-US" sz="1200" dirty="0">
                <a:solidFill>
                  <a:srgbClr val="6E6E6E"/>
                </a:solidFill>
                <a:latin typeface="Calibri" pitchFamily="34" charset="0"/>
                <a:ea typeface="Calibri" pitchFamily="34" charset="-122"/>
                <a:cs typeface="Calibri" pitchFamily="34" charset="-120"/>
              </a:rPr>
              <a:t>난이도 곡선을</a:t>
            </a:r>
            <a:endParaRPr lang="en-US" sz="1200" dirty="0"/>
          </a:p>
          <a:p>
            <a:pPr marL="0" indent="0">
              <a:lnSpc>
                <a:spcPct val="115000"/>
              </a:lnSpc>
              <a:buNone/>
            </a:pPr>
            <a:r>
              <a:rPr lang="en-US" sz="1200" dirty="0">
                <a:solidFill>
                  <a:srgbClr val="6E6E6E"/>
                </a:solidFill>
                <a:latin typeface="Calibri" pitchFamily="34" charset="0"/>
                <a:ea typeface="Calibri" pitchFamily="34" charset="-122"/>
                <a:cs typeface="Calibri" pitchFamily="34" charset="-120"/>
              </a:rPr>
              <a:t>예측 가능하게</a:t>
            </a:r>
            <a:endParaRPr lang="en-US" sz="1200" dirty="0"/>
          </a:p>
        </p:txBody>
      </p:sp>
      <p:sp>
        <p:nvSpPr>
          <p:cNvPr id="11" name="Text 9"/>
          <p:cNvSpPr txBox="1"/>
          <p:nvPr/>
        </p:nvSpPr>
        <p:spPr>
          <a:xfrm>
            <a:off x="3429000" y="3465576"/>
            <a:ext cx="8119872" cy="914400"/>
          </a:xfrm>
          <a:prstGeom prst="rect">
            <a:avLst/>
          </a:prstGeom>
          <a:noFill/>
          <a:ln/>
        </p:spPr>
        <p:txBody>
          <a:bodyPr wrap="square" lIns="0" tIns="0" rIns="0" bIns="0" rtlCol="0" anchor="t"/>
          <a:lstStyle/>
          <a:p>
            <a:pPr marL="0" indent="0">
              <a:lnSpc>
                <a:spcPct val="130000"/>
              </a:lnSpc>
              <a:buNone/>
            </a:pPr>
            <a:r>
              <a:rPr lang="en-US" sz="1500" dirty="0">
                <a:solidFill>
                  <a:srgbClr val="1A1A1A"/>
                </a:solidFill>
                <a:latin typeface="Calibri" pitchFamily="34" charset="0"/>
                <a:ea typeface="Calibri" pitchFamily="34" charset="-122"/>
                <a:cs typeface="Calibri" pitchFamily="34" charset="-120"/>
              </a:rPr>
              <a:t>초반 난이도 완화 · 점령 페널티 개편 · 자체 제작 시뮬레이터로 수치 검증</a:t>
            </a:r>
            <a:endParaRPr lang="en-US" sz="1500" dirty="0"/>
          </a:p>
        </p:txBody>
      </p:sp>
      <p:sp>
        <p:nvSpPr>
          <p:cNvPr id="12" name="Shape 10"/>
          <p:cNvSpPr/>
          <p:nvPr/>
        </p:nvSpPr>
        <p:spPr>
          <a:xfrm>
            <a:off x="640080" y="4599432"/>
            <a:ext cx="10908792" cy="91"/>
          </a:xfrm>
          <a:prstGeom prst="line">
            <a:avLst/>
          </a:prstGeom>
          <a:noFill/>
          <a:ln w="12700">
            <a:solidFill>
              <a:srgbClr val="D8D8D8"/>
            </a:solidFill>
            <a:prstDash val="solid"/>
          </a:ln>
        </p:spPr>
      </p:sp>
      <p:sp>
        <p:nvSpPr>
          <p:cNvPr id="13" name="Text 11"/>
          <p:cNvSpPr txBox="1"/>
          <p:nvPr/>
        </p:nvSpPr>
        <p:spPr>
          <a:xfrm>
            <a:off x="640080" y="4800600"/>
            <a:ext cx="2377440" cy="502920"/>
          </a:xfrm>
          <a:prstGeom prst="rect">
            <a:avLst/>
          </a:prstGeom>
          <a:noFill/>
          <a:ln/>
        </p:spPr>
        <p:txBody>
          <a:bodyPr wrap="square" lIns="0" tIns="0" rIns="0" bIns="0" rtlCol="0" anchor="ctr"/>
          <a:lstStyle/>
          <a:p>
            <a:pPr marL="0" indent="0">
              <a:buNone/>
            </a:pPr>
            <a:r>
              <a:rPr lang="en-US" sz="2600" b="1" dirty="0">
                <a:solidFill>
                  <a:srgbClr val="B85042"/>
                </a:solidFill>
                <a:latin typeface="Calibri" pitchFamily="34" charset="0"/>
                <a:ea typeface="Calibri" pitchFamily="34" charset="-122"/>
                <a:cs typeface="Calibri" pitchFamily="34" charset="-120"/>
              </a:rPr>
              <a:t>안정화</a:t>
            </a:r>
            <a:endParaRPr lang="en-US" sz="2600" dirty="0"/>
          </a:p>
        </p:txBody>
      </p:sp>
      <p:sp>
        <p:nvSpPr>
          <p:cNvPr id="14" name="Text 12"/>
          <p:cNvSpPr txBox="1"/>
          <p:nvPr/>
        </p:nvSpPr>
        <p:spPr>
          <a:xfrm>
            <a:off x="640080" y="5303520"/>
            <a:ext cx="2377440" cy="502920"/>
          </a:xfrm>
          <a:prstGeom prst="rect">
            <a:avLst/>
          </a:prstGeom>
          <a:noFill/>
          <a:ln/>
        </p:spPr>
        <p:txBody>
          <a:bodyPr wrap="square" lIns="0" tIns="0" rIns="0" bIns="0" rtlCol="0" anchor="ctr"/>
          <a:lstStyle/>
          <a:p>
            <a:pPr marL="0" indent="0">
              <a:lnSpc>
                <a:spcPct val="115000"/>
              </a:lnSpc>
              <a:buNone/>
            </a:pPr>
            <a:r>
              <a:rPr lang="en-US" sz="1200" dirty="0">
                <a:solidFill>
                  <a:srgbClr val="6E6E6E"/>
                </a:solidFill>
                <a:latin typeface="Calibri" pitchFamily="34" charset="0"/>
                <a:ea typeface="Calibri" pitchFamily="34" charset="-122"/>
                <a:cs typeface="Calibri" pitchFamily="34" charset="-120"/>
              </a:rPr>
              <a:t>끝까지 플레이할</a:t>
            </a:r>
            <a:endParaRPr lang="en-US" sz="1200" dirty="0"/>
          </a:p>
          <a:p>
            <a:pPr marL="0" indent="0">
              <a:lnSpc>
                <a:spcPct val="115000"/>
              </a:lnSpc>
              <a:buNone/>
            </a:pPr>
            <a:r>
              <a:rPr lang="en-US" sz="1200" dirty="0">
                <a:solidFill>
                  <a:srgbClr val="6E6E6E"/>
                </a:solidFill>
                <a:latin typeface="Calibri" pitchFamily="34" charset="0"/>
                <a:ea typeface="Calibri" pitchFamily="34" charset="-122"/>
                <a:cs typeface="Calibri" pitchFamily="34" charset="-120"/>
              </a:rPr>
              <a:t>수 있게</a:t>
            </a:r>
            <a:endParaRPr lang="en-US" sz="1200" dirty="0"/>
          </a:p>
        </p:txBody>
      </p:sp>
      <p:sp>
        <p:nvSpPr>
          <p:cNvPr id="15" name="Text 13"/>
          <p:cNvSpPr txBox="1"/>
          <p:nvPr/>
        </p:nvSpPr>
        <p:spPr>
          <a:xfrm>
            <a:off x="3429000" y="4837176"/>
            <a:ext cx="8119872" cy="914400"/>
          </a:xfrm>
          <a:prstGeom prst="rect">
            <a:avLst/>
          </a:prstGeom>
          <a:noFill/>
          <a:ln/>
        </p:spPr>
        <p:txBody>
          <a:bodyPr wrap="square" lIns="0" tIns="0" rIns="0" bIns="0" rtlCol="0" anchor="t"/>
          <a:lstStyle/>
          <a:p>
            <a:pPr marL="0" indent="0">
              <a:lnSpc>
                <a:spcPct val="130000"/>
              </a:lnSpc>
              <a:buNone/>
            </a:pPr>
            <a:r>
              <a:rPr lang="en-US" sz="1500" dirty="0">
                <a:solidFill>
                  <a:srgbClr val="1A1A1A"/>
                </a:solidFill>
                <a:latin typeface="Calibri" pitchFamily="34" charset="0"/>
                <a:ea typeface="Calibri" pitchFamily="34" charset="-122"/>
                <a:cs typeface="Calibri" pitchFamily="34" charset="-120"/>
              </a:rPr>
              <a:t>세이브 / 로드 파이프라인 · 설정과 키 리바인딩 · 사운드 통합 · 오브젝트 풀링</a:t>
            </a:r>
            <a:endParaRPr lang="en-US" sz="1500" dirty="0"/>
          </a:p>
        </p:txBody>
      </p:sp>
      <p:sp>
        <p:nvSpPr>
          <p:cNvPr id="16" name="Text 14"/>
          <p:cNvSpPr txBox="1"/>
          <p:nvPr/>
        </p:nvSpPr>
        <p:spPr>
          <a:xfrm>
            <a:off x="640080" y="6355080"/>
            <a:ext cx="5486400" cy="256032"/>
          </a:xfrm>
          <a:prstGeom prst="rect">
            <a:avLst/>
          </a:prstGeom>
          <a:noFill/>
          <a:ln/>
        </p:spPr>
        <p:txBody>
          <a:bodyPr wrap="square" lIns="0" tIns="0" rIns="0" bIns="0" rtlCol="0" anchor="ctr"/>
          <a:lstStyle/>
          <a:p>
            <a:pPr marL="0" indent="0">
              <a:buNone/>
            </a:pPr>
            <a:r>
              <a:rPr lang="en-US" sz="900" dirty="0">
                <a:solidFill>
                  <a:srgbClr val="6E6E6E"/>
                </a:solidFill>
                <a:latin typeface="Calibri" pitchFamily="34" charset="0"/>
                <a:ea typeface="Calibri" pitchFamily="34" charset="-122"/>
                <a:cs typeface="Calibri" pitchFamily="34" charset="-120"/>
              </a:rPr>
              <a:t>수성록 (Tower and Dragons) · 최종 결과 보고</a:t>
            </a:r>
            <a:endParaRPr lang="en-US" sz="900" dirty="0"/>
          </a:p>
        </p:txBody>
      </p:sp>
      <p:sp>
        <p:nvSpPr>
          <p:cNvPr id="17" name="Text 15"/>
          <p:cNvSpPr txBox="1"/>
          <p:nvPr/>
        </p:nvSpPr>
        <p:spPr>
          <a:xfrm>
            <a:off x="6062472" y="6355080"/>
            <a:ext cx="5486400" cy="256032"/>
          </a:xfrm>
          <a:prstGeom prst="rect">
            <a:avLst/>
          </a:prstGeom>
          <a:noFill/>
          <a:ln/>
        </p:spPr>
        <p:txBody>
          <a:bodyPr wrap="square" lIns="0" tIns="0" rIns="0" bIns="0" rtlCol="0" anchor="ctr"/>
          <a:lstStyle/>
          <a:p>
            <a:pPr marL="0" indent="0" algn="r">
              <a:buNone/>
            </a:pPr>
            <a:r>
              <a:rPr lang="en-US" sz="900" dirty="0">
                <a:solidFill>
                  <a:srgbClr val="6E6E6E"/>
                </a:solidFill>
                <a:latin typeface="Calibri" pitchFamily="34" charset="0"/>
                <a:ea typeface="Calibri" pitchFamily="34" charset="-122"/>
                <a:cs typeface="Calibri" pitchFamily="34" charset="-120"/>
              </a:rPr>
              <a:t>04 — 수행 경과</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47472"/>
            <a:ext cx="10908792" cy="256032"/>
          </a:xfrm>
          <a:prstGeom prst="rect">
            <a:avLst/>
          </a:prstGeom>
          <a:noFill/>
          <a:ln/>
        </p:spPr>
        <p:txBody>
          <a:bodyPr wrap="square" lIns="0" tIns="0" rIns="0" bIns="0" rtlCol="0" anchor="ctr"/>
          <a:lstStyle/>
          <a:p>
            <a:pPr marL="0" indent="0">
              <a:buNone/>
            </a:pPr>
            <a:r>
              <a:rPr lang="en-US" sz="1100" b="1" dirty="0">
                <a:solidFill>
                  <a:srgbClr val="B85042"/>
                </a:solidFill>
                <a:latin typeface="Calibri" pitchFamily="34" charset="0"/>
                <a:ea typeface="Calibri" pitchFamily="34" charset="-122"/>
                <a:cs typeface="Calibri" pitchFamily="34" charset="-120"/>
              </a:rPr>
              <a:t>04</a:t>
            </a:r>
            <a:r>
              <a:rPr lang="en-US" sz="1100" dirty="0">
                <a:solidFill>
                  <a:srgbClr val="6E6E6E"/>
                </a:solidFill>
                <a:latin typeface="Calibri" pitchFamily="34" charset="0"/>
                <a:ea typeface="Calibri" pitchFamily="34" charset="-122"/>
                <a:cs typeface="Calibri" pitchFamily="34" charset="-120"/>
              </a:rPr>
              <a:t>   수행 경과</a:t>
            </a:r>
            <a:endParaRPr lang="en-US" sz="1100" dirty="0"/>
          </a:p>
        </p:txBody>
      </p:sp>
      <p:sp>
        <p:nvSpPr>
          <p:cNvPr id="3" name="Text 1"/>
          <p:cNvSpPr txBox="1"/>
          <p:nvPr/>
        </p:nvSpPr>
        <p:spPr>
          <a:xfrm>
            <a:off x="640080" y="621792"/>
            <a:ext cx="10908792" cy="640080"/>
          </a:xfrm>
          <a:prstGeom prst="rect">
            <a:avLst/>
          </a:prstGeom>
          <a:noFill/>
          <a:ln/>
        </p:spPr>
        <p:txBody>
          <a:bodyPr wrap="square" lIns="0" tIns="0" rIns="0" bIns="0" rtlCol="0" anchor="t"/>
          <a:lstStyle/>
          <a:p>
            <a:pPr marL="0" indent="0">
              <a:buNone/>
            </a:pPr>
            <a:r>
              <a:rPr lang="en-US" sz="3000" b="1" dirty="0">
                <a:solidFill>
                  <a:srgbClr val="1A1A1A"/>
                </a:solidFill>
                <a:latin typeface="Calibri" pitchFamily="34" charset="0"/>
                <a:ea typeface="Calibri" pitchFamily="34" charset="-122"/>
                <a:cs typeface="Calibri" pitchFamily="34" charset="-120"/>
              </a:rPr>
              <a:t>시연 영상</a:t>
            </a:r>
            <a:endParaRPr lang="en-US" sz="3000" dirty="0"/>
          </a:p>
        </p:txBody>
      </p:sp>
      <p:sp>
        <p:nvSpPr>
          <p:cNvPr id="4" name="Text 2"/>
          <p:cNvSpPr txBox="1"/>
          <p:nvPr/>
        </p:nvSpPr>
        <p:spPr>
          <a:xfrm>
            <a:off x="640080" y="1280160"/>
            <a:ext cx="10908792" cy="292608"/>
          </a:xfrm>
          <a:prstGeom prst="rect">
            <a:avLst/>
          </a:prstGeom>
          <a:noFill/>
          <a:ln/>
        </p:spPr>
        <p:txBody>
          <a:bodyPr wrap="square" lIns="0" tIns="0" rIns="0" bIns="0" rtlCol="0" anchor="ctr"/>
          <a:lstStyle/>
          <a:p>
            <a:pPr marL="0" indent="0">
              <a:buNone/>
            </a:pPr>
            <a:r>
              <a:rPr lang="en-US" sz="1300" dirty="0">
                <a:solidFill>
                  <a:srgbClr val="6E6E6E"/>
                </a:solidFill>
                <a:latin typeface="Calibri" pitchFamily="34" charset="0"/>
                <a:ea typeface="Calibri" pitchFamily="34" charset="-122"/>
                <a:cs typeface="Calibri" pitchFamily="34" charset="-120"/>
              </a:rPr>
              <a:t>DEMO</a:t>
            </a:r>
            <a:endParaRPr lang="en-US" sz="1300" dirty="0"/>
          </a:p>
        </p:txBody>
      </p:sp>
      <p:sp>
        <p:nvSpPr>
          <p:cNvPr id="5" name="Text 3"/>
          <p:cNvSpPr txBox="1"/>
          <p:nvPr/>
        </p:nvSpPr>
        <p:spPr>
          <a:xfrm>
            <a:off x="640080" y="2194560"/>
            <a:ext cx="10908792" cy="2743200"/>
          </a:xfrm>
          <a:prstGeom prst="rect">
            <a:avLst/>
          </a:prstGeom>
          <a:noFill/>
          <a:ln w="12700">
            <a:solidFill>
              <a:srgbClr val="D8D8D8"/>
            </a:solidFill>
            <a:prstDash val="dash"/>
          </a:ln>
        </p:spPr>
        <p:txBody>
          <a:bodyPr wrap="square" rtlCol="0" anchor="ctr"/>
          <a:lstStyle/>
          <a:p>
            <a:pPr marL="0" indent="0" algn="ctr">
              <a:buNone/>
            </a:pPr>
            <a:r>
              <a:rPr lang="en-US" sz="2000" b="1" dirty="0">
                <a:solidFill>
                  <a:srgbClr val="6E6E6E"/>
                </a:solidFill>
                <a:latin typeface="Calibri" pitchFamily="34" charset="0"/>
                <a:ea typeface="Calibri" pitchFamily="34" charset="-122"/>
                <a:cs typeface="Calibri" pitchFamily="34" charset="-120"/>
              </a:rPr>
              <a:t>[ 시연 영상 삽입 영역 ]</a:t>
            </a:r>
            <a:endParaRPr lang="en-US" sz="2000" dirty="0"/>
          </a:p>
        </p:txBody>
      </p:sp>
      <p:sp>
        <p:nvSpPr>
          <p:cNvPr id="6" name="Text 4"/>
          <p:cNvSpPr txBox="1"/>
          <p:nvPr/>
        </p:nvSpPr>
        <p:spPr>
          <a:xfrm>
            <a:off x="640080" y="5212080"/>
            <a:ext cx="10908792" cy="256032"/>
          </a:xfrm>
          <a:prstGeom prst="rect">
            <a:avLst/>
          </a:prstGeom>
          <a:noFill/>
          <a:ln/>
        </p:spPr>
        <p:txBody>
          <a:bodyPr wrap="square" lIns="0" tIns="0" rIns="0" bIns="0" rtlCol="0" anchor="ctr"/>
          <a:lstStyle/>
          <a:p>
            <a:pPr marL="0" indent="0">
              <a:buNone/>
            </a:pPr>
            <a:r>
              <a:rPr lang="en-US" sz="1150" b="1" dirty="0">
                <a:solidFill>
                  <a:srgbClr val="B85042"/>
                </a:solidFill>
                <a:latin typeface="Calibri" pitchFamily="34" charset="0"/>
                <a:ea typeface="Calibri" pitchFamily="34" charset="-122"/>
                <a:cs typeface="Calibri" pitchFamily="34" charset="-120"/>
              </a:rPr>
              <a:t>시연 구성안 (제출 요건: 5~10분 / 100MB 이하 / 기능별 소개 음성 포함)</a:t>
            </a:r>
            <a:endParaRPr lang="en-US" sz="1150" dirty="0"/>
          </a:p>
        </p:txBody>
      </p:sp>
      <p:sp>
        <p:nvSpPr>
          <p:cNvPr id="7" name="Text 5"/>
          <p:cNvSpPr txBox="1"/>
          <p:nvPr/>
        </p:nvSpPr>
        <p:spPr>
          <a:xfrm>
            <a:off x="640080" y="5522976"/>
            <a:ext cx="10908792" cy="914400"/>
          </a:xfrm>
          <a:prstGeom prst="rect">
            <a:avLst/>
          </a:prstGeom>
          <a:noFill/>
          <a:ln/>
        </p:spPr>
        <p:txBody>
          <a:bodyPr wrap="square" lIns="0" tIns="0" rIns="0" bIns="0" rtlCol="0" anchor="t"/>
          <a:lstStyle/>
          <a:p>
            <a:pPr marL="0" indent="0">
              <a:spcAft>
                <a:spcPts val="600"/>
              </a:spcAft>
              <a:buNone/>
            </a:pPr>
            <a:r>
              <a:rPr lang="en-US" sz="1250" dirty="0">
                <a:solidFill>
                  <a:srgbClr val="1A1A1A"/>
                </a:solidFill>
                <a:latin typeface="Calibri" pitchFamily="34" charset="0"/>
                <a:ea typeface="Calibri" pitchFamily="34" charset="-122"/>
                <a:cs typeface="Calibri" pitchFamily="34" charset="-120"/>
              </a:rPr>
              <a:t>① 낮 운영 — 건설 · 인구 배치 · 연구  →  ② 밤 방어 — 웨이브 대응 및 타워 비활성화</a:t>
            </a:r>
            <a:endParaRPr lang="en-US" sz="1250" dirty="0"/>
          </a:p>
          <a:p>
            <a:pPr marL="0" indent="0">
              <a:spcAft>
                <a:spcPts val="600"/>
              </a:spcAft>
              <a:buNone/>
            </a:pPr>
            <a:r>
              <a:rPr lang="en-US" sz="1250" dirty="0">
                <a:solidFill>
                  <a:srgbClr val="1A1A1A"/>
                </a:solidFill>
                <a:latin typeface="Calibri" pitchFamily="34" charset="0"/>
                <a:ea typeface="Calibri" pitchFamily="34" charset="-122"/>
                <a:cs typeface="Calibri" pitchFamily="34" charset="-120"/>
              </a:rPr>
              <a:t>③ 점령 원정과 영토 확장  →  ④ 용 속성 변경 및 궁극기  →  ⑤ 보스 웨이브  →  ⑥ 승리 조건 달성</a:t>
            </a:r>
            <a:endParaRPr lang="en-US" sz="1250" dirty="0"/>
          </a:p>
        </p:txBody>
      </p:sp>
      <p:sp>
        <p:nvSpPr>
          <p:cNvPr id="8" name="Text 6"/>
          <p:cNvSpPr txBox="1"/>
          <p:nvPr/>
        </p:nvSpPr>
        <p:spPr>
          <a:xfrm>
            <a:off x="640080" y="6355080"/>
            <a:ext cx="5486400" cy="256032"/>
          </a:xfrm>
          <a:prstGeom prst="rect">
            <a:avLst/>
          </a:prstGeom>
          <a:noFill/>
          <a:ln/>
        </p:spPr>
        <p:txBody>
          <a:bodyPr wrap="square" lIns="0" tIns="0" rIns="0" bIns="0" rtlCol="0" anchor="ctr"/>
          <a:lstStyle/>
          <a:p>
            <a:pPr marL="0" indent="0">
              <a:buNone/>
            </a:pPr>
            <a:r>
              <a:rPr lang="en-US" sz="900" dirty="0">
                <a:solidFill>
                  <a:srgbClr val="6E6E6E"/>
                </a:solidFill>
                <a:latin typeface="Calibri" pitchFamily="34" charset="0"/>
                <a:ea typeface="Calibri" pitchFamily="34" charset="-122"/>
                <a:cs typeface="Calibri" pitchFamily="34" charset="-120"/>
              </a:rPr>
              <a:t>수성록 (Tower and Dragons) · 최종 결과 보고</a:t>
            </a:r>
            <a:endParaRPr lang="en-US" sz="900" dirty="0"/>
          </a:p>
        </p:txBody>
      </p:sp>
      <p:sp>
        <p:nvSpPr>
          <p:cNvPr id="9" name="Text 7"/>
          <p:cNvSpPr txBox="1"/>
          <p:nvPr/>
        </p:nvSpPr>
        <p:spPr>
          <a:xfrm>
            <a:off x="6062472" y="6355080"/>
            <a:ext cx="5486400" cy="256032"/>
          </a:xfrm>
          <a:prstGeom prst="rect">
            <a:avLst/>
          </a:prstGeom>
          <a:noFill/>
          <a:ln/>
        </p:spPr>
        <p:txBody>
          <a:bodyPr wrap="square" lIns="0" tIns="0" rIns="0" bIns="0" rtlCol="0" anchor="ctr"/>
          <a:lstStyle/>
          <a:p>
            <a:pPr marL="0" indent="0" algn="r">
              <a:buNone/>
            </a:pPr>
            <a:r>
              <a:rPr lang="en-US" sz="900" dirty="0">
                <a:solidFill>
                  <a:srgbClr val="6E6E6E"/>
                </a:solidFill>
                <a:latin typeface="Calibri" pitchFamily="34" charset="0"/>
                <a:ea typeface="Calibri" pitchFamily="34" charset="-122"/>
                <a:cs typeface="Calibri" pitchFamily="34" charset="-120"/>
              </a:rPr>
              <a:t>04 — 수행 경과</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47472"/>
            <a:ext cx="10908792" cy="256032"/>
          </a:xfrm>
          <a:prstGeom prst="rect">
            <a:avLst/>
          </a:prstGeom>
          <a:noFill/>
          <a:ln/>
        </p:spPr>
        <p:txBody>
          <a:bodyPr wrap="square" lIns="0" tIns="0" rIns="0" bIns="0" rtlCol="0" anchor="ctr"/>
          <a:lstStyle/>
          <a:p>
            <a:pPr marL="0" indent="0">
              <a:buNone/>
            </a:pPr>
            <a:r>
              <a:rPr lang="en-US" sz="1100" b="1" dirty="0">
                <a:solidFill>
                  <a:srgbClr val="B85042"/>
                </a:solidFill>
                <a:latin typeface="Calibri" pitchFamily="34" charset="0"/>
                <a:ea typeface="Calibri" pitchFamily="34" charset="-122"/>
                <a:cs typeface="Calibri" pitchFamily="34" charset="-120"/>
              </a:rPr>
              <a:t>05</a:t>
            </a:r>
            <a:r>
              <a:rPr lang="en-US" sz="1100" dirty="0">
                <a:solidFill>
                  <a:srgbClr val="6E6E6E"/>
                </a:solidFill>
                <a:latin typeface="Calibri" pitchFamily="34" charset="0"/>
                <a:ea typeface="Calibri" pitchFamily="34" charset="-122"/>
                <a:cs typeface="Calibri" pitchFamily="34" charset="-120"/>
              </a:rPr>
              <a:t>   자체 평가 의견</a:t>
            </a:r>
            <a:endParaRPr lang="en-US" sz="1100" dirty="0"/>
          </a:p>
        </p:txBody>
      </p:sp>
      <p:sp>
        <p:nvSpPr>
          <p:cNvPr id="3" name="Text 1"/>
          <p:cNvSpPr txBox="1"/>
          <p:nvPr/>
        </p:nvSpPr>
        <p:spPr>
          <a:xfrm>
            <a:off x="640080" y="621792"/>
            <a:ext cx="10908792" cy="640080"/>
          </a:xfrm>
          <a:prstGeom prst="rect">
            <a:avLst/>
          </a:prstGeom>
          <a:noFill/>
          <a:ln/>
        </p:spPr>
        <p:txBody>
          <a:bodyPr wrap="square" lIns="0" tIns="0" rIns="0" bIns="0" rtlCol="0" anchor="t"/>
          <a:lstStyle/>
          <a:p>
            <a:pPr marL="0" indent="0">
              <a:buNone/>
            </a:pPr>
            <a:r>
              <a:rPr lang="en-US" sz="3000" b="1" dirty="0">
                <a:solidFill>
                  <a:srgbClr val="1A1A1A"/>
                </a:solidFill>
                <a:latin typeface="Calibri" pitchFamily="34" charset="0"/>
                <a:ea typeface="Calibri" pitchFamily="34" charset="-122"/>
                <a:cs typeface="Calibri" pitchFamily="34" charset="-120"/>
              </a:rPr>
              <a:t>완성도 평가</a:t>
            </a:r>
            <a:endParaRPr lang="en-US" sz="3000" dirty="0"/>
          </a:p>
        </p:txBody>
      </p:sp>
      <p:sp>
        <p:nvSpPr>
          <p:cNvPr id="4" name="Text 2"/>
          <p:cNvSpPr txBox="1"/>
          <p:nvPr/>
        </p:nvSpPr>
        <p:spPr>
          <a:xfrm>
            <a:off x="640080" y="2103120"/>
            <a:ext cx="3840480" cy="274320"/>
          </a:xfrm>
          <a:prstGeom prst="rect">
            <a:avLst/>
          </a:prstGeom>
          <a:noFill/>
          <a:ln/>
        </p:spPr>
        <p:txBody>
          <a:bodyPr wrap="square" lIns="0" tIns="0" rIns="0" bIns="0" rtlCol="0" anchor="ctr"/>
          <a:lstStyle/>
          <a:p>
            <a:pPr marL="0" indent="0" algn="ctr">
              <a:buNone/>
            </a:pPr>
            <a:r>
              <a:rPr lang="en-US" sz="1200" dirty="0">
                <a:solidFill>
                  <a:srgbClr val="6E6E6E"/>
                </a:solidFill>
                <a:latin typeface="Calibri" pitchFamily="34" charset="0"/>
                <a:ea typeface="Calibri" pitchFamily="34" charset="-122"/>
                <a:cs typeface="Calibri" pitchFamily="34" charset="-120"/>
              </a:rPr>
              <a:t>완성도 점수</a:t>
            </a:r>
            <a:endParaRPr lang="en-US" sz="1200" dirty="0"/>
          </a:p>
        </p:txBody>
      </p:sp>
      <p:sp>
        <p:nvSpPr>
          <p:cNvPr id="5" name="Text 3"/>
          <p:cNvSpPr txBox="1"/>
          <p:nvPr/>
        </p:nvSpPr>
        <p:spPr>
          <a:xfrm>
            <a:off x="640080" y="2423160"/>
            <a:ext cx="3840480" cy="1005840"/>
          </a:xfrm>
          <a:prstGeom prst="rect">
            <a:avLst/>
          </a:prstGeom>
          <a:noFill/>
          <a:ln/>
        </p:spPr>
        <p:txBody>
          <a:bodyPr wrap="square" lIns="0" tIns="0" rIns="0" bIns="0" rtlCol="0" anchor="ctr"/>
          <a:lstStyle/>
          <a:p>
            <a:pPr marL="0" indent="0" algn="ctr">
              <a:buNone/>
            </a:pPr>
            <a:r>
              <a:rPr lang="en-US" sz="6000" b="1" dirty="0">
                <a:solidFill>
                  <a:srgbClr val="B85042"/>
                </a:solidFill>
                <a:latin typeface="Calibri" pitchFamily="34" charset="0"/>
                <a:ea typeface="Calibri" pitchFamily="34" charset="-122"/>
                <a:cs typeface="Calibri" pitchFamily="34" charset="-120"/>
              </a:rPr>
              <a:t>8.5</a:t>
            </a:r>
            <a:r>
              <a:rPr lang="en-US" sz="2600" b="1" dirty="0">
                <a:solidFill>
                  <a:srgbClr val="6E6E6E"/>
                </a:solidFill>
                <a:latin typeface="Calibri" pitchFamily="34" charset="0"/>
                <a:ea typeface="Calibri" pitchFamily="34" charset="-122"/>
                <a:cs typeface="Calibri" pitchFamily="34" charset="-120"/>
              </a:rPr>
              <a:t> / 10</a:t>
            </a:r>
            <a:endParaRPr lang="en-US" sz="6000" dirty="0"/>
          </a:p>
        </p:txBody>
      </p:sp>
      <p:sp>
        <p:nvSpPr>
          <p:cNvPr id="6" name="Text 4"/>
          <p:cNvSpPr txBox="1"/>
          <p:nvPr/>
        </p:nvSpPr>
        <p:spPr>
          <a:xfrm>
            <a:off x="640080" y="3566160"/>
            <a:ext cx="3840480" cy="1463040"/>
          </a:xfrm>
          <a:prstGeom prst="rect">
            <a:avLst/>
          </a:prstGeom>
          <a:noFill/>
          <a:ln w="12700">
            <a:solidFill>
              <a:srgbClr val="D8D8D8"/>
            </a:solidFill>
            <a:prstDash val="dash"/>
          </a:ln>
        </p:spPr>
        <p:txBody>
          <a:bodyPr wrap="square" lIns="0" tIns="0" rIns="0" bIns="0" rtlCol="0" anchor="t"/>
          <a:lstStyle/>
          <a:p>
            <a:pPr marL="0" indent="0">
              <a:buNone/>
            </a:pPr>
            <a:r>
              <a:rPr lang="en-US" sz="1250" b="1" dirty="0">
                <a:solidFill>
                  <a:srgbClr val="B85042"/>
                </a:solidFill>
                <a:latin typeface="Calibri" pitchFamily="34" charset="0"/>
                <a:ea typeface="Calibri" pitchFamily="34" charset="-122"/>
                <a:cs typeface="Calibri" pitchFamily="34" charset="-120"/>
              </a:rPr>
              <a:t>근거  </a:t>
            </a:r>
            <a:r>
              <a:rPr lang="en-US" sz="1250" dirty="0">
                <a:solidFill>
                  <a:srgbClr val="1A1A1A"/>
                </a:solidFill>
                <a:latin typeface="Calibri" pitchFamily="34" charset="0"/>
                <a:ea typeface="Calibri" pitchFamily="34" charset="-122"/>
                <a:cs typeface="Calibri" pitchFamily="34" charset="-120"/>
              </a:rPr>
              <a:t>낮/밤 루프, 인구 배분, 타워 · 전투, 점령, 용, 연구, 세이브/로드까지 핵심 시스템이 모두 연결되어 28일 1회차 완주와 두 가지 승리 경로 도달이 실제로 가능한 상태.</a:t>
            </a:r>
            <a:endParaRPr lang="en-US" sz="1250" dirty="0"/>
          </a:p>
        </p:txBody>
      </p:sp>
      <p:sp>
        <p:nvSpPr>
          <p:cNvPr id="7" name="Text 5"/>
          <p:cNvSpPr txBox="1"/>
          <p:nvPr/>
        </p:nvSpPr>
        <p:spPr>
          <a:xfrm>
            <a:off x="4937760" y="2103120"/>
            <a:ext cx="6611112" cy="256032"/>
          </a:xfrm>
          <a:prstGeom prst="rect">
            <a:avLst/>
          </a:prstGeom>
          <a:noFill/>
          <a:ln/>
        </p:spPr>
        <p:txBody>
          <a:bodyPr wrap="square" lIns="0" tIns="0" rIns="0" bIns="0" rtlCol="0" anchor="ctr"/>
          <a:lstStyle/>
          <a:p>
            <a:pPr marL="0" indent="0">
              <a:buNone/>
            </a:pPr>
            <a:r>
              <a:rPr lang="en-US" sz="1150" b="1" dirty="0">
                <a:solidFill>
                  <a:srgbClr val="B85042"/>
                </a:solidFill>
                <a:latin typeface="Calibri" pitchFamily="34" charset="0"/>
                <a:ea typeface="Calibri" pitchFamily="34" charset="-122"/>
                <a:cs typeface="Calibri" pitchFamily="34" charset="-120"/>
              </a:rPr>
              <a:t>기획 의도 부합도</a:t>
            </a:r>
            <a:endParaRPr lang="en-US" sz="1150" dirty="0"/>
          </a:p>
        </p:txBody>
      </p:sp>
      <p:sp>
        <p:nvSpPr>
          <p:cNvPr id="8" name="Text 6"/>
          <p:cNvSpPr txBox="1"/>
          <p:nvPr/>
        </p:nvSpPr>
        <p:spPr>
          <a:xfrm>
            <a:off x="4937760" y="2414016"/>
            <a:ext cx="6611112" cy="777240"/>
          </a:xfrm>
          <a:prstGeom prst="rect">
            <a:avLst/>
          </a:prstGeom>
          <a:noFill/>
          <a:ln/>
        </p:spPr>
        <p:txBody>
          <a:bodyPr wrap="square" lIns="0" tIns="0" rIns="0" bIns="0" rtlCol="0" anchor="t"/>
          <a:lstStyle/>
          <a:p>
            <a:pPr marL="0" indent="0">
              <a:spcAft>
                <a:spcPts val="600"/>
              </a:spcAft>
              <a:buNone/>
            </a:pPr>
            <a:r>
              <a:rPr lang="en-US" sz="1250" dirty="0">
                <a:solidFill>
                  <a:srgbClr val="1A1A1A"/>
                </a:solidFill>
                <a:latin typeface="Calibri" pitchFamily="34" charset="0"/>
                <a:ea typeface="Calibri" pitchFamily="34" charset="-122"/>
                <a:cs typeface="Calibri" pitchFamily="34" charset="-120"/>
              </a:rPr>
              <a:t>"낮의 선택이 밤의 생존을 결정한다"는 컨셉이 인구 배분 · 타워 충원율 · 점령 페널티라는 세 개의 상호 연동 시스템으로 실제 구현됨</a:t>
            </a:r>
            <a:endParaRPr lang="en-US" sz="1250" dirty="0"/>
          </a:p>
        </p:txBody>
      </p:sp>
      <p:sp>
        <p:nvSpPr>
          <p:cNvPr id="9" name="Text 7"/>
          <p:cNvSpPr txBox="1"/>
          <p:nvPr/>
        </p:nvSpPr>
        <p:spPr>
          <a:xfrm>
            <a:off x="4937760" y="3108960"/>
            <a:ext cx="6611112" cy="256032"/>
          </a:xfrm>
          <a:prstGeom prst="rect">
            <a:avLst/>
          </a:prstGeom>
          <a:noFill/>
          <a:ln/>
        </p:spPr>
        <p:txBody>
          <a:bodyPr wrap="square" lIns="0" tIns="0" rIns="0" bIns="0" rtlCol="0" anchor="ctr"/>
          <a:lstStyle/>
          <a:p>
            <a:pPr marL="0" indent="0">
              <a:buNone/>
            </a:pPr>
            <a:r>
              <a:rPr lang="en-US" sz="1150" b="1" dirty="0">
                <a:solidFill>
                  <a:srgbClr val="B85042"/>
                </a:solidFill>
                <a:latin typeface="Calibri" pitchFamily="34" charset="0"/>
                <a:ea typeface="Calibri" pitchFamily="34" charset="-122"/>
                <a:cs typeface="Calibri" pitchFamily="34" charset="-120"/>
              </a:rPr>
              <a:t>실무 활용 가능성</a:t>
            </a:r>
            <a:endParaRPr lang="en-US" sz="1150" dirty="0"/>
          </a:p>
        </p:txBody>
      </p:sp>
      <p:sp>
        <p:nvSpPr>
          <p:cNvPr id="10" name="Text 8"/>
          <p:cNvSpPr txBox="1"/>
          <p:nvPr/>
        </p:nvSpPr>
        <p:spPr>
          <a:xfrm>
            <a:off x="4937760" y="3419856"/>
            <a:ext cx="6611112" cy="777240"/>
          </a:xfrm>
          <a:prstGeom prst="rect">
            <a:avLst/>
          </a:prstGeom>
          <a:noFill/>
          <a:ln/>
        </p:spPr>
        <p:txBody>
          <a:bodyPr wrap="square" lIns="0" tIns="0" rIns="0" bIns="0" rtlCol="0" anchor="t"/>
          <a:lstStyle/>
          <a:p>
            <a:pPr marL="0" indent="0">
              <a:spcAft>
                <a:spcPts val="600"/>
              </a:spcAft>
              <a:buNone/>
            </a:pPr>
            <a:r>
              <a:rPr lang="en-US" sz="1250" dirty="0">
                <a:solidFill>
                  <a:srgbClr val="1A1A1A"/>
                </a:solidFill>
                <a:latin typeface="Calibri" pitchFamily="34" charset="0"/>
                <a:ea typeface="Calibri" pitchFamily="34" charset="-122"/>
                <a:cs typeface="Calibri" pitchFamily="34" charset="-120"/>
              </a:rPr>
              <a:t>모든 밸런스 수치가 데이터 에셋으로 분리되어 있어 코드 수정 없이 콘텐츠 추가 · 수치 조정 · 신규 속성 확장이 가능한 구조</a:t>
            </a:r>
            <a:endParaRPr lang="en-US" sz="1250" dirty="0"/>
          </a:p>
        </p:txBody>
      </p:sp>
      <p:sp>
        <p:nvSpPr>
          <p:cNvPr id="11" name="Text 9"/>
          <p:cNvSpPr txBox="1"/>
          <p:nvPr/>
        </p:nvSpPr>
        <p:spPr>
          <a:xfrm>
            <a:off x="4937760" y="4114800"/>
            <a:ext cx="6611112" cy="256032"/>
          </a:xfrm>
          <a:prstGeom prst="rect">
            <a:avLst/>
          </a:prstGeom>
          <a:noFill/>
          <a:ln/>
        </p:spPr>
        <p:txBody>
          <a:bodyPr wrap="square" lIns="0" tIns="0" rIns="0" bIns="0" rtlCol="0" anchor="ctr"/>
          <a:lstStyle/>
          <a:p>
            <a:pPr marL="0" indent="0">
              <a:buNone/>
            </a:pPr>
            <a:r>
              <a:rPr lang="en-US" sz="1150" b="1" dirty="0">
                <a:solidFill>
                  <a:srgbClr val="B85042"/>
                </a:solidFill>
                <a:latin typeface="Calibri" pitchFamily="34" charset="0"/>
                <a:ea typeface="Calibri" pitchFamily="34" charset="-122"/>
                <a:cs typeface="Calibri" pitchFamily="34" charset="-120"/>
              </a:rPr>
              <a:t>달성도 · 완성도 종합</a:t>
            </a:r>
            <a:endParaRPr lang="en-US" sz="1150" dirty="0"/>
          </a:p>
        </p:txBody>
      </p:sp>
      <p:sp>
        <p:nvSpPr>
          <p:cNvPr id="12" name="Text 10"/>
          <p:cNvSpPr txBox="1"/>
          <p:nvPr/>
        </p:nvSpPr>
        <p:spPr>
          <a:xfrm>
            <a:off x="4937760" y="4425696"/>
            <a:ext cx="6611112" cy="1097280"/>
          </a:xfrm>
          <a:prstGeom prst="rect">
            <a:avLst/>
          </a:prstGeom>
          <a:noFill/>
          <a:ln/>
        </p:spPr>
        <p:txBody>
          <a:bodyPr wrap="square" lIns="0" tIns="0" rIns="0" bIns="0" rtlCol="0" anchor="t"/>
          <a:lstStyle/>
          <a:p>
            <a:pPr marL="0" indent="0">
              <a:spcAft>
                <a:spcPts val="600"/>
              </a:spcAft>
              <a:buNone/>
            </a:pPr>
            <a:r>
              <a:rPr lang="en-US" sz="1250" dirty="0">
                <a:solidFill>
                  <a:srgbClr val="1A1A1A"/>
                </a:solidFill>
                <a:latin typeface="Calibri" pitchFamily="34" charset="0"/>
                <a:ea typeface="Calibri" pitchFamily="34" charset="-122"/>
                <a:cs typeface="Calibri" pitchFamily="34" charset="-120"/>
              </a:rPr>
              <a:t>목표 기능은 대부분 구현되었고 전체 흐름 확인이 가능한 수준. 다만 연구 노드 10개 미연결, 대공 타워 세이브 예외, 28일 완주 재검증 등 마감 과제가 남아 있어 9점 이상으로 평가하기는 이름</a:t>
            </a:r>
            <a:endParaRPr lang="en-US" sz="1250" dirty="0"/>
          </a:p>
        </p:txBody>
      </p:sp>
      <p:sp>
        <p:nvSpPr>
          <p:cNvPr id="13" name="Text 11"/>
          <p:cNvSpPr txBox="1"/>
          <p:nvPr/>
        </p:nvSpPr>
        <p:spPr>
          <a:xfrm>
            <a:off x="640080" y="6355080"/>
            <a:ext cx="5486400" cy="256032"/>
          </a:xfrm>
          <a:prstGeom prst="rect">
            <a:avLst/>
          </a:prstGeom>
          <a:noFill/>
          <a:ln/>
        </p:spPr>
        <p:txBody>
          <a:bodyPr wrap="square" lIns="0" tIns="0" rIns="0" bIns="0" rtlCol="0" anchor="ctr"/>
          <a:lstStyle/>
          <a:p>
            <a:pPr marL="0" indent="0">
              <a:buNone/>
            </a:pPr>
            <a:r>
              <a:rPr lang="en-US" sz="900" dirty="0">
                <a:solidFill>
                  <a:srgbClr val="6E6E6E"/>
                </a:solidFill>
                <a:latin typeface="Calibri" pitchFamily="34" charset="0"/>
                <a:ea typeface="Calibri" pitchFamily="34" charset="-122"/>
                <a:cs typeface="Calibri" pitchFamily="34" charset="-120"/>
              </a:rPr>
              <a:t>수성록 (Tower and Dragons) · 최종 결과 보고</a:t>
            </a:r>
            <a:endParaRPr lang="en-US" sz="900" dirty="0"/>
          </a:p>
        </p:txBody>
      </p:sp>
      <p:sp>
        <p:nvSpPr>
          <p:cNvPr id="14" name="Text 12"/>
          <p:cNvSpPr txBox="1"/>
          <p:nvPr/>
        </p:nvSpPr>
        <p:spPr>
          <a:xfrm>
            <a:off x="6062472" y="6355080"/>
            <a:ext cx="5486400" cy="256032"/>
          </a:xfrm>
          <a:prstGeom prst="rect">
            <a:avLst/>
          </a:prstGeom>
          <a:noFill/>
          <a:ln/>
        </p:spPr>
        <p:txBody>
          <a:bodyPr wrap="square" lIns="0" tIns="0" rIns="0" bIns="0" rtlCol="0" anchor="ctr"/>
          <a:lstStyle/>
          <a:p>
            <a:pPr marL="0" indent="0" algn="r">
              <a:buNone/>
            </a:pPr>
            <a:r>
              <a:rPr lang="en-US" sz="900" dirty="0">
                <a:solidFill>
                  <a:srgbClr val="6E6E6E"/>
                </a:solidFill>
                <a:latin typeface="Calibri" pitchFamily="34" charset="0"/>
                <a:ea typeface="Calibri" pitchFamily="34" charset="-122"/>
                <a:cs typeface="Calibri" pitchFamily="34" charset="-120"/>
              </a:rPr>
              <a:t>05 — 자체 평가 의견</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47472"/>
            <a:ext cx="10908792" cy="256032"/>
          </a:xfrm>
          <a:prstGeom prst="rect">
            <a:avLst/>
          </a:prstGeom>
          <a:noFill/>
          <a:ln/>
        </p:spPr>
        <p:txBody>
          <a:bodyPr wrap="square" lIns="0" tIns="0" rIns="0" bIns="0" rtlCol="0" anchor="ctr"/>
          <a:lstStyle/>
          <a:p>
            <a:pPr marL="0" indent="0">
              <a:buNone/>
            </a:pPr>
            <a:r>
              <a:rPr lang="en-US" sz="1100" b="1" dirty="0">
                <a:solidFill>
                  <a:srgbClr val="B85042"/>
                </a:solidFill>
                <a:latin typeface="Calibri" pitchFamily="34" charset="0"/>
                <a:ea typeface="Calibri" pitchFamily="34" charset="-122"/>
                <a:cs typeface="Calibri" pitchFamily="34" charset="-120"/>
              </a:rPr>
              <a:t>05</a:t>
            </a:r>
            <a:r>
              <a:rPr lang="en-US" sz="1100" dirty="0">
                <a:solidFill>
                  <a:srgbClr val="6E6E6E"/>
                </a:solidFill>
                <a:latin typeface="Calibri" pitchFamily="34" charset="0"/>
                <a:ea typeface="Calibri" pitchFamily="34" charset="-122"/>
                <a:cs typeface="Calibri" pitchFamily="34" charset="-120"/>
              </a:rPr>
              <a:t>   자체 평가 의견</a:t>
            </a:r>
            <a:endParaRPr lang="en-US" sz="1100" dirty="0"/>
          </a:p>
        </p:txBody>
      </p:sp>
      <p:sp>
        <p:nvSpPr>
          <p:cNvPr id="3" name="Text 1"/>
          <p:cNvSpPr txBox="1"/>
          <p:nvPr/>
        </p:nvSpPr>
        <p:spPr>
          <a:xfrm>
            <a:off x="640080" y="621792"/>
            <a:ext cx="10908792" cy="640080"/>
          </a:xfrm>
          <a:prstGeom prst="rect">
            <a:avLst/>
          </a:prstGeom>
          <a:noFill/>
          <a:ln/>
        </p:spPr>
        <p:txBody>
          <a:bodyPr wrap="square" lIns="0" tIns="0" rIns="0" bIns="0" rtlCol="0" anchor="t"/>
          <a:lstStyle/>
          <a:p>
            <a:pPr marL="0" indent="0">
              <a:buNone/>
            </a:pPr>
            <a:r>
              <a:rPr lang="en-US" sz="3000" b="1" dirty="0">
                <a:solidFill>
                  <a:srgbClr val="1A1A1A"/>
                </a:solidFill>
                <a:latin typeface="Calibri" pitchFamily="34" charset="0"/>
                <a:ea typeface="Calibri" pitchFamily="34" charset="-122"/>
                <a:cs typeface="Calibri" pitchFamily="34" charset="-120"/>
              </a:rPr>
              <a:t>추후 개선점 및 느낀 점</a:t>
            </a:r>
            <a:endParaRPr lang="en-US" sz="3000" dirty="0"/>
          </a:p>
        </p:txBody>
      </p:sp>
      <p:sp>
        <p:nvSpPr>
          <p:cNvPr id="4" name="Text 2"/>
          <p:cNvSpPr txBox="1"/>
          <p:nvPr/>
        </p:nvSpPr>
        <p:spPr>
          <a:xfrm>
            <a:off x="640080" y="1920240"/>
            <a:ext cx="5669280" cy="256032"/>
          </a:xfrm>
          <a:prstGeom prst="rect">
            <a:avLst/>
          </a:prstGeom>
          <a:noFill/>
          <a:ln/>
        </p:spPr>
        <p:txBody>
          <a:bodyPr wrap="square" lIns="0" tIns="0" rIns="0" bIns="0" rtlCol="0" anchor="ctr"/>
          <a:lstStyle/>
          <a:p>
            <a:pPr marL="0" indent="0">
              <a:buNone/>
            </a:pPr>
            <a:r>
              <a:rPr lang="en-US" sz="1150" b="1" dirty="0">
                <a:solidFill>
                  <a:srgbClr val="B85042"/>
                </a:solidFill>
                <a:latin typeface="Calibri" pitchFamily="34" charset="0"/>
                <a:ea typeface="Calibri" pitchFamily="34" charset="-122"/>
                <a:cs typeface="Calibri" pitchFamily="34" charset="-120"/>
              </a:rPr>
              <a:t>추후 개선점 · 보완할 점</a:t>
            </a:r>
            <a:endParaRPr lang="en-US" sz="1150" dirty="0"/>
          </a:p>
        </p:txBody>
      </p:sp>
      <p:sp>
        <p:nvSpPr>
          <p:cNvPr id="5" name="Text 3"/>
          <p:cNvSpPr txBox="1"/>
          <p:nvPr/>
        </p:nvSpPr>
        <p:spPr>
          <a:xfrm>
            <a:off x="640080" y="2231136"/>
            <a:ext cx="5669280" cy="3108960"/>
          </a:xfrm>
          <a:prstGeom prst="rect">
            <a:avLst/>
          </a:prstGeom>
          <a:noFill/>
          <a:ln/>
        </p:spPr>
        <p:txBody>
          <a:bodyPr wrap="square" lIns="0" tIns="0" rIns="0" bIns="0" rtlCol="0" anchor="t"/>
          <a:lstStyle/>
          <a:p>
            <a:pPr marL="0" indent="0">
              <a:spcAft>
                <a:spcPts val="600"/>
              </a:spcAft>
              <a:buNone/>
            </a:pPr>
            <a:r>
              <a:rPr lang="en-US" sz="1250" dirty="0">
                <a:solidFill>
                  <a:srgbClr val="1A1A1A"/>
                </a:solidFill>
                <a:latin typeface="Calibri" pitchFamily="34" charset="0"/>
                <a:ea typeface="Calibri" pitchFamily="34" charset="-122"/>
                <a:cs typeface="Calibri" pitchFamily="34" charset="-120"/>
              </a:rPr>
              <a:t>1. 잔여 공백 마감 — 연구 노드 10개 효과 연결, 대공 타워 세이브 ID 등록, 봉인석 연구 해금 연결</a:t>
            </a:r>
            <a:endParaRPr lang="en-US" sz="1250" dirty="0"/>
          </a:p>
          <a:p>
            <a:pPr marL="0" indent="0">
              <a:spcAft>
                <a:spcPts val="600"/>
              </a:spcAft>
              <a:buNone/>
            </a:pPr>
            <a:r>
              <a:rPr lang="en-US" sz="1250" dirty="0">
                <a:solidFill>
                  <a:srgbClr val="1A1A1A"/>
                </a:solidFill>
                <a:latin typeface="Calibri" pitchFamily="34" charset="0"/>
                <a:ea typeface="Calibri" pitchFamily="34" charset="-122"/>
                <a:cs typeface="Calibri" pitchFamily="34" charset="-120"/>
              </a:rPr>
              <a:t>2. 완주 QA 확대 — 튜토리얼 1~3일차 및 본게임 28일 전 구간 반복 검증</a:t>
            </a:r>
            <a:endParaRPr lang="en-US" sz="1250" dirty="0"/>
          </a:p>
          <a:p>
            <a:pPr marL="0" indent="0">
              <a:spcAft>
                <a:spcPts val="600"/>
              </a:spcAft>
              <a:buNone/>
            </a:pPr>
            <a:r>
              <a:rPr lang="en-US" sz="1250" dirty="0">
                <a:solidFill>
                  <a:srgbClr val="1A1A1A"/>
                </a:solidFill>
                <a:latin typeface="Calibri" pitchFamily="34" charset="0"/>
                <a:ea typeface="Calibri" pitchFamily="34" charset="-122"/>
                <a:cs typeface="Calibri" pitchFamily="34" charset="-120"/>
              </a:rPr>
              <a:t>3. 성능 최적화 범위 확대 — 몬스터 오브젝트 풀링 미적용 구간 처리</a:t>
            </a:r>
            <a:endParaRPr lang="en-US" sz="1250" dirty="0"/>
          </a:p>
          <a:p>
            <a:pPr marL="0" indent="0">
              <a:spcAft>
                <a:spcPts val="600"/>
              </a:spcAft>
              <a:buNone/>
            </a:pPr>
            <a:r>
              <a:rPr lang="en-US" sz="1250" dirty="0">
                <a:solidFill>
                  <a:srgbClr val="1A1A1A"/>
                </a:solidFill>
                <a:latin typeface="Calibri" pitchFamily="34" charset="0"/>
                <a:ea typeface="Calibri" pitchFamily="34" charset="-122"/>
                <a:cs typeface="Calibri" pitchFamily="34" charset="-120"/>
              </a:rPr>
              <a:t>4. 사전 검증 강화 — 구현 전 소형 프로토타입으로 핵심 재미를 먼저 확인</a:t>
            </a:r>
            <a:endParaRPr lang="en-US" sz="1250" dirty="0"/>
          </a:p>
          <a:p>
            <a:pPr marL="0" indent="0">
              <a:spcAft>
                <a:spcPts val="600"/>
              </a:spcAft>
              <a:buNone/>
            </a:pPr>
            <a:r>
              <a:rPr lang="en-US" sz="1250" dirty="0">
                <a:solidFill>
                  <a:srgbClr val="1A1A1A"/>
                </a:solidFill>
                <a:latin typeface="Calibri" pitchFamily="34" charset="0"/>
                <a:ea typeface="Calibri" pitchFamily="34" charset="-122"/>
                <a:cs typeface="Calibri" pitchFamily="34" charset="-120"/>
              </a:rPr>
              <a:t>5. 설계 단계 보완 — 시스템 간 의존 관계를 먼저 확정해 리팩토링 · 통합 비용 절감</a:t>
            </a:r>
            <a:endParaRPr lang="en-US" sz="1250" dirty="0"/>
          </a:p>
        </p:txBody>
      </p:sp>
      <p:sp>
        <p:nvSpPr>
          <p:cNvPr id="6" name="Text 4"/>
          <p:cNvSpPr txBox="1"/>
          <p:nvPr/>
        </p:nvSpPr>
        <p:spPr>
          <a:xfrm>
            <a:off x="6675120" y="1920240"/>
            <a:ext cx="4873752" cy="256032"/>
          </a:xfrm>
          <a:prstGeom prst="rect">
            <a:avLst/>
          </a:prstGeom>
          <a:noFill/>
          <a:ln/>
        </p:spPr>
        <p:txBody>
          <a:bodyPr wrap="square" lIns="0" tIns="0" rIns="0" bIns="0" rtlCol="0" anchor="ctr"/>
          <a:lstStyle/>
          <a:p>
            <a:pPr marL="0" indent="0">
              <a:buNone/>
            </a:pPr>
            <a:r>
              <a:rPr lang="en-US" sz="1150" b="1" dirty="0">
                <a:solidFill>
                  <a:srgbClr val="B85042"/>
                </a:solidFill>
                <a:latin typeface="Calibri" pitchFamily="34" charset="0"/>
                <a:ea typeface="Calibri" pitchFamily="34" charset="-122"/>
                <a:cs typeface="Calibri" pitchFamily="34" charset="-120"/>
              </a:rPr>
              <a:t>느낀 점 · 경험한 성과</a:t>
            </a:r>
            <a:endParaRPr lang="en-US" sz="1150" dirty="0"/>
          </a:p>
        </p:txBody>
      </p:sp>
      <p:sp>
        <p:nvSpPr>
          <p:cNvPr id="7" name="Text 5"/>
          <p:cNvSpPr txBox="1"/>
          <p:nvPr/>
        </p:nvSpPr>
        <p:spPr>
          <a:xfrm>
            <a:off x="6675120" y="2231136"/>
            <a:ext cx="4873752" cy="3108960"/>
          </a:xfrm>
          <a:prstGeom prst="rect">
            <a:avLst/>
          </a:prstGeom>
          <a:noFill/>
          <a:ln/>
        </p:spPr>
        <p:txBody>
          <a:bodyPr wrap="square" lIns="0" tIns="0" rIns="0" bIns="0" rtlCol="0" anchor="t"/>
          <a:lstStyle/>
          <a:p>
            <a:pPr marL="0" indent="0">
              <a:spcAft>
                <a:spcPts val="600"/>
              </a:spcAft>
              <a:buNone/>
            </a:pPr>
            <a:r>
              <a:rPr lang="en-US" sz="1300" dirty="0">
                <a:solidFill>
                  <a:srgbClr val="1A1A1A"/>
                </a:solidFill>
                <a:latin typeface="Calibri" pitchFamily="34" charset="0"/>
                <a:ea typeface="Calibri" pitchFamily="34" charset="-122"/>
                <a:cs typeface="Calibri" pitchFamily="34" charset="-120"/>
              </a:rPr>
              <a:t>"[작성 필요]" — 조강현</a:t>
            </a:r>
            <a:endParaRPr lang="en-US" sz="1300" dirty="0"/>
          </a:p>
          <a:p>
            <a:pPr marL="0" indent="0">
              <a:spcAft>
                <a:spcPts val="600"/>
              </a:spcAft>
              <a:buNone/>
            </a:pPr>
            <a:r>
              <a:rPr lang="en-US" sz="1300" dirty="0">
                <a:solidFill>
                  <a:srgbClr val="1A1A1A"/>
                </a:solidFill>
                <a:latin typeface="Calibri" pitchFamily="34" charset="0"/>
                <a:ea typeface="Calibri" pitchFamily="34" charset="-122"/>
                <a:cs typeface="Calibri" pitchFamily="34" charset="-120"/>
              </a:rPr>
              <a:t>"[작성 필요]" — 김지해</a:t>
            </a:r>
            <a:endParaRPr lang="en-US" sz="1300" dirty="0"/>
          </a:p>
          <a:p>
            <a:pPr marL="0" indent="0">
              <a:spcAft>
                <a:spcPts val="600"/>
              </a:spcAft>
              <a:buNone/>
            </a:pPr>
            <a:r>
              <a:rPr lang="en-US" sz="1300" dirty="0">
                <a:solidFill>
                  <a:srgbClr val="1A1A1A"/>
                </a:solidFill>
                <a:latin typeface="Calibri" pitchFamily="34" charset="0"/>
                <a:ea typeface="Calibri" pitchFamily="34" charset="-122"/>
                <a:cs typeface="Calibri" pitchFamily="34" charset="-120"/>
              </a:rPr>
              <a:t>"[작성 필요]" — 이하늘</a:t>
            </a:r>
            <a:endParaRPr lang="en-US" sz="1300" dirty="0"/>
          </a:p>
          <a:p>
            <a:pPr marL="0" indent="0">
              <a:spcAft>
                <a:spcPts val="600"/>
              </a:spcAft>
              <a:buNone/>
            </a:pPr>
            <a:r>
              <a:rPr lang="en-US" sz="1300" dirty="0">
                <a:solidFill>
                  <a:srgbClr val="1A1A1A"/>
                </a:solidFill>
                <a:latin typeface="Calibri" pitchFamily="34" charset="0"/>
                <a:ea typeface="Calibri" pitchFamily="34" charset="-122"/>
                <a:cs typeface="Calibri" pitchFamily="34" charset="-120"/>
              </a:rPr>
              <a:t>"[작성 필요]" — 나상욱</a:t>
            </a:r>
            <a:endParaRPr lang="en-US" sz="1300" dirty="0"/>
          </a:p>
        </p:txBody>
      </p:sp>
      <p:sp>
        <p:nvSpPr>
          <p:cNvPr id="8" name="Text 6"/>
          <p:cNvSpPr txBox="1"/>
          <p:nvPr/>
        </p:nvSpPr>
        <p:spPr>
          <a:xfrm>
            <a:off x="6675120" y="5212080"/>
            <a:ext cx="4873752" cy="274320"/>
          </a:xfrm>
          <a:prstGeom prst="rect">
            <a:avLst/>
          </a:prstGeom>
          <a:noFill/>
          <a:ln/>
        </p:spPr>
        <p:txBody>
          <a:bodyPr wrap="square" lIns="0" tIns="0" rIns="0" bIns="0" rtlCol="0" anchor="ctr"/>
          <a:lstStyle/>
          <a:p>
            <a:pPr marL="0" indent="0">
              <a:buNone/>
            </a:pPr>
            <a:r>
              <a:rPr lang="en-US" sz="1100" dirty="0">
                <a:solidFill>
                  <a:srgbClr val="6E6E6E"/>
                </a:solidFill>
                <a:latin typeface="Calibri" pitchFamily="34" charset="0"/>
                <a:ea typeface="Calibri" pitchFamily="34" charset="-122"/>
                <a:cs typeface="Calibri" pitchFamily="34" charset="-120"/>
              </a:rPr>
              <a:t>※ 느낀 점은 팀원별로 1~2문장씩 직접 작성 예정입니다.</a:t>
            </a:r>
            <a:endParaRPr lang="en-US" sz="1100" dirty="0"/>
          </a:p>
        </p:txBody>
      </p:sp>
      <p:sp>
        <p:nvSpPr>
          <p:cNvPr id="9" name="Text 7"/>
          <p:cNvSpPr txBox="1"/>
          <p:nvPr/>
        </p:nvSpPr>
        <p:spPr>
          <a:xfrm>
            <a:off x="640080" y="6355080"/>
            <a:ext cx="5486400" cy="256032"/>
          </a:xfrm>
          <a:prstGeom prst="rect">
            <a:avLst/>
          </a:prstGeom>
          <a:noFill/>
          <a:ln/>
        </p:spPr>
        <p:txBody>
          <a:bodyPr wrap="square" lIns="0" tIns="0" rIns="0" bIns="0" rtlCol="0" anchor="ctr"/>
          <a:lstStyle/>
          <a:p>
            <a:pPr marL="0" indent="0">
              <a:buNone/>
            </a:pPr>
            <a:r>
              <a:rPr lang="en-US" sz="900" dirty="0">
                <a:solidFill>
                  <a:srgbClr val="6E6E6E"/>
                </a:solidFill>
                <a:latin typeface="Calibri" pitchFamily="34" charset="0"/>
                <a:ea typeface="Calibri" pitchFamily="34" charset="-122"/>
                <a:cs typeface="Calibri" pitchFamily="34" charset="-120"/>
              </a:rPr>
              <a:t>수성록 (Tower and Dragons) · 최종 결과 보고</a:t>
            </a:r>
            <a:endParaRPr lang="en-US" sz="900" dirty="0"/>
          </a:p>
        </p:txBody>
      </p:sp>
      <p:sp>
        <p:nvSpPr>
          <p:cNvPr id="10" name="Text 8"/>
          <p:cNvSpPr txBox="1"/>
          <p:nvPr/>
        </p:nvSpPr>
        <p:spPr>
          <a:xfrm>
            <a:off x="6062472" y="6355080"/>
            <a:ext cx="5486400" cy="256032"/>
          </a:xfrm>
          <a:prstGeom prst="rect">
            <a:avLst/>
          </a:prstGeom>
          <a:noFill/>
          <a:ln/>
        </p:spPr>
        <p:txBody>
          <a:bodyPr wrap="square" lIns="0" tIns="0" rIns="0" bIns="0" rtlCol="0" anchor="ctr"/>
          <a:lstStyle/>
          <a:p>
            <a:pPr marL="0" indent="0" algn="r">
              <a:buNone/>
            </a:pPr>
            <a:r>
              <a:rPr lang="en-US" sz="900" dirty="0">
                <a:solidFill>
                  <a:srgbClr val="6E6E6E"/>
                </a:solidFill>
                <a:latin typeface="Calibri" pitchFamily="34" charset="0"/>
                <a:ea typeface="Calibri" pitchFamily="34" charset="-122"/>
                <a:cs typeface="Calibri" pitchFamily="34" charset="-120"/>
              </a:rPr>
              <a:t>05 — 자체 평가 의견</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2B2B2B"/>
        </a:solidFill>
        <a:effectLst/>
      </p:bgPr>
    </p:bg>
    <p:spTree>
      <p:nvGrpSpPr>
        <p:cNvPr id="1" name=""/>
        <p:cNvGrpSpPr/>
        <p:nvPr/>
      </p:nvGrpSpPr>
      <p:grpSpPr>
        <a:xfrm>
          <a:off x="0" y="0"/>
          <a:ext cx="0" cy="0"/>
          <a:chOff x="0" y="0"/>
          <a:chExt cx="0" cy="0"/>
        </a:xfrm>
      </p:grpSpPr>
      <p:sp>
        <p:nvSpPr>
          <p:cNvPr id="2" name="Text 0"/>
          <p:cNvSpPr txBox="1"/>
          <p:nvPr/>
        </p:nvSpPr>
        <p:spPr>
          <a:xfrm>
            <a:off x="640080" y="2651760"/>
            <a:ext cx="10908792" cy="320040"/>
          </a:xfrm>
          <a:prstGeom prst="rect">
            <a:avLst/>
          </a:prstGeom>
          <a:noFill/>
          <a:ln/>
        </p:spPr>
        <p:txBody>
          <a:bodyPr wrap="square" lIns="0" tIns="0" rIns="0" bIns="0" rtlCol="0" anchor="ctr"/>
          <a:lstStyle/>
          <a:p>
            <a:pPr marL="0" indent="0">
              <a:buNone/>
            </a:pPr>
            <a:r>
              <a:rPr lang="en-US" sz="1300" kern="0" spc="300" dirty="0">
                <a:solidFill>
                  <a:srgbClr val="B85042"/>
                </a:solidFill>
                <a:latin typeface="Calibri" pitchFamily="34" charset="0"/>
                <a:ea typeface="Calibri" pitchFamily="34" charset="-122"/>
                <a:cs typeface="Calibri" pitchFamily="34" charset="-120"/>
              </a:rPr>
              <a:t>THANK YOU</a:t>
            </a:r>
            <a:endParaRPr lang="en-US" sz="1300" dirty="0"/>
          </a:p>
        </p:txBody>
      </p:sp>
      <p:sp>
        <p:nvSpPr>
          <p:cNvPr id="3" name="Text 1"/>
          <p:cNvSpPr txBox="1"/>
          <p:nvPr/>
        </p:nvSpPr>
        <p:spPr>
          <a:xfrm>
            <a:off x="640080" y="3017520"/>
            <a:ext cx="10908792" cy="914400"/>
          </a:xfrm>
          <a:prstGeom prst="rect">
            <a:avLst/>
          </a:prstGeom>
          <a:noFill/>
          <a:ln/>
        </p:spPr>
        <p:txBody>
          <a:bodyPr wrap="square" lIns="0" tIns="0" rIns="0" bIns="0" rtlCol="0" anchor="ctr"/>
          <a:lstStyle/>
          <a:p>
            <a:pPr marL="0" indent="0">
              <a:buNone/>
            </a:pPr>
            <a:r>
              <a:rPr lang="en-US" sz="4600" b="1" dirty="0">
                <a:solidFill>
                  <a:srgbClr val="FFFFFF"/>
                </a:solidFill>
                <a:latin typeface="Calibri" pitchFamily="34" charset="0"/>
                <a:ea typeface="Calibri" pitchFamily="34" charset="-122"/>
                <a:cs typeface="Calibri" pitchFamily="34" charset="-120"/>
              </a:rPr>
              <a:t>감사합니다</a:t>
            </a:r>
            <a:endParaRPr lang="en-US" sz="4600" dirty="0"/>
          </a:p>
        </p:txBody>
      </p:sp>
      <p:sp>
        <p:nvSpPr>
          <p:cNvPr id="4" name="Text 2"/>
          <p:cNvSpPr txBox="1"/>
          <p:nvPr/>
        </p:nvSpPr>
        <p:spPr>
          <a:xfrm>
            <a:off x="640080" y="4023360"/>
            <a:ext cx="10908792" cy="411480"/>
          </a:xfrm>
          <a:prstGeom prst="rect">
            <a:avLst/>
          </a:prstGeom>
          <a:noFill/>
          <a:ln/>
        </p:spPr>
        <p:txBody>
          <a:bodyPr wrap="square" lIns="0" tIns="0" rIns="0" bIns="0" rtlCol="0" anchor="ctr"/>
          <a:lstStyle/>
          <a:p>
            <a:pPr marL="0" indent="0">
              <a:buNone/>
            </a:pPr>
            <a:r>
              <a:rPr lang="en-US" sz="2000" kern="0" spc="200" dirty="0">
                <a:solidFill>
                  <a:srgbClr val="CFCFCF"/>
                </a:solidFill>
                <a:latin typeface="Calibri" pitchFamily="34" charset="0"/>
                <a:ea typeface="Calibri" pitchFamily="34" charset="-122"/>
                <a:cs typeface="Calibri" pitchFamily="34" charset="-120"/>
              </a:rPr>
              <a:t>Q &amp; A</a:t>
            </a:r>
            <a:endParaRPr lang="en-US" sz="2000" dirty="0"/>
          </a:p>
        </p:txBody>
      </p:sp>
      <p:sp>
        <p:nvSpPr>
          <p:cNvPr id="5" name="Text 3"/>
          <p:cNvSpPr txBox="1"/>
          <p:nvPr/>
        </p:nvSpPr>
        <p:spPr>
          <a:xfrm>
            <a:off x="640080" y="6355080"/>
            <a:ext cx="7315200" cy="256032"/>
          </a:xfrm>
          <a:prstGeom prst="rect">
            <a:avLst/>
          </a:prstGeom>
          <a:noFill/>
          <a:ln/>
        </p:spPr>
        <p:txBody>
          <a:bodyPr wrap="square" lIns="0" tIns="0" rIns="0" bIns="0" rtlCol="0" anchor="ctr"/>
          <a:lstStyle/>
          <a:p>
            <a:pPr marL="0" indent="0">
              <a:buNone/>
            </a:pPr>
            <a:r>
              <a:rPr lang="en-US" sz="900" dirty="0">
                <a:solidFill>
                  <a:srgbClr val="9A9A9A"/>
                </a:solidFill>
                <a:latin typeface="Calibri" pitchFamily="34" charset="0"/>
                <a:ea typeface="Calibri" pitchFamily="34" charset="-122"/>
                <a:cs typeface="Calibri" pitchFamily="34" charset="-120"/>
              </a:rPr>
              <a:t>수성록 (Tower and Dragons) · 최종 결과 보고</a:t>
            </a:r>
            <a:endParaRPr lang="en-US" sz="900" dirty="0"/>
          </a:p>
        </p:txBody>
      </p:sp>
      <p:sp>
        <p:nvSpPr>
          <p:cNvPr id="6" name="Text 4"/>
          <p:cNvSpPr txBox="1"/>
          <p:nvPr/>
        </p:nvSpPr>
        <p:spPr>
          <a:xfrm>
            <a:off x="7891272" y="6355080"/>
            <a:ext cx="3657600" cy="256032"/>
          </a:xfrm>
          <a:prstGeom prst="rect">
            <a:avLst/>
          </a:prstGeom>
          <a:noFill/>
          <a:ln/>
        </p:spPr>
        <p:txBody>
          <a:bodyPr wrap="square" lIns="0" tIns="0" rIns="0" bIns="0" rtlCol="0" anchor="ctr"/>
          <a:lstStyle/>
          <a:p>
            <a:pPr marL="0" indent="0" algn="r">
              <a:buNone/>
            </a:pPr>
            <a:r>
              <a:rPr lang="en-US" sz="900" dirty="0">
                <a:solidFill>
                  <a:srgbClr val="9A9A9A"/>
                </a:solidFill>
                <a:latin typeface="Calibri" pitchFamily="34" charset="0"/>
                <a:ea typeface="Calibri" pitchFamily="34" charset="-122"/>
                <a:cs typeface="Calibri" pitchFamily="34" charset="-120"/>
              </a:rPr>
              <a:t>2026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3157</Words>
  <Application>Microsoft Office PowerPoint</Application>
  <PresentationFormat>와이드스크린</PresentationFormat>
  <Paragraphs>459</Paragraphs>
  <Slides>22</Slides>
  <Notes>22</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22</vt:i4>
      </vt:variant>
    </vt:vector>
  </HeadingPairs>
  <TitlesOfParts>
    <vt:vector size="26" baseType="lpstr">
      <vt:lpstr>맑은 고딕</vt:lpstr>
      <vt:lpstr>Arial</vt:lpstr>
      <vt:lpstr>Calibri</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수성록 (Tower and Dragons) 최종 결과 보고</dc:title>
  <dc:subject>PptxGenJS Presentation</dc:subject>
  <dc:creator>Tower and Dragons 3팀</dc:creator>
  <cp:lastModifiedBy>나상욱</cp:lastModifiedBy>
  <cp:revision>2</cp:revision>
  <dcterms:created xsi:type="dcterms:W3CDTF">2026-08-31T15:32:23Z</dcterms:created>
  <dcterms:modified xsi:type="dcterms:W3CDTF">2026-08-31T15:53:23Z</dcterms:modified>
</cp:coreProperties>
</file>