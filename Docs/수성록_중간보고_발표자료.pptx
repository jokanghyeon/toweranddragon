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37160" cy="2560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Malgun Gothic"/>
              </a:defRPr>
            </a:pPr>
            <a:r>
              <a:t>수성록 (Tower and Dragons)</a:t>
            </a:r>
          </a:p>
          <a:p>
            <a:pPr>
              <a:spcBef>
                <a:spcPts val="1000"/>
              </a:spcBef>
              <a:defRPr sz="2800" b="1">
                <a:solidFill>
                  <a:srgbClr val="0EA5E9"/>
                </a:solidFill>
                <a:latin typeface="Malgun Gothic"/>
              </a:defRPr>
            </a:pPr>
            <a:r>
              <a:t>개발 경과 보고 (중간단계 브리핑)</a:t>
            </a:r>
          </a:p>
          <a:p>
            <a:pPr>
              <a:spcBef>
                <a:spcPts val="2000"/>
              </a:spcBef>
              <a:defRPr sz="1600">
                <a:solidFill>
                  <a:srgbClr val="94A3B8"/>
                </a:solidFill>
                <a:latin typeface="Malgun Gothic"/>
              </a:defRPr>
            </a:pPr>
            <a:r>
              <a:t>"낮의 선택이 밤의 생존을 결정한다" — 7월 30일 이후 알파 빌드 구현 및 기획 변경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303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9E0B"/>
                </a:solidFill>
                <a:latin typeface="Malgun Gothic"/>
              </a:defRPr>
            </a:pPr>
            <a:r>
              <a:t>수성록 3팀 : 조강현 · 김지해 · 이하늘 · 나상욱  |  2026년 8월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Malgun Gothic"/>
              </a:defRPr>
            </a:pPr>
            <a:r>
              <a:t>수성록 (TOWER AND DRAGONS) 중간 경과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Malgun Gothic"/>
              </a:defRPr>
            </a:pPr>
            <a:r>
              <a:t>01. 알파 단계 개발 성과 및 현황 요약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328416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algun Gothic"/>
              </a:defRPr>
            </a:pPr>
            <a:r>
              <a:t>7월 말 (프로토타입)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낮/밤 수성 루프 뼈대 구축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기본 그리드 및 건물 배치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기초 웨이브 &amp; 인구 코어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프로토타입 검증 완료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46304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25696" y="1463040"/>
            <a:ext cx="3328416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algun Gothic"/>
              </a:defRPr>
            </a:pPr>
            <a:r>
              <a:t>8월 초~현재 (알파 빌드)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어미용 5속성 스킬트리 (70노드)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새끼용 기믹 &amp; 지형 해제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4속성 타워 및 몬스터 31종 전수 연동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랜드마크, 튜토리얼, 세이브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6304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19872" y="1463040"/>
            <a:ext cx="3328416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algun Gothic"/>
              </a:defRPr>
            </a:pPr>
            <a:r>
              <a:t>현재 개발 연동 상태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C# 스크립트 500여 개 규모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ScriptableObject 570여 개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SampleScene 인게임 연동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독립 튜토리얼 씬 정상 플레이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Malgun Gothic"/>
              </a:defRPr>
            </a:pPr>
            <a:r>
              <a:t>수성록 (TOWER AND DRAGONS) 중간 경과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Malgun Gothic"/>
              </a:defRPr>
            </a:pPr>
            <a:r>
              <a:t>02. 주요 추가 기능 ① — 어미용 &amp; 새끼용 시스템 완성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75504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175504" cy="640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097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1F5F9"/>
                </a:solidFill>
                <a:latin typeface="Malgun Gothic"/>
              </a:defRPr>
            </a:pPr>
            <a:r>
              <a:t>어미용 5속성 스킬트리 정식 구현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6268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✔  5가지 속성: 얼음, 불, 시간, 암석, 생명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✔  속성별 8개 슬롯 × 랭크 = 총 70개 노드 트리 완성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✔  속성 변경 시 전용 스킬 패널 UI 및 효과 즉시 반영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✔  Data-driven 구조: ScriptableObject 210여 개 에셋화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463040"/>
            <a:ext cx="5175504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72784" y="1463040"/>
            <a:ext cx="5175504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554480"/>
            <a:ext cx="48097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1F5F9"/>
                </a:solidFill>
                <a:latin typeface="Malgun Gothic"/>
              </a:defRPr>
            </a:pPr>
            <a:r>
              <a:t>새끼용 운용 및 지형 극복 기믹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286000"/>
            <a:ext cx="46268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✔  독자적 경제 단위: 인구 대신 '슬라임 먹이'로 일일 가동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✔  공격 모드 vs 버프 모드 (생산 배율 증가)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✔  특수 지형 해제: 얼음용 배치 시 화산/극지 지형 제한 해제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✔  알 획득 ➔ 성장/부화 ➔ 필드 배치 ➔ 정산 파이프라인 완비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Malgun Gothic"/>
              </a:defRPr>
            </a:pPr>
            <a:r>
              <a:t>수성록 (TOWER AND DRAGONS) 중간 경과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Malgun Gothic"/>
              </a:defRPr>
            </a:pPr>
            <a:r>
              <a:t>03. 주요 추가 기능 ② — 전투 및 속성 다양화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328416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algun Gothic"/>
              </a:defRPr>
            </a:pPr>
            <a:r>
              <a:t>속성 타워 4종 구현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얼음 타워: 적 이동속도 둔화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불 타워: 지속 화상 피격 데미지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암석 타워: 강력한 범위 스플래시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시간 타워: 아군 버프 오라 제공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46304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25696" y="1463040"/>
            <a:ext cx="3328416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algun Gothic"/>
              </a:defRPr>
            </a:pPr>
            <a:r>
              <a:t>신규 몬스터 타입 추가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탱커형: 고체력 전열 흡수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용사냥꾼형: 새끼용 우선 타깃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보호형: 주변 적 오라 방어막 부여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공중/지상 필터링 타겟팅 적용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6304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19872" y="1463040"/>
            <a:ext cx="3328416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algun Gothic"/>
              </a:defRPr>
            </a:pPr>
            <a:r>
              <a:t>타워 충원율(인구) 연동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파괴 대신 '비활성화' 매커니즘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인구 0일 경우 기능 전면 침묵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충원율 비례 아침 자동 부활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배치 인구에 비례한 공격속도 계산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Malgun Gothic"/>
              </a:defRPr>
            </a:pPr>
            <a:r>
              <a:t>수성록 (TOWER AND DRAGONS) — 구현 몬스터 31종 전수 수록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Malgun Gothic"/>
              </a:defRPr>
            </a:pPr>
            <a:r>
              <a:t>04. 구현 몬스터 분류 및 전술적 특성 요약 (Total 31 MD / 30 Prefabs)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3054096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  <a:latin typeface="Malgun Gothic"/>
              </a:defRPr>
            </a:pPr>
            <a:r>
              <a:t>1. 지상 근접 &amp; 탱커형 (6종)</a:t>
            </a:r>
          </a:p>
          <a:p>
            <a:pPr>
              <a:spcBef>
                <a:spcPts val="400"/>
              </a:spcBef>
              <a:defRPr sz="950" b="1">
                <a:solidFill>
                  <a:srgbClr val="0EA5E9"/>
                </a:solidFill>
                <a:latin typeface="Malgun Gothic"/>
              </a:defRPr>
            </a:pPr>
            <a:r>
              <a:t>MP_Ground_Basic, Attack, Elite, Tank, Destroyer, StoneArmor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Malgun Gothic"/>
              </a:defRPr>
            </a:pPr>
            <a:r>
              <a:t>기본 보병, 전열 돌파 탱커, 공성 파괴자(Destroyer), 암석 장갑병으로 구성된 근접 몬스터.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463040"/>
            <a:ext cx="3328416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62856" y="1572768"/>
            <a:ext cx="3054096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  <a:latin typeface="Malgun Gothic"/>
              </a:defRPr>
            </a:pPr>
            <a:r>
              <a:t>2. 원거리 &amp; 저격/암살 (4종)</a:t>
            </a:r>
          </a:p>
          <a:p>
            <a:pPr>
              <a:spcBef>
                <a:spcPts val="400"/>
              </a:spcBef>
              <a:defRPr sz="950" b="1">
                <a:solidFill>
                  <a:srgbClr val="0EA5E9"/>
                </a:solidFill>
                <a:latin typeface="Malgun Gothic"/>
              </a:defRPr>
            </a:pPr>
            <a:r>
              <a:t>MP_Ground_RangedAttack, Sniper, DragonHunter, Elite_DragonHunter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Malgun Gothic"/>
              </a:defRPr>
            </a:pPr>
            <a:r>
              <a:t>후방 사격 딜러 및 필드에 배치된 새끼용(DragonTargetType)을 최우선 타깃하는 암살자.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463040"/>
            <a:ext cx="3328416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2" y="1572768"/>
            <a:ext cx="3054096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  <a:latin typeface="Malgun Gothic"/>
              </a:defRPr>
            </a:pPr>
            <a:r>
              <a:t>3. 수호자 오라 &amp; 방어막 (3종)</a:t>
            </a:r>
          </a:p>
          <a:p>
            <a:pPr>
              <a:spcBef>
                <a:spcPts val="400"/>
              </a:spcBef>
              <a:defRPr sz="950" b="1">
                <a:solidFill>
                  <a:srgbClr val="0EA5E9"/>
                </a:solidFill>
                <a:latin typeface="Malgun Gothic"/>
              </a:defRPr>
            </a:pPr>
            <a:r>
              <a:t>MP_Ground_Protector, ShieldGenerator, Elite_VoidShell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Malgun Gothic"/>
              </a:defRPr>
            </a:pPr>
            <a:r>
              <a:t>ProtectionAura 및 실시간 방어막 재생을 통해 주변 아군 몬스터를 타워 화력으로부터 보호.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3328416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95928"/>
            <a:ext cx="3054096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  <a:latin typeface="Malgun Gothic"/>
              </a:defRPr>
            </a:pPr>
            <a:r>
              <a:t>4. 치유, 자폭 &amp; 마비 (4종)</a:t>
            </a:r>
          </a:p>
          <a:p>
            <a:pPr>
              <a:spcBef>
                <a:spcPts val="400"/>
              </a:spcBef>
              <a:defRPr sz="950" b="1">
                <a:solidFill>
                  <a:srgbClr val="0EA5E9"/>
                </a:solidFill>
                <a:latin typeface="Malgun Gothic"/>
              </a:defRPr>
            </a:pPr>
            <a:r>
              <a:t>MP_Ground_Healer, Bomber, Paralyzer, Paladin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Malgun Gothic"/>
              </a:defRPr>
            </a:pPr>
            <a:r>
              <a:t>HealAura 체력 회복, 건물 접촉 자폭 폭발(Bomber), 타워 기능을 일시 기절시키는 전술 유닛.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3886200"/>
            <a:ext cx="3328416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3995928"/>
            <a:ext cx="3054096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  <a:latin typeface="Malgun Gothic"/>
              </a:defRPr>
            </a:pPr>
            <a:r>
              <a:t>5. 공중 이동 유닛 (3종)</a:t>
            </a:r>
          </a:p>
          <a:p>
            <a:pPr>
              <a:spcBef>
                <a:spcPts val="400"/>
              </a:spcBef>
              <a:defRPr sz="950" b="1">
                <a:solidFill>
                  <a:srgbClr val="0EA5E9"/>
                </a:solidFill>
                <a:latin typeface="Malgun Gothic"/>
              </a:defRPr>
            </a:pPr>
            <a:r>
              <a:t>MP_Air_Basic, Ranged, Sniper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Malgun Gothic"/>
              </a:defRPr>
            </a:pPr>
            <a:r>
              <a:t>지형과 안개를 무시하고 빠르게 직진 비행. 대공 전용 타겟팅 타워로만 대처 가능.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3886200"/>
            <a:ext cx="3328416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2" y="3995928"/>
            <a:ext cx="3054096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  <a:latin typeface="Malgun Gothic"/>
              </a:defRPr>
            </a:pPr>
            <a:r>
              <a:t>6. 속성 면역 &amp; 주기 보스 (11종)</a:t>
            </a:r>
          </a:p>
          <a:p>
            <a:pPr>
              <a:spcBef>
                <a:spcPts val="400"/>
              </a:spcBef>
              <a:defRPr sz="950" b="1">
                <a:solidFill>
                  <a:srgbClr val="0EA5E9"/>
                </a:solidFill>
                <a:latin typeface="Malgun Gothic"/>
              </a:defRPr>
            </a:pPr>
            <a:r>
              <a:t>MP_ElementImmune/Only (Fire, Ice, Stone, Life), MP_Boss_1 ~ 4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Malgun Gothic"/>
              </a:defRPr>
            </a:pPr>
            <a:r>
              <a:t>불/얼음/암석 면역 몬스터 7종 및 7일 주기별 보스 몬스터 4종 (28일차 최종 보스 격파 시 승리).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Malgun Gothic"/>
              </a:defRPr>
            </a:pPr>
            <a:r>
              <a:t>수성록 (TOWER AND DRAGONS) 중간 경과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Malgun Gothic"/>
              </a:defRPr>
            </a:pPr>
            <a:r>
              <a:t>05. 주요 추가 기능 ③ — 영토 확장 및 지형 기믹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328416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algun Gothic"/>
              </a:defRPr>
            </a:pPr>
            <a:r>
              <a:t>랜드마크 시스템 (08-12)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청크 점령 상태 변화 자동 감지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랜드마크 수령 시 알/자원 보상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가동형 랜드마크 인구 배치 가동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자투리 편입 영토 랜드마크도 지급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46304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25696" y="1463040"/>
            <a:ext cx="3328416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algun Gothic"/>
              </a:defRPr>
            </a:pPr>
            <a:r>
              <a:t>지형 페널티 4종 도입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늪지/화산 등 생산력/전투 감태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새끼용 버프 범위 배치 시 무효화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지형 특성에 맞춘 전술 배치 유도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안개 타일 틴트 처리로 시야 명확화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6304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19872" y="1463040"/>
            <a:ext cx="3328416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algun Gothic"/>
              </a:defRPr>
            </a:pPr>
            <a:r>
              <a:t>자투리 편입 &amp; 점령 UX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고립 소형 청크 자동 편입 로직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점령 가능/불가 외곽선 하이라이트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청크 레이아웃 에디터 툴 도입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성 기준 거리 비례 생산 배율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Malgun Gothic"/>
              </a:defRPr>
            </a:pPr>
            <a:r>
              <a:t>수성록 (TOWER AND DRAGONS) 중간 경과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Malgun Gothic"/>
              </a:defRPr>
            </a:pPr>
            <a:r>
              <a:t>06. 주요 추가 기능 ④ — 게임 완성도 및 UX 개선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328416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algun Gothic"/>
              </a:defRPr>
            </a:pPr>
            <a:r>
              <a:t>독립 튜토리얼 씬 구축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신규 유저 적응용 Tutorial 씬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단계별 챕터 + 자유 목표 시스템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튜토리얼 전용 3일 웨이브 스케줄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안내 팝업 및 건물 가이드 연동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46304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25696" y="1463040"/>
            <a:ext cx="3328416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algun Gothic"/>
              </a:defRPr>
            </a:pPr>
            <a:r>
              <a:t>세이브/로드 파이프라인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낮 정산 경계(OnDaySettled) 저장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자원/인구/점령 영토 완전 복원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로딩 시 자원 중복 증식 방지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자동저장 및 수동저장 UI 지원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6304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19872" y="1463040"/>
            <a:ext cx="3328416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algun Gothic"/>
              </a:defRPr>
            </a:pPr>
            <a:r>
              <a:t>UI / UX &amp; Sound 통합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ESC 시스템 설정창 (일시정지 연동)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단축키(B, V, C, Tab) 지원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SoundManager 통합 및 BGM/SFX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  <a:latin typeface="Malgun Gothic"/>
              </a:defRPr>
            </a:pPr>
            <a:r>
              <a:t>•  게임 가이드 및 툴팁 팝업 완성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Malgun Gothic"/>
              </a:defRPr>
            </a:pPr>
            <a:r>
              <a:t>수성록 (TOWER AND DRAGONS) 중간 경과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Malgun Gothic"/>
              </a:defRPr>
            </a:pPr>
            <a:r>
              <a:t>07. 원래 기획 대비 주요 변경 사항 및 사유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2926080"/>
                <a:gridCol w="3230575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1F5F9"/>
                          </a:solidFill>
                          <a:latin typeface="Malgun Gothic"/>
                        </a:defRPr>
                      </a:pPr>
                      <a:r>
                        <a:t>구분</a:t>
                      </a:r>
                    </a:p>
                  </a:txBody>
                  <a:tcPr anchor="ctr"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1F5F9"/>
                          </a:solidFill>
                          <a:latin typeface="Malgun Gothic"/>
                        </a:defRPr>
                      </a:pPr>
                      <a:r>
                        <a:t>초기 기획 안</a:t>
                      </a:r>
                    </a:p>
                  </a:txBody>
                  <a:tcPr anchor="ctr"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1F5F9"/>
                          </a:solidFill>
                          <a:latin typeface="Malgun Gothic"/>
                        </a:defRPr>
                      </a:pPr>
                      <a:r>
                        <a:t>변경된 구현 내용</a:t>
                      </a:r>
                    </a:p>
                  </a:txBody>
                  <a:tcPr anchor="ctr"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1F5F9"/>
                          </a:solidFill>
                          <a:latin typeface="Malgun Gothic"/>
                        </a:defRPr>
                      </a:pPr>
                      <a:r>
                        <a:t>변경 및 조정 사유</a:t>
                      </a:r>
                    </a:p>
                  </a:txBody>
                  <a:tcPr anchor="ctr">
                    <a:solidFill>
                      <a:srgbClr val="0EA5E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자원 종류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기본 자원 4종</a:t>
                      </a:r>
                      <a:br/>
                      <a:r>
                        <a:t>(식량 · 목재 · 석재 · 광물)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기본 자원 3종</a:t>
                      </a:r>
                      <a:br/>
                      <a:r>
                        <a:t>(광물 제외, 특화 자원 통합)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UI 가독성 향상 및 자원 관리의 불필요한 과도한 복잡도 완화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주둔지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점령 시 1단계 주둔지 건설</a:t>
                      </a:r>
                      <a:br/>
                      <a:r>
                        <a:t>및 자원 지속 투입 강화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주둔지 제외,</a:t>
                      </a:r>
                      <a:br/>
                      <a:r>
                        <a:t>점령 시 자원/인구 직접 해금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플레이어의 건물 마이크로매니지먼트 피로도 저감 및 직관성 확보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타워 파괴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방어 실패 시 타워 완전 파괴</a:t>
                      </a:r>
                      <a:br/>
                      <a:r>
                        <a:t>(재건설 필요)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파괴 대신 '비활성화',</a:t>
                      </a:r>
                      <a:br/>
                      <a:r>
                        <a:t>아침에 인구 충원 부활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밤 방어 실패 시 순식간에 복구 불가능해지는 패배 부도 스노우볼 방지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적 타겟팅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적은 메인 성과</a:t>
                      </a:r>
                      <a:br/>
                      <a:r>
                        <a:t>타워만 공격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필드에 배치된</a:t>
                      </a:r>
                      <a:br/>
                      <a:r>
                        <a:t>새끼용도 적 공격 대상 포함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새끼용의 강력한 생산/버프 혜택에 따른 전술적 배치 리스크 부여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Malgun Gothic"/>
              </a:defRPr>
            </a:pPr>
            <a:r>
              <a:t>수성록 (TOWER AND DRAGONS) 중간 경과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Malgun Gothic"/>
              </a:defRPr>
            </a:pPr>
            <a:r>
              <a:t>08. 알려진 공백 및 향후 과제 (~베타/최종)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75504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175504" cy="640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097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1F5F9"/>
                </a:solidFill>
                <a:latin typeface="Malgun Gothic"/>
              </a:defRPr>
            </a:pPr>
            <a:r>
              <a:t>현재 알려진 우선 해결 과제 (공백)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62686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400">
                <a:solidFill>
                  <a:srgbClr val="F1F5F9"/>
                </a:solidFill>
                <a:latin typeface="Malgun Gothic"/>
              </a:defRPr>
            </a:pPr>
            <a:r>
              <a:t>▶  건물 배치 정보 세이브/로드 완결 (프리팹 ID 복원)</a:t>
            </a:r>
          </a:p>
          <a:p>
            <a:pPr>
              <a:spcBef>
                <a:spcPts val="1200"/>
              </a:spcBef>
              <a:defRPr sz="1400">
                <a:solidFill>
                  <a:srgbClr val="F1F5F9"/>
                </a:solidFill>
                <a:latin typeface="Malgun Gothic"/>
              </a:defRPr>
            </a:pPr>
            <a:r>
              <a:t>▶  승리 경로 ② (봉인석 4곳 봉인) 본게임 씬 배선 완료</a:t>
            </a:r>
          </a:p>
          <a:p>
            <a:pPr>
              <a:spcBef>
                <a:spcPts val="1200"/>
              </a:spcBef>
              <a:defRPr sz="1400">
                <a:solidFill>
                  <a:srgbClr val="F1F5F9"/>
                </a:solidFill>
                <a:latin typeface="Malgun Gothic"/>
              </a:defRPr>
            </a:pPr>
            <a:r>
              <a:t>▶  연구 노드 미구현 효과 대입 &amp; 타워 T5 밸런스 조정</a:t>
            </a:r>
          </a:p>
          <a:p>
            <a:pPr>
              <a:spcBef>
                <a:spcPts val="1200"/>
              </a:spcBef>
              <a:defRPr sz="1400">
                <a:solidFill>
                  <a:srgbClr val="F1F5F9"/>
                </a:solidFill>
                <a:latin typeface="Malgun Gothic"/>
              </a:defRPr>
            </a:pPr>
            <a:r>
              <a:t>▶  몬스터 사망 시 자원 드롭 및 오브젝트 풀링 고려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463040"/>
            <a:ext cx="5175504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72784" y="1463040"/>
            <a:ext cx="517550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554480"/>
            <a:ext cx="48097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1F5F9"/>
                </a:solidFill>
                <a:latin typeface="Malgun Gothic"/>
              </a:defRPr>
            </a:pPr>
            <a:r>
              <a:t>향후 진행 일정 마일스톤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286000"/>
            <a:ext cx="462686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400">
                <a:solidFill>
                  <a:srgbClr val="F1F5F9"/>
                </a:solidFill>
                <a:latin typeface="Malgun Gothic"/>
              </a:defRPr>
            </a:pPr>
            <a:r>
              <a:t>▶  ~ 8월 말 (베타 단계): 세이브 완결, 봉인석 배선 완료, 최종 밸런싱</a:t>
            </a:r>
          </a:p>
          <a:p>
            <a:pPr>
              <a:spcBef>
                <a:spcPts val="1200"/>
              </a:spcBef>
              <a:defRPr sz="1400">
                <a:solidFill>
                  <a:srgbClr val="F1F5F9"/>
                </a:solidFill>
                <a:latin typeface="Malgun Gothic"/>
              </a:defRPr>
            </a:pPr>
            <a:r>
              <a:t>▶  ~ 9월 3일 (최종 제출): 빌드 검증 및 릴리즈 준비</a:t>
            </a:r>
          </a:p>
          <a:p>
            <a:pPr>
              <a:spcBef>
                <a:spcPts val="1200"/>
              </a:spcBef>
              <a:defRPr sz="1400">
                <a:solidFill>
                  <a:srgbClr val="F1F5F9"/>
                </a:solidFill>
                <a:latin typeface="Malgun Gothic"/>
              </a:defRPr>
            </a:pPr>
            <a:r>
              <a:t>▶  핵심 루프 정상 플레이 가능 상태 유지</a:t>
            </a:r>
          </a:p>
          <a:p>
            <a:pPr>
              <a:spcBef>
                <a:spcPts val="1200"/>
              </a:spcBef>
              <a:defRPr sz="1400">
                <a:solidFill>
                  <a:srgbClr val="F1F5F9"/>
                </a:solidFill>
                <a:latin typeface="Malgun Gothic"/>
              </a:defRPr>
            </a:pPr>
            <a:r>
              <a:t>▶  팀원 역할 분담을 통한 차질 없는 완수 약속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7150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1F5F9"/>
                </a:solidFill>
                <a:latin typeface="Malgun Gothic"/>
              </a:defRPr>
            </a:pPr>
            <a:r>
              <a:t>경청해 주셔서 감사합니다.  | 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